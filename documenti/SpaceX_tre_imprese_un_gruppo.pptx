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Buongiorno. Vi porto un'idea in due tempi. Primo: SpaceX non si valuta con un multiplo, perché non è una società ma tre. Una che lancia razzi, una che vende connessione dallo spazio, una che costruisce intelligenza artificiale. Le valuto una per una, peso ciascuna per il rischio delle sue tappe decisive, e le sommo. Secondo: tre imprese che stanno insieme non valgono la loro somma. Misuro quanto vale l'insieme, e lo confronto con altri gruppi che operano in più settori. Separate valgono 56 $ per azione, unite 60 $, contro 135 $ del collocamento e 167,60 $ del mercato.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prezzo di mercato SpaceX vale circa 2.158 miliardi di dollari di valore d'impresa. Ma a chi la paragoniamo? Se la guardiamo come una società di lanci, i comparabili sono i gruppi della difesa e dell'aerospazio. Se la guardiamo come Starlink, sono gli operatori di telecomunicazioni. Se guardiamo la parte AI, sono i grandi fornitori di calcolo. Tre mondi, tre multipli molto diversi. Un solo multiplo applicato a tutto è sbagliato per costruzione: o sopravvaluta la parte che brucia cassa, o sottovaluta quella che la produce. Da qui nasce l'idea di valutare le parti.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Securities and Exchange Commission ci regala la scomposizione: il bilancio di SpaceX ha tre segmenti. Space, cioè lanci, Starship e contratti con NASA e Difesa. Connectivity, cioè Starlink. E AI, cioè xAI con Grok e X. Ogni segmento opera in settori diversi e ha il suo paniere di comparabili: la difesa vale circa 1,9x i ricavi, le telecomunicazioni 2,7x, i fornitori di calcolo AI 7,9x. Nessuno dei tre somiglia a SpaceX, ma il paniere del segmento sì. È questo il passaggio chiave: non cerco un clone, cerco tre panieri.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Cominciamo da Starlink, perché da solo fa quasi tutto il valore. Nel caso di successo, cioè con tutte le milestone raggiunte, vale 769 miliardi. A rischio ne vale 585: ne trattiene il 76%, perché il core business esiste già e incassa. Il 61% dei ricavi è banda larga residenziale, quindi il paniere giusto è fatto di Comcast, T-Mobile e Verizon, a 2,7x i ricavi, non di aziende aerospaziali. Quello che può togliere valore è la capacità della nuova generazione di satelliti, la V3, che dipende da Starship: probabilità cumulata del 47%. Starlink contribuisce con 48,1 $ dei 57 $ per 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 è il ramo più piccolo: 44 miliardi nel caso di successo, 19 a rischio, il 44%. Contribuisce con 1,6 $ per azione. Il paniere è quello di Lockheed, Northrop e RTX, a 1,9x i ricavi: un'impresa di difesa solida ma non esplosiva. Il punto interessante non è quanto vale, ma da che cosa dipende: il riuso dello stadio superiore di Starship ha una probabilità del 65%, e da lui dipendono anche la capacità V3 di Starlink e il calcolo orbitale. Il valore di Space è piccolo, ma la sua influenza sugli altri due rami è enorme.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è dove le milestone pesano di più. Nel caso di successo vale 395 miliardi; a rischio 139, appena il 35%. Il 49% dei ricavi è calcolo venduto a terzi, un contratto che può non essere rinnovato. Perché il valore si materializzi servono due cose: che Grok diventi un prodotto di frontiera con ricavi veri, probabilità 65%, e che il capitale investito renda più del suo costo, probabilità cumulata 25%. Il paniere è Oracle, Microsoft, CoreWeave a 7,9x i ricavi, ma sono imprese mature e redditizie. Contributo: 11,4 $ per 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segmento ha delle tappe da cui dipende il suo valore: tredici in tutto. Ho dato a ciascuna una probabilità ancorata a dati storici, per esempio i tassi di successo dei primi voli di nuovi lanciatori e le costellazioni fallite del passato. Nel grafico ogni riquadro riporta prima la probabilità condizionata e poi quella cumulata. Si vede che sono legate da un albero: il riuso dello stadio superiore, S2, ha il 65%; da lui dipende Starlink V3, con una cumulata del 47%. Le tredici tappe producono 696 esiti possibili, una volta tolti quelli impossibili, e il modello li pesa tutti: non ne sceglie uno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il ponte. Parto dai tre rami a rischio: Space 1,6 $, Starlink 48,1 $, AI 11,4 $ per azione. Tolgo uno sconto di conglomerata del 5% e uno di governance del 3,5%, aggiungo la cassa netta e sottraggo opzioni e azioni dei claim. Arrivo a 57,00 $ per azione. A destra, in azzurro, c'è il caso di successo: tutte le milestone raggiunte, 89,95 $. I due scenari estremi del modello, probabilità basse con sconto alto e probabilità alte senza sconto, danno 42,6 $ e 71,5 $. Il prezzo di collocamento era 135 $, quello di mercato 167,60 $: stanno tutti e due sopra l'intera fascia. Tenete a mente lo sconto di conglomerata del 5%: è un numero messo a mano, e fra poco lo sostituisco con un calcolo.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faccio la domanda inversa: quanto dovrebbero essere probabili le milestone per giustificare il prezzo? Sposto tutte le probabilità verso la certezza, un passo alla volta. Si vede la linea: parte da 57 $ e, con tutte e tredici le milestone certe, arriva a 86 $. Non tocca nemmeno il prezzo di collocamento. Lo conferma la distribuzione dei risultati: su 696 esiti possibili dell'albero, zero superano i 135 $. Quindi non è una questione di essere un po' più ottimisti sulle probabilità. Il divario non si chiude con le probabilità.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Abbiamo visto che la probabilità non spiega il prezzo. Resta un'altra ipotesi: che la somma delle parti sottovaluti l'insieme. Fin qui ho fatto quello che fa un analista con un conglomerato: ho sommato le parti e ho tolto uno sconto del 5% messo quasi a sentimento. Ma c'è un problema. Le tre imprese che ho sommato non sono tre imprese indipendenti: sono i segmenti di SpaceX così come li riporta la SEC, cioè già dentro il gruppo. Starship esiste e ha una cadenza di voli perché c'è Starlink che la usa; Starlink V3 esiste perché c'è Starship che la lancia. Quindi la domanda del corso, quella delle fusioni, è: quanto vale il gruppo rispetto alle sue parti davvero separate? V del gruppo uguale somma delle parti più sinergie meno dis-sinergie. Con una regola: la sola diversificazione non vale niente, perché l'azionista diversifica da solo. Una sinergia deve cambiare i flussi, non il tasso.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misurare il valore dell'insieme devo prima costruire il suo contrario: tre imprese davvero indipendenti. Cambio solo ciò che esiste perché stanno insieme, e per le probabilità non invento numeri nuovi: uso gli estremi bassi degli intervalli che avevo già stimato per ogni milestone. Starship senza Starlink perde il suo cliente: nel 2025 123 lanci Falcon su 165 erano per Starlink, il 75%. Senza quella cadenza il riuso dello stadio superiore scende dal 65 al 45%. Starlink senza un lanciatore dedicato vede la capacità V3 scendere dall'80 al 60%. Il calcolo in orbita, da separati, non esiste. Poi i legami finanziari: da sola l'AI non può usare subito le sue perdite fiscali, ha meno capacità di debito, xAI nel 2025 pagava il 12,5%, e deve raccogliere capitale sul mercato pagando circa il 3%. Infine una cosa che va nell'altro senso: un'AI indipendente, davanti al mercato, investirebbe meno sotto il costo del capitale.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 legami, con il loro valore. Le due frecce in basso sono il cuore: Starlink dà a Starship la cadenza e la cassa, vale 32 miliardi; Starship lancia i satelliti V3 di Starlink, 22 miliardi. Il calcolo in orbita è un'opzione piccola, 2,5. A destra c'è il legame finanziario verso l'AI: la cassa di Starlink le risparmia 3 miliardi di costi di emissione e un po' di imposte, ma le permette anche di investire sotto il costo del capitale. Quel sussidio costa 16 miliardi. In basso, l'unica sinergia che i numeri dei segmenti non contengono: la difesa integrata, lancio più costellazione più AI, sul modello dei contratti Golden Dome. Morale: il legame che vale è quello fisico fra razzi e satelliti, quello finanziario verso l'AI quasi si annulla.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cascata mette tutto in fila, in dollari per azione. Tre imprese separate valgono 56,31 $. Aggiungo le sinergie una per una: fisco e cassa interna valgono pochi centesimi, il debito venti centesimi; il grosso sono Starship che ha un cliente, più 2,35 dollari, e Starlink che ha un lanciatore, più 1,62. La difesa integrata aggiunge 0,29, il sussidio all'AI toglie 1,18. Il gruppo vale 60,06 $: 50 miliardi in più delle parti, il 7%. Rispetto alla somma delle parti di prima cambia una cosa importante: lo sconto di conglomerata del 5% sparisce, perché il costo dell'unione, il sussidio, è già nei flussi dell'AI. Contarlo anche come sconto voleva dire contarlo due volte.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Guardiamo segmento per segmento. Space da sola varrebbe 12,5 miliardi, nel gruppo 19,3: ha un cliente garantito. Starlink da sola 538, nel gruppo 585: ha il suo lanciatore. L'AI invece vale di più da sola, 146 contro 139. Perché? Perché nel gruppo ha accesso alla cassa di Starlink e investe anche dove rende meno del costo del capitale: nel 2025 xAI ha investito 12,7 miliardi, più di Starlink e dei lanci messi insieme. È esattamente il meccanismo che Berger e Ofek indicano dietro lo sconto dei conglomerati, e che Scharfstein e Stein chiamano il lato oscuro dei mercati interni dei capitali.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mio 7% è tanto o poco? Ho misurato la stessa grandezza su gruppi quotati con più settori, con il metodo di Berger e Ofek: valuto ogni segmento al multiplo mediano dei suoi concorrenti specializzati, sommo e confronto con il valore di borsa. Le holding, Exor, SoftBank e Porsche SE, che avevo già studiato, valgono molto meno delle loro parti. Disney e RTX, che uniscono attività vicine ma con pochi scambi fra loro, sono a meno 22 e meno 13%, in linea con il 13-15% di Berger e Ofek. L'unico con un premio è Amazon, più 20%: AWS è nata dall'infrastruttura del retail, cioè un legame fisico come quello fra Starship e Starlink. SpaceX con il mio 7% sta fra RTX e Amazon, dove deve stare. Il prezzo di mercato invece chiede più 117%: nessun gruppo del campione ci si avvicina.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L'unione con l'AI non è caduta dal cielo: a febbraio 2026 SpaceX ha comprato xAI con una fusione tutta in azioni, valutando SpaceX mille miliardi e xAI duecentocinquanta. Agli azionisti di xAI è andato il 20% del gruppo. In una fusione in azioni le sinergie si dividono secondo la quota ceduta. Con i miei numeri xAI da sola vale 146 miliardi, il 21% delle parti: ha ricevuto il 20%, cioè poco più di quanto portava. Gli azionisti SpaceX si tengono 47 dei 50 miliardi di sinergie nette, il 94%. Il prezzo massimo che SpaceX poteva pagare senza perdere valore era il 26,3% del gruppo: ha pagato meno. Quindi per gli azionisti SpaceX la fusione ha creato valore, anche se l'AI da sola costa loro un sussidio.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slide che porto a casa. Le parti separate valgono 56 $, il gruppo 60 $, il gruppo nel mondo in cui tutte le milestone riescono 94 $. Il prezzo è 167,60 $. Ho provato due strade per arrivarci. La prima è la probabilità: anche con tutte le milestone certe non basta. La seconda è l'unione: le sinergie ci sono, ma per arrivare al prezzo ne servirebbero 31 volte tanto. Le sinergie chiudono il 3,4% della distanza. Quindi il mercato sta pagando un'altra cosa: un'impresa più grande di quella che i suoi segmenti, e i loro legami, lasciano vedere oggi. Per i ricavi delle milestone circa cinque volte il mio caso di successo.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Concludo. Separate, le tre imprese di SpaceX valgono 56 $ per azione. Unite valgono 60 $: il vantaggio dell'insieme c'è, vale 50 miliardi, e nasce quasi tutto dal legame fisico fra Starship e Starlink; l'AI ne restituisce una parte perché nel gruppo investe sotto il costo del capitale. È un premio del 7%, fra RTX e Amazon, cioè dove i gruppi multi-settore stanno davvero. Il prezzo di 167,60 $ chiede un premio del 117% sulle parti, che nessun gruppo quotato ha. Il mercato non sta pagando l'unione: sta pagando un'impresa molto più grande. Grazie, sono pronto alle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Tutte le fonti che ho usato sono su questo sito, con i link: i documenti depositati alla SEC, i prezzi di mercato, gli articoli accademici e la stampa. Sullo stesso sito ci sono il report completo, questa presentazione e il modello Excel in formule, che si può aprire e modificare. Basta inquadrare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mi chiedono come evito di contare il rischio due volte. Il rischio tecnico, per esempio se Starship funziona, lo metto nei flussi: ogni flusso futuro è pesato per la probabilità cumulata di aver raggiunto le milestone, come si fa con le pipeline farmaceutiche, la rNPV. Il rischio sistematico lo metto nel tasso, con un beta per stadio. Prima della milestone il segmento è un'opzione su un'impresa futura: beta alto. Dopo, è un'impresa operativa e prende il beta del paniere di comparabili. Il tasso scende quando le milestone si raggiungono. Il beta è riunleverato con la formula del corso. Le ancore teoriche sono Berk, Green e Naik del 2004, e Myers e Howe del 1997.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tornado mostra che cosa sposta il valore del gruppo, una ipotesi alla volta. In cima c'è il beta di Starlink dopo le milestone: io uso 0,469, il beta di chi vende banda larga alle famiglie, perché il 61% dei ricavi di Starlink è quello. Se invece la si classifica per la tecnologia, con il beta degli operatori satellitari come Iridium, Viasat ed EchoStar, 0,74, il gruppo scende a 47,92 $. Poi la crescita di lungo periodo e la probabilità che Grok resti un prodotto di frontiera. Nessuna leva da sola porta il valore oltre circa 67 $: per arrivare al prezzo servono ipotesi tutte insieme molto più favorevoli, non una correzione marginale.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confronto con chi ha pubblicato una valutazione. Morningstar, che non fa parte del consorzio di collocamento, ha tre scenari: 41 dollari se Starship non funziona, 70 nel caso intermedio, 154 nel caso più ambizioso, con un valore di riferimento di 62 dollari, vicino ai miei 60 $. Damodaran, a giugno, arriva a 97,83 dollari, sopra anche il mio gruppo con tutte le milestone riuscite: usa una crescita perpetua pari al tasso privo di rischio e margini più alti. RBC, che fa parte del consorzio, indica 225 dollari. Sono due mondi: chi paga i flussi che si possono dimostrare e chi paga una dimensione futura. Il mio numero sta con i primi, e il prezzo sta in mezzo.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mi chiedono perché non ho contato certe sinergie ovvie. Primo: Starlink paga i lanci al costo invece che al prezzo di listino. Non è una sinergia: se le due imprese fossero separate, quel margine lo guadagnerebbe il lanciatore. È un trasferimento fra segmenti, la somma non cambia. La sinergia vera è che Starlink dà a Starship la cadenza per imparare, e quella l'ho contata. Secondo: il gruppo si indebita al 6% e xAI da sola pagava il 12,5%. Anche questo è in gran parte un trasferimento verso i creditori, che rischiano meno: per Higgins e Schall non crea valore per gli azionisti. Crea valore solo lo scudo fiscale sul debito in più che il gruppo può sostenere, ed è quello che ho misurato. Terzo: la diversificazione abbassa la volatilità del gruppo, ma l'azionista diversifica da solo; per questo non ho toccato i tassi.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sinergie nette stanno fra 26 e 66 miliardi a seconda delle ipotesi. La leva più forte è quanto del sussidio all'AI un'impresa indipendente eviterebbe: se nulla, le sinergie nette salgono; se tutto, scendono. Poi il controfattuale delle probabilità: se separare Starship e Starlink costasse solo metà di quello che ho ipotizzato, le sinergie scenderebbero a circa 26 miliardi. Attenzione: quasi nessuna di queste leve cambia il valore del gruppo, che resta 60,06 $; cambiano il valore delle parti separate, cioè la misura delle sinergie. La leva che cambia il valore del gruppo resta il beta di Starlink: con 0,74 il gruppo vale 47,92 $.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Tutti i numeri sono in un Excel in formule, non incollati: tredici fogli, circa duemila formule. Si parte dagli input, con la fonte di ognuno, si passa ai tassi per stadio, alle probabilità, al DCF di ogni blocco, ai segmenti, al fisco, al finanziamento, alla cascata delle sinergie e al ponte per azione. C'è anche il foglio dei gruppi multi-settore con il metodo di Berger e Ofek. L'ultimo foglio controlla che Excel e il modello in Python diano gli stessi numeri: coincidono al centesimo. Se volete, cambio un'ipotesi gialla e vediamo come si muove.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rtlCol="0"/>
          <a:lstStyle>
            <a:lvl1pPr indent="0" marL="0">
              <a:buNone/>
              <a:defRPr lang="en-US" sz="1200" spc="300" kern="0" dirty="0">
                <a:solidFill>
                  <a:srgbClr val="6E6E73"/>
                </a:solidFill>
                <a:latin typeface="D-DIN" pitchFamily="34" charset="0"/>
                <a:ea typeface="D-DIN" pitchFamily="34" charset="-122"/>
                <a:cs typeface="D-DIN" pitchFamily="34" charset="-120"/>
              </a:defRPr>
            </a:lvl1pPr>
          </a:lstStyle>
          <a:p>
            <a:pPr indent="0" marL="0">
              <a:buNone/>
            </a:pP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rtlCol="0"/>
          <a:lstStyle>
            <a:lvl1pPr algn="l" indent="0" marL="0">
              <a:buNone/>
              <a:defRPr lang="en-US" sz="4000" b="1" spc="-60" kern="0" dirty="0">
                <a:solidFill>
                  <a:srgbClr val="1D1D1F"/>
                </a:solidFill>
                <a:latin typeface="Inter Display" pitchFamily="34" charset="0"/>
                <a:ea typeface="Inter Display" pitchFamily="34" charset="-122"/>
                <a:cs typeface="Inter Display" pitchFamily="34" charset="-120"/>
              </a:defRPr>
            </a:lvl1pPr>
          </a:lstStyle>
          <a:p>
            <a:pPr algn="l" indent="0" marL="0">
              <a:buNone/>
            </a:pP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rtlCol="0"/>
          <a:lstStyle>
            <a:lvl1pPr indent="0" marL="0">
              <a:buNone/>
              <a:defRPr lang="en-US" sz="800" dirty="0">
                <a:solidFill>
                  <a:srgbClr val="6E6E73"/>
                </a:solidFill>
                <a:latin typeface="Inter" pitchFamily="34" charset="0"/>
                <a:ea typeface="Inter" pitchFamily="34" charset="-122"/>
                <a:cs typeface="Inter" pitchFamily="34" charset="-120"/>
              </a:defRPr>
            </a:lvl1pPr>
          </a:lstStyle>
          <a:p>
            <a:pPr indent="0" marL="0">
              <a:buNone/>
            </a:pPr>
            <a:endParaRPr lang="en-US" sz="8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0000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rtlCol="0"/>
          <a:lstStyle>
            <a:lvl1pPr indent="0" marL="0">
              <a:buNone/>
              <a:defRPr lang="en-US" sz="1200" spc="300" kern="0" dirty="0">
                <a:solidFill>
                  <a:srgbClr val="86868B"/>
                </a:solidFill>
                <a:latin typeface="D-DIN" pitchFamily="34" charset="0"/>
                <a:ea typeface="D-DIN" pitchFamily="34" charset="-122"/>
                <a:cs typeface="D-DIN" pitchFamily="34" charset="-120"/>
              </a:defRPr>
            </a:lvl1pPr>
          </a:lstStyle>
          <a:p>
            <a:pPr indent="0" marL="0">
              <a:buNone/>
            </a:pP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rtlCol="0"/>
          <a:lstStyle>
            <a:lvl1pPr algn="l" indent="0" marL="0">
              <a:buNone/>
              <a:defRPr lang="en-US" sz="4000" b="1" spc="-60" kern="0" dirty="0">
                <a:solidFill>
                  <a:srgbClr val="FFFFFF"/>
                </a:solidFill>
                <a:latin typeface="Inter Display" pitchFamily="34" charset="0"/>
                <a:ea typeface="Inter Display" pitchFamily="34" charset="-122"/>
                <a:cs typeface="Inter Display" pitchFamily="34" charset="-120"/>
              </a:defRPr>
            </a:lvl1pPr>
          </a:lstStyle>
          <a:p>
            <a:pPr algn="l" indent="0" marL="0">
              <a:buNone/>
            </a:pP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rtlCol="0"/>
          <a:lstStyle>
            <a:lvl1pPr indent="0" marL="0">
              <a:buNone/>
              <a:defRPr lang="en-US" sz="800" dirty="0">
                <a:solidFill>
                  <a:srgbClr val="86868B"/>
                </a:solidFill>
                <a:latin typeface="Inter" pitchFamily="34" charset="0"/>
                <a:ea typeface="Inter" pitchFamily="34" charset="-122"/>
                <a:cs typeface="Inter" pitchFamily="34" charset="-120"/>
              </a:defRPr>
            </a:lvl1pPr>
          </a:lstStyle>
          <a:p>
            <a:pPr indent="0" marL="0">
              <a:buNone/>
            </a:pPr>
            <a:endParaRPr lang="en-US" sz="8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6868B"/>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86868B"/>
                </a:solidFill>
                <a:latin typeface="D-DIN" pitchFamily="34" charset="0"/>
                <a:ea typeface="D-DIN" pitchFamily="34" charset="-122"/>
                <a:cs typeface="D-DIN" pitchFamily="34" charset="-120"/>
              </a:rPr>
              <a:t>FINANZA STRAORDINARIA E VALUTAZIONE D'IMPRESA  |  LAVORO DI APPROFONDIMENTO</a:t>
            </a:r>
            <a:endParaRPr lang="en-US" sz="1200" dirty="0"/>
          </a:p>
        </p:txBody>
      </p:sp>
      <p:sp>
        <p:nvSpPr>
          <p:cNvPr id="4" name="Text 1"/>
          <p:cNvSpPr/>
          <p:nvPr/>
        </p:nvSpPr>
        <p:spPr>
          <a:xfrm>
            <a:off x="548640" y="1417320"/>
            <a:ext cx="10515600" cy="2103120"/>
          </a:xfrm>
          <a:prstGeom prst="rect">
            <a:avLst/>
          </a:prstGeom>
          <a:noFill/>
          <a:ln/>
        </p:spPr>
        <p:txBody>
          <a:bodyPr wrap="square" lIns="0" tIns="0" rIns="0" bIns="0" rtlCol="0" anchor="b"/>
          <a:lstStyle/>
          <a:p>
            <a:pPr indent="0" marL="0">
              <a:lnSpc>
                <a:spcPct val="95000"/>
              </a:lnSpc>
              <a:buNone/>
            </a:pPr>
            <a:r>
              <a:rPr lang="en-US" sz="6000" b="1" spc="-100" kern="0" dirty="0">
                <a:solidFill>
                  <a:srgbClr val="FFFFFF"/>
                </a:solidFill>
                <a:latin typeface="Inter Display" pitchFamily="34" charset="0"/>
                <a:ea typeface="Inter Display" pitchFamily="34" charset="-122"/>
                <a:cs typeface="Inter Display" pitchFamily="34" charset="-120"/>
              </a:rPr>
              <a:t>SpaceX: tre imprese, un gruppo</a:t>
            </a:r>
            <a:endParaRPr lang="en-US" sz="6000" dirty="0"/>
          </a:p>
        </p:txBody>
      </p:sp>
      <p:sp>
        <p:nvSpPr>
          <p:cNvPr id="5" name="Text 2"/>
          <p:cNvSpPr/>
          <p:nvPr/>
        </p:nvSpPr>
        <p:spPr>
          <a:xfrm>
            <a:off x="548640" y="3703320"/>
            <a:ext cx="10515600" cy="548640"/>
          </a:xfrm>
          <a:prstGeom prst="rect">
            <a:avLst/>
          </a:prstGeom>
          <a:noFill/>
          <a:ln/>
        </p:spPr>
        <p:txBody>
          <a:bodyPr wrap="square" lIns="0" tIns="0" rIns="0" bIns="0" rtlCol="0" anchor="t"/>
          <a:lstStyle/>
          <a:p>
            <a:pPr indent="0" marL="0">
              <a:buNone/>
            </a:pPr>
            <a:r>
              <a:rPr lang="en-US" sz="2400" dirty="0">
                <a:solidFill>
                  <a:srgbClr val="86868B"/>
                </a:solidFill>
                <a:latin typeface="Inter" pitchFamily="34" charset="0"/>
                <a:ea typeface="Inter" pitchFamily="34" charset="-122"/>
                <a:cs typeface="Inter" pitchFamily="34" charset="-120"/>
              </a:rPr>
              <a:t>Somma delle parti a rischio di milestone e valore dell'insieme</a:t>
            </a:r>
            <a:endParaRPr lang="en-US" sz="2400" dirty="0"/>
          </a:p>
        </p:txBody>
      </p:sp>
      <p:sp>
        <p:nvSpPr>
          <p:cNvPr id="6" name="Text 3"/>
          <p:cNvSpPr/>
          <p:nvPr/>
        </p:nvSpPr>
        <p:spPr>
          <a:xfrm>
            <a:off x="548640" y="5074920"/>
            <a:ext cx="3840480" cy="731520"/>
          </a:xfrm>
          <a:prstGeom prst="rect">
            <a:avLst/>
          </a:prstGeom>
          <a:noFill/>
          <a:ln/>
        </p:spPr>
        <p:txBody>
          <a:bodyPr wrap="square" lIns="0" tIns="0" rIns="0" bIns="0" rtlCol="0" anchor="t"/>
          <a:lstStyle/>
          <a:p>
            <a:pPr indent="0" marL="0">
              <a:spcAft>
                <a:spcPts val="200"/>
              </a:spcAft>
              <a:buNone/>
            </a:pPr>
            <a:r>
              <a:rPr lang="en-US" sz="1500" b="1" dirty="0">
                <a:solidFill>
                  <a:srgbClr val="FFFFFF"/>
                </a:solidFill>
                <a:latin typeface="Inter" pitchFamily="34" charset="0"/>
                <a:ea typeface="Inter" pitchFamily="34" charset="-122"/>
                <a:cs typeface="Inter" pitchFamily="34" charset="-120"/>
              </a:rPr>
              <a:t>Gherardo Siliprandi</a:t>
            </a:r>
            <a:endParaRPr lang="en-US" sz="1500" dirty="0"/>
          </a:p>
          <a:p>
            <a:pPr indent="0" marL="0">
              <a:spcAft>
                <a:spcPts val="200"/>
              </a:spcAft>
              <a:buNone/>
            </a:pPr>
            <a:r>
              <a:rPr lang="en-US" sz="1500" dirty="0">
                <a:solidFill>
                  <a:srgbClr val="86868B"/>
                </a:solidFill>
                <a:latin typeface="Inter" pitchFamily="34" charset="0"/>
                <a:ea typeface="Inter" pitchFamily="34" charset="-122"/>
                <a:cs typeface="Inter" pitchFamily="34" charset="-120"/>
              </a:rPr>
              <a:t>Ottobre 2026</a:t>
            </a:r>
            <a:endParaRPr lang="en-US" sz="1500" dirty="0"/>
          </a:p>
        </p:txBody>
      </p:sp>
      <p:sp>
        <p:nvSpPr>
          <p:cNvPr id="7" name="Text 4"/>
          <p:cNvSpPr/>
          <p:nvPr/>
        </p:nvSpPr>
        <p:spPr>
          <a:xfrm>
            <a:off x="5120640" y="4892040"/>
            <a:ext cx="2194560" cy="548640"/>
          </a:xfrm>
          <a:prstGeom prst="rect">
            <a:avLst/>
          </a:prstGeom>
          <a:noFill/>
          <a:ln/>
        </p:spPr>
        <p:txBody>
          <a:bodyPr wrap="square" lIns="0" tIns="0" rIns="0" bIns="0" rtlCol="0" anchor="b"/>
          <a:lstStyle/>
          <a:p>
            <a:pPr indent="0" marL="0">
              <a:buNone/>
            </a:pPr>
            <a:r>
              <a:rPr lang="en-US" sz="3000" b="1" spc="-60" kern="0" dirty="0">
                <a:solidFill>
                  <a:srgbClr val="86868B"/>
                </a:solidFill>
                <a:latin typeface="Inter Display" pitchFamily="34" charset="0"/>
                <a:ea typeface="Inter Display" pitchFamily="34" charset="-122"/>
                <a:cs typeface="Inter Display" pitchFamily="34" charset="-120"/>
              </a:rPr>
              <a:t>56,31 $</a:t>
            </a:r>
            <a:endParaRPr lang="en-US" sz="3000" dirty="0"/>
          </a:p>
        </p:txBody>
      </p:sp>
      <p:sp>
        <p:nvSpPr>
          <p:cNvPr id="8" name="Text 5"/>
          <p:cNvSpPr/>
          <p:nvPr/>
        </p:nvSpPr>
        <p:spPr>
          <a:xfrm>
            <a:off x="5120640" y="5504688"/>
            <a:ext cx="2194560" cy="320040"/>
          </a:xfrm>
          <a:prstGeom prst="rect">
            <a:avLst/>
          </a:prstGeom>
          <a:noFill/>
          <a:ln/>
        </p:spPr>
        <p:txBody>
          <a:bodyPr wrap="square" lIns="0" tIns="0" rIns="0" bIns="0" rtlCol="0" anchor="t"/>
          <a:lstStyle/>
          <a:p>
            <a:pPr indent="0" marL="0">
              <a:buNone/>
            </a:pPr>
            <a:r>
              <a:rPr lang="en-US" sz="1100" dirty="0">
                <a:solidFill>
                  <a:srgbClr val="86868B"/>
                </a:solidFill>
                <a:latin typeface="Inter" pitchFamily="34" charset="0"/>
                <a:ea typeface="Inter" pitchFamily="34" charset="-122"/>
                <a:cs typeface="Inter" pitchFamily="34" charset="-120"/>
              </a:rPr>
              <a:t>tre imprese separate</a:t>
            </a:r>
            <a:endParaRPr lang="en-US" sz="1100" dirty="0"/>
          </a:p>
        </p:txBody>
      </p:sp>
      <p:sp>
        <p:nvSpPr>
          <p:cNvPr id="9" name="Text 6"/>
          <p:cNvSpPr/>
          <p:nvPr/>
        </p:nvSpPr>
        <p:spPr>
          <a:xfrm>
            <a:off x="7360920" y="4892040"/>
            <a:ext cx="2194560" cy="548640"/>
          </a:xfrm>
          <a:prstGeom prst="rect">
            <a:avLst/>
          </a:prstGeom>
          <a:noFill/>
          <a:ln/>
        </p:spPr>
        <p:txBody>
          <a:bodyPr wrap="square" lIns="0" tIns="0" rIns="0" bIns="0" rtlCol="0" anchor="b"/>
          <a:lstStyle/>
          <a:p>
            <a:pPr indent="0" marL="0">
              <a:buNone/>
            </a:pPr>
            <a:r>
              <a:rPr lang="en-US" sz="3000" b="1" spc="-60" kern="0" dirty="0">
                <a:solidFill>
                  <a:srgbClr val="2997FF"/>
                </a:solidFill>
                <a:latin typeface="Inter Display" pitchFamily="34" charset="0"/>
                <a:ea typeface="Inter Display" pitchFamily="34" charset="-122"/>
                <a:cs typeface="Inter Display" pitchFamily="34" charset="-120"/>
              </a:rPr>
              <a:t>60,06 $</a:t>
            </a:r>
            <a:endParaRPr lang="en-US" sz="3000" dirty="0"/>
          </a:p>
        </p:txBody>
      </p:sp>
      <p:sp>
        <p:nvSpPr>
          <p:cNvPr id="10" name="Text 7"/>
          <p:cNvSpPr/>
          <p:nvPr/>
        </p:nvSpPr>
        <p:spPr>
          <a:xfrm>
            <a:off x="7360920" y="5504688"/>
            <a:ext cx="2194560" cy="320040"/>
          </a:xfrm>
          <a:prstGeom prst="rect">
            <a:avLst/>
          </a:prstGeom>
          <a:noFill/>
          <a:ln/>
        </p:spPr>
        <p:txBody>
          <a:bodyPr wrap="square" lIns="0" tIns="0" rIns="0" bIns="0" rtlCol="0" anchor="t"/>
          <a:lstStyle/>
          <a:p>
            <a:pPr indent="0" marL="0">
              <a:buNone/>
            </a:pPr>
            <a:r>
              <a:rPr lang="en-US" sz="1100" dirty="0">
                <a:solidFill>
                  <a:srgbClr val="86868B"/>
                </a:solidFill>
                <a:latin typeface="Inter" pitchFamily="34" charset="0"/>
                <a:ea typeface="Inter" pitchFamily="34" charset="-122"/>
                <a:cs typeface="Inter" pitchFamily="34" charset="-120"/>
              </a:rPr>
              <a:t>il gruppo, per azione</a:t>
            </a:r>
            <a:endParaRPr lang="en-US" sz="1100" dirty="0"/>
          </a:p>
        </p:txBody>
      </p:sp>
      <p:sp>
        <p:nvSpPr>
          <p:cNvPr id="11" name="Text 8"/>
          <p:cNvSpPr/>
          <p:nvPr/>
        </p:nvSpPr>
        <p:spPr>
          <a:xfrm>
            <a:off x="9601200" y="4892040"/>
            <a:ext cx="2194560" cy="548640"/>
          </a:xfrm>
          <a:prstGeom prst="rect">
            <a:avLst/>
          </a:prstGeom>
          <a:noFill/>
          <a:ln/>
        </p:spPr>
        <p:txBody>
          <a:bodyPr wrap="square" lIns="0" tIns="0" rIns="0" bIns="0" rtlCol="0" anchor="b"/>
          <a:lstStyle/>
          <a:p>
            <a:pPr indent="0" marL="0">
              <a:buNone/>
            </a:pPr>
            <a:r>
              <a:rPr lang="en-US" sz="3000" b="1" spc="-60" kern="0" dirty="0">
                <a:solidFill>
                  <a:srgbClr val="FFB340"/>
                </a:solidFill>
                <a:latin typeface="Inter Display" pitchFamily="34" charset="0"/>
                <a:ea typeface="Inter Display" pitchFamily="34" charset="-122"/>
                <a:cs typeface="Inter Display" pitchFamily="34" charset="-120"/>
              </a:rPr>
              <a:t>167,60 $</a:t>
            </a:r>
            <a:endParaRPr lang="en-US" sz="3000" dirty="0"/>
          </a:p>
        </p:txBody>
      </p:sp>
      <p:sp>
        <p:nvSpPr>
          <p:cNvPr id="12" name="Text 9"/>
          <p:cNvSpPr/>
          <p:nvPr/>
        </p:nvSpPr>
        <p:spPr>
          <a:xfrm>
            <a:off x="9601200" y="5504688"/>
            <a:ext cx="2194560" cy="320040"/>
          </a:xfrm>
          <a:prstGeom prst="rect">
            <a:avLst/>
          </a:prstGeom>
          <a:noFill/>
          <a:ln/>
        </p:spPr>
        <p:txBody>
          <a:bodyPr wrap="square" lIns="0" tIns="0" rIns="0" bIns="0" rtlCol="0" anchor="t"/>
          <a:lstStyle/>
          <a:p>
            <a:pPr indent="0" marL="0">
              <a:buNone/>
            </a:pPr>
            <a:r>
              <a:rPr lang="en-US" sz="1100" dirty="0">
                <a:solidFill>
                  <a:srgbClr val="86868B"/>
                </a:solidFill>
                <a:latin typeface="Inter" pitchFamily="34" charset="0"/>
                <a:ea typeface="Inter" pitchFamily="34" charset="-122"/>
                <a:cs typeface="Inter" pitchFamily="34" charset="-120"/>
              </a:rPr>
              <a:t>mercato, 7/10/2026</a:t>
            </a:r>
            <a:endParaRPr lang="en-US" sz="1100" dirty="0"/>
          </a:p>
        </p:txBody>
      </p:sp>
      <p:sp>
        <p:nvSpPr>
          <p:cNvPr id="1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endParaRPr lang="en-US" sz="4000" dirty="0"/>
          </a:p>
        </p:txBody>
      </p:sp>
      <p:sp>
        <p:nvSpPr>
          <p:cNvPr id="1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endParaRPr lang="en-US" sz="8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6868B"/>
                </a:solidFill>
                <a:latin typeface="Inter"/>
                <a:ea typeface="Inter"/>
                <a:cs typeface="Inter"/>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86868B"/>
                </a:solidFill>
                <a:latin typeface="D-DIN" pitchFamily="34" charset="0"/>
                <a:ea typeface="D-DIN" pitchFamily="34" charset="-122"/>
                <a:cs typeface="D-DIN" pitchFamily="34" charset="-120"/>
              </a:rPr>
              <a:t>IL PROBLEMA</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FFFFFF"/>
                </a:solidFill>
                <a:latin typeface="Inter Display" pitchFamily="34" charset="0"/>
                <a:ea typeface="Inter Display" pitchFamily="34" charset="-122"/>
                <a:cs typeface="Inter Display" pitchFamily="34" charset="-120"/>
              </a:rPr>
              <a:t>Nessuna impresa somiglia a SpaceX</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86868B"/>
                </a:solidFill>
                <a:latin typeface="Inter" pitchFamily="34" charset="0"/>
                <a:ea typeface="Inter" pitchFamily="34" charset="-122"/>
                <a:cs typeface="Inter" pitchFamily="34" charset="-120"/>
              </a:rPr>
              <a:t>Fonte: Prezzo di chiusura del 7/10/2026 (Yahoo Finance); azioni diluite, cassa e debito: SEC, 10-Q Q2 2026 e 424B4</a:t>
            </a:r>
            <a:endParaRPr lang="en-US" sz="800" dirty="0"/>
          </a:p>
        </p:txBody>
      </p:sp>
      <p:sp>
        <p:nvSpPr>
          <p:cNvPr id="6" name="Text 3"/>
          <p:cNvSpPr/>
          <p:nvPr/>
        </p:nvSpPr>
        <p:spPr>
          <a:xfrm>
            <a:off x="548640" y="2194560"/>
            <a:ext cx="6035040" cy="2011680"/>
          </a:xfrm>
          <a:prstGeom prst="rect">
            <a:avLst/>
          </a:prstGeom>
          <a:noFill/>
          <a:ln/>
        </p:spPr>
        <p:txBody>
          <a:bodyPr wrap="square" lIns="0" tIns="0" rIns="0" bIns="0" rtlCol="0" anchor="b"/>
          <a:lstStyle/>
          <a:p>
            <a:pPr indent="0" marL="0">
              <a:buNone/>
            </a:pPr>
            <a:r>
              <a:rPr lang="en-US" sz="15000" b="1" spc="-60" kern="0" dirty="0">
                <a:solidFill>
                  <a:srgbClr val="FFFFFF"/>
                </a:solidFill>
                <a:latin typeface="Inter Display" pitchFamily="34" charset="0"/>
                <a:ea typeface="Inter Display" pitchFamily="34" charset="-122"/>
                <a:cs typeface="Inter Display" pitchFamily="34" charset="-120"/>
              </a:rPr>
              <a:t>2.158</a:t>
            </a:r>
            <a:endParaRPr lang="en-US" sz="15000" dirty="0"/>
          </a:p>
        </p:txBody>
      </p:sp>
      <p:sp>
        <p:nvSpPr>
          <p:cNvPr id="7" name="Text 4"/>
          <p:cNvSpPr/>
          <p:nvPr/>
        </p:nvSpPr>
        <p:spPr>
          <a:xfrm>
            <a:off x="548640" y="4389120"/>
            <a:ext cx="5120640" cy="822960"/>
          </a:xfrm>
          <a:prstGeom prst="rect">
            <a:avLst/>
          </a:prstGeom>
          <a:noFill/>
          <a:ln/>
        </p:spPr>
        <p:txBody>
          <a:bodyPr wrap="square" lIns="0" tIns="0" rIns="0" bIns="0" rtlCol="0" anchor="t"/>
          <a:lstStyle/>
          <a:p>
            <a:pPr indent="0" marL="0">
              <a:buNone/>
            </a:pPr>
            <a:r>
              <a:rPr lang="en-US" sz="2000" dirty="0">
                <a:solidFill>
                  <a:srgbClr val="86868B"/>
                </a:solidFill>
                <a:latin typeface="Inter" pitchFamily="34" charset="0"/>
                <a:ea typeface="Inter" pitchFamily="34" charset="-122"/>
                <a:cs typeface="Inter" pitchFamily="34" charset="-120"/>
              </a:rPr>
              <a:t>miliardi di dollari di valore d'impresa al prezzo di mercato</a:t>
            </a:r>
            <a:endParaRPr lang="en-US" sz="2000" dirty="0"/>
          </a:p>
        </p:txBody>
      </p:sp>
      <p:sp>
        <p:nvSpPr>
          <p:cNvPr id="8" name="Text 5"/>
          <p:cNvSpPr/>
          <p:nvPr/>
        </p:nvSpPr>
        <p:spPr>
          <a:xfrm>
            <a:off x="7223760" y="2423160"/>
            <a:ext cx="4480560" cy="457200"/>
          </a:xfrm>
          <a:prstGeom prst="rect">
            <a:avLst/>
          </a:prstGeom>
          <a:noFill/>
          <a:ln/>
        </p:spPr>
        <p:txBody>
          <a:bodyPr wrap="square" lIns="0" tIns="0" rIns="0" bIns="0" rtlCol="0" anchor="t"/>
          <a:lstStyle/>
          <a:p>
            <a:pPr indent="0" marL="0">
              <a:buNone/>
            </a:pPr>
            <a:r>
              <a:rPr lang="en-US" sz="2600" b="1" spc="-60" kern="0" dirty="0">
                <a:solidFill>
                  <a:srgbClr val="FFFFFF"/>
                </a:solidFill>
                <a:latin typeface="Inter Display" pitchFamily="34" charset="0"/>
                <a:ea typeface="Inter Display" pitchFamily="34" charset="-122"/>
                <a:cs typeface="Inter Display" pitchFamily="34" charset="-120"/>
              </a:rPr>
              <a:t>Una società di lanci?</a:t>
            </a:r>
            <a:endParaRPr lang="en-US" sz="2600" dirty="0"/>
          </a:p>
        </p:txBody>
      </p:sp>
      <p:sp>
        <p:nvSpPr>
          <p:cNvPr id="9" name="Text 6"/>
          <p:cNvSpPr/>
          <p:nvPr/>
        </p:nvSpPr>
        <p:spPr>
          <a:xfrm>
            <a:off x="7223760" y="2898648"/>
            <a:ext cx="4480560" cy="32004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Comparabili: difesa e aerospazio</a:t>
            </a:r>
            <a:endParaRPr lang="en-US" sz="1500" dirty="0"/>
          </a:p>
        </p:txBody>
      </p:sp>
      <p:sp>
        <p:nvSpPr>
          <p:cNvPr id="10" name="Text 7"/>
          <p:cNvSpPr/>
          <p:nvPr/>
        </p:nvSpPr>
        <p:spPr>
          <a:xfrm>
            <a:off x="7223760" y="3611880"/>
            <a:ext cx="4480560" cy="457200"/>
          </a:xfrm>
          <a:prstGeom prst="rect">
            <a:avLst/>
          </a:prstGeom>
          <a:noFill/>
          <a:ln/>
        </p:spPr>
        <p:txBody>
          <a:bodyPr wrap="square" lIns="0" tIns="0" rIns="0" bIns="0" rtlCol="0" anchor="t"/>
          <a:lstStyle/>
          <a:p>
            <a:pPr indent="0" marL="0">
              <a:buNone/>
            </a:pPr>
            <a:r>
              <a:rPr lang="en-US" sz="2600" b="1" spc="-60" kern="0" dirty="0">
                <a:solidFill>
                  <a:srgbClr val="FFFFFF"/>
                </a:solidFill>
                <a:latin typeface="Inter Display" pitchFamily="34" charset="0"/>
                <a:ea typeface="Inter Display" pitchFamily="34" charset="-122"/>
                <a:cs typeface="Inter Display" pitchFamily="34" charset="-120"/>
              </a:rPr>
              <a:t>Un operatore telecom?</a:t>
            </a:r>
            <a:endParaRPr lang="en-US" sz="2600" dirty="0"/>
          </a:p>
        </p:txBody>
      </p:sp>
      <p:sp>
        <p:nvSpPr>
          <p:cNvPr id="11" name="Text 8"/>
          <p:cNvSpPr/>
          <p:nvPr/>
        </p:nvSpPr>
        <p:spPr>
          <a:xfrm>
            <a:off x="7223760" y="4087368"/>
            <a:ext cx="4480560" cy="32004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Comparabili: Comcast, T-Mobile</a:t>
            </a:r>
            <a:endParaRPr lang="en-US" sz="1500" dirty="0"/>
          </a:p>
        </p:txBody>
      </p:sp>
      <p:sp>
        <p:nvSpPr>
          <p:cNvPr id="12" name="Text 9"/>
          <p:cNvSpPr/>
          <p:nvPr/>
        </p:nvSpPr>
        <p:spPr>
          <a:xfrm>
            <a:off x="7223760" y="4800600"/>
            <a:ext cx="4480560" cy="457200"/>
          </a:xfrm>
          <a:prstGeom prst="rect">
            <a:avLst/>
          </a:prstGeom>
          <a:noFill/>
          <a:ln/>
        </p:spPr>
        <p:txBody>
          <a:bodyPr wrap="square" lIns="0" tIns="0" rIns="0" bIns="0" rtlCol="0" anchor="t"/>
          <a:lstStyle/>
          <a:p>
            <a:pPr indent="0" marL="0">
              <a:buNone/>
            </a:pPr>
            <a:r>
              <a:rPr lang="en-US" sz="2600" b="1" spc="-60" kern="0" dirty="0">
                <a:solidFill>
                  <a:srgbClr val="FFFFFF"/>
                </a:solidFill>
                <a:latin typeface="Inter Display" pitchFamily="34" charset="0"/>
                <a:ea typeface="Inter Display" pitchFamily="34" charset="-122"/>
                <a:cs typeface="Inter Display" pitchFamily="34" charset="-120"/>
              </a:rPr>
              <a:t>Un laboratorio di AI?</a:t>
            </a:r>
            <a:endParaRPr lang="en-US" sz="2600" dirty="0"/>
          </a:p>
        </p:txBody>
      </p:sp>
      <p:sp>
        <p:nvSpPr>
          <p:cNvPr id="13" name="Text 10"/>
          <p:cNvSpPr/>
          <p:nvPr/>
        </p:nvSpPr>
        <p:spPr>
          <a:xfrm>
            <a:off x="7223760" y="5276088"/>
            <a:ext cx="4480560" cy="32004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Comparabili: hyperscaler e cloud</a:t>
            </a:r>
            <a:endParaRPr lang="en-US" sz="15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6868B"/>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L'INTUIZIONE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Tre imprese, tre panieri</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SEC, 10-Q Q2 2026, Nota 18 (segmenti); EV/ricavi ultimi 12 mesi, mediane dei panieri: stockanalysis.com, chiusure 8-9/10/2026</a:t>
            </a:r>
            <a:endParaRPr lang="en-US" sz="800" dirty="0"/>
          </a:p>
        </p:txBody>
      </p:sp>
      <p:pic>
        <p:nvPicPr>
          <p:cNvPr id="6" name="Image 0" descr="Logo spacex">    </p:cNvPr>
          <p:cNvPicPr>
            <a:picLocks noChangeAspect="1"/>
          </p:cNvPicPr>
          <p:nvPr/>
        </p:nvPicPr>
        <p:blipFill>
          <a:blip r:embed="rId1"/>
          <a:stretch>
            <a:fillRect/>
          </a:stretch>
        </p:blipFill>
        <p:spPr>
          <a:xfrm>
            <a:off x="4727448" y="1956751"/>
            <a:ext cx="2743200" cy="338458"/>
          </a:xfrm>
          <a:prstGeom prst="rect">
            <a:avLst/>
          </a:prstGeom>
        </p:spPr>
      </p:pic>
      <p:sp>
        <p:nvSpPr>
          <p:cNvPr id="7" name="Shape 3"/>
          <p:cNvSpPr/>
          <p:nvPr/>
        </p:nvSpPr>
        <p:spPr>
          <a:xfrm>
            <a:off x="6099048" y="2560320"/>
            <a:ext cx="0" cy="320040"/>
          </a:xfrm>
          <a:prstGeom prst="line">
            <a:avLst/>
          </a:prstGeom>
          <a:noFill/>
          <a:ln w="9525">
            <a:solidFill>
              <a:srgbClr val="D2D2D7"/>
            </a:solidFill>
            <a:prstDash val="solid"/>
          </a:ln>
        </p:spPr>
      </p:sp>
      <p:sp>
        <p:nvSpPr>
          <p:cNvPr id="8" name="Shape 4"/>
          <p:cNvSpPr/>
          <p:nvPr/>
        </p:nvSpPr>
        <p:spPr>
          <a:xfrm>
            <a:off x="2194560" y="2880360"/>
            <a:ext cx="7808976" cy="0"/>
          </a:xfrm>
          <a:prstGeom prst="line">
            <a:avLst/>
          </a:prstGeom>
          <a:noFill/>
          <a:ln w="9525">
            <a:solidFill>
              <a:srgbClr val="D2D2D7"/>
            </a:solidFill>
            <a:prstDash val="solid"/>
          </a:ln>
        </p:spPr>
      </p:sp>
      <p:sp>
        <p:nvSpPr>
          <p:cNvPr id="9" name="Shape 5"/>
          <p:cNvSpPr/>
          <p:nvPr/>
        </p:nvSpPr>
        <p:spPr>
          <a:xfrm>
            <a:off x="2194560" y="2880360"/>
            <a:ext cx="0" cy="274320"/>
          </a:xfrm>
          <a:prstGeom prst="line">
            <a:avLst/>
          </a:prstGeom>
          <a:noFill/>
          <a:ln w="9525">
            <a:solidFill>
              <a:srgbClr val="D2D2D7"/>
            </a:solidFill>
            <a:prstDash val="solid"/>
          </a:ln>
        </p:spPr>
      </p:sp>
      <p:sp>
        <p:nvSpPr>
          <p:cNvPr id="10" name="Text 6"/>
          <p:cNvSpPr/>
          <p:nvPr/>
        </p:nvSpPr>
        <p:spPr>
          <a:xfrm>
            <a:off x="411480" y="3319272"/>
            <a:ext cx="3566160" cy="502920"/>
          </a:xfrm>
          <a:prstGeom prst="rect">
            <a:avLst/>
          </a:prstGeom>
          <a:noFill/>
          <a:ln/>
        </p:spPr>
        <p:txBody>
          <a:bodyPr wrap="square" lIns="0" tIns="0" rIns="0" bIns="0" rtlCol="0" anchor="t"/>
          <a:lstStyle/>
          <a:p>
            <a:pPr algn="ctr" indent="0" marL="0">
              <a:buNone/>
            </a:pPr>
            <a:r>
              <a:rPr lang="en-US" sz="2800" b="1" spc="-60" kern="0" dirty="0">
                <a:solidFill>
                  <a:srgbClr val="1D1D1F"/>
                </a:solidFill>
                <a:latin typeface="Inter Display" pitchFamily="34" charset="0"/>
                <a:ea typeface="Inter Display" pitchFamily="34" charset="-122"/>
                <a:cs typeface="Inter Display" pitchFamily="34" charset="-120"/>
              </a:rPr>
              <a:t>Space</a:t>
            </a:r>
            <a:endParaRPr lang="en-US" sz="2800" dirty="0"/>
          </a:p>
        </p:txBody>
      </p:sp>
      <p:sp>
        <p:nvSpPr>
          <p:cNvPr id="11" name="Text 7"/>
          <p:cNvSpPr/>
          <p:nvPr/>
        </p:nvSpPr>
        <p:spPr>
          <a:xfrm>
            <a:off x="411480" y="3977640"/>
            <a:ext cx="3566160" cy="365760"/>
          </a:xfrm>
          <a:prstGeom prst="rect">
            <a:avLst/>
          </a:prstGeom>
          <a:noFill/>
          <a:ln/>
        </p:spPr>
        <p:txBody>
          <a:bodyPr wrap="square" lIns="0" tIns="0" rIns="0" bIns="0" rtlCol="0" anchor="t"/>
          <a:lstStyle/>
          <a:p>
            <a:pPr algn="ctr" indent="0" marL="0">
              <a:buNone/>
            </a:pPr>
            <a:r>
              <a:rPr lang="en-US" sz="1400" dirty="0">
                <a:solidFill>
                  <a:srgbClr val="6E6E73"/>
                </a:solidFill>
                <a:latin typeface="Inter" pitchFamily="34" charset="0"/>
                <a:ea typeface="Inter" pitchFamily="34" charset="-122"/>
                <a:cs typeface="Inter" pitchFamily="34" charset="-120"/>
              </a:rPr>
              <a:t>Lanci, Starship, NASA e Difesa</a:t>
            </a:r>
            <a:endParaRPr lang="en-US" sz="1400" dirty="0"/>
          </a:p>
        </p:txBody>
      </p:sp>
      <p:sp>
        <p:nvSpPr>
          <p:cNvPr id="12" name="Text 8"/>
          <p:cNvSpPr/>
          <p:nvPr/>
        </p:nvSpPr>
        <p:spPr>
          <a:xfrm>
            <a:off x="411480" y="4343400"/>
            <a:ext cx="3566160" cy="1097280"/>
          </a:xfrm>
          <a:prstGeom prst="rect">
            <a:avLst/>
          </a:prstGeom>
          <a:noFill/>
          <a:ln/>
        </p:spPr>
        <p:txBody>
          <a:bodyPr wrap="square" lIns="0" tIns="0" rIns="0" bIns="0" rtlCol="0" anchor="b"/>
          <a:lstStyle/>
          <a:p>
            <a:pPr algn="ctr" indent="0" marL="0">
              <a:buNone/>
            </a:pPr>
            <a:r>
              <a:rPr lang="en-US" sz="8000" b="1" spc="-60" kern="0" dirty="0">
                <a:solidFill>
                  <a:srgbClr val="0B1F3A"/>
                </a:solidFill>
                <a:latin typeface="Inter Display" pitchFamily="34" charset="0"/>
                <a:ea typeface="Inter Display" pitchFamily="34" charset="-122"/>
                <a:cs typeface="Inter Display" pitchFamily="34" charset="-120"/>
              </a:rPr>
              <a:t>1,9x</a:t>
            </a:r>
            <a:endParaRPr lang="en-US" sz="8000" dirty="0"/>
          </a:p>
        </p:txBody>
      </p:sp>
      <p:sp>
        <p:nvSpPr>
          <p:cNvPr id="13" name="Text 9"/>
          <p:cNvSpPr/>
          <p:nvPr/>
        </p:nvSpPr>
        <p:spPr>
          <a:xfrm>
            <a:off x="411480" y="5577840"/>
            <a:ext cx="3566160" cy="320040"/>
          </a:xfrm>
          <a:prstGeom prst="rect">
            <a:avLst/>
          </a:prstGeom>
          <a:noFill/>
          <a:ln/>
        </p:spPr>
        <p:txBody>
          <a:bodyPr wrap="square" lIns="0" tIns="0" rIns="0" bIns="0" rtlCol="0" anchor="t"/>
          <a:lstStyle/>
          <a:p>
            <a:pPr algn="ctr" indent="0" marL="0">
              <a:buNone/>
            </a:pPr>
            <a:r>
              <a:rPr lang="en-US" sz="1300" dirty="0">
                <a:solidFill>
                  <a:srgbClr val="6E6E73"/>
                </a:solidFill>
                <a:latin typeface="Inter" pitchFamily="34" charset="0"/>
                <a:ea typeface="Inter" pitchFamily="34" charset="-122"/>
                <a:cs typeface="Inter" pitchFamily="34" charset="-120"/>
              </a:rPr>
              <a:t>EV/ricavi del paniere: difesa e aerospazio</a:t>
            </a:r>
            <a:endParaRPr lang="en-US" sz="1300" dirty="0"/>
          </a:p>
        </p:txBody>
      </p:sp>
      <p:sp>
        <p:nvSpPr>
          <p:cNvPr id="14" name="Shape 10"/>
          <p:cNvSpPr/>
          <p:nvPr/>
        </p:nvSpPr>
        <p:spPr>
          <a:xfrm>
            <a:off x="6099048" y="2880360"/>
            <a:ext cx="0" cy="274320"/>
          </a:xfrm>
          <a:prstGeom prst="line">
            <a:avLst/>
          </a:prstGeom>
          <a:noFill/>
          <a:ln w="9525">
            <a:solidFill>
              <a:srgbClr val="D2D2D7"/>
            </a:solidFill>
            <a:prstDash val="solid"/>
          </a:ln>
        </p:spPr>
      </p:sp>
      <p:pic>
        <p:nvPicPr>
          <p:cNvPr id="15" name="Image 1" descr="Logo starlink">    </p:cNvPr>
          <p:cNvPicPr>
            <a:picLocks noChangeAspect="1"/>
          </p:cNvPicPr>
          <p:nvPr/>
        </p:nvPicPr>
        <p:blipFill>
          <a:blip r:embed="rId2"/>
          <a:stretch>
            <a:fillRect/>
          </a:stretch>
        </p:blipFill>
        <p:spPr>
          <a:xfrm>
            <a:off x="5632704" y="3337560"/>
            <a:ext cx="932688" cy="457200"/>
          </a:xfrm>
          <a:prstGeom prst="rect">
            <a:avLst/>
          </a:prstGeom>
        </p:spPr>
      </p:pic>
      <p:sp>
        <p:nvSpPr>
          <p:cNvPr id="16" name="Text 11"/>
          <p:cNvSpPr/>
          <p:nvPr/>
        </p:nvSpPr>
        <p:spPr>
          <a:xfrm>
            <a:off x="4315968" y="3977640"/>
            <a:ext cx="3566160" cy="365760"/>
          </a:xfrm>
          <a:prstGeom prst="rect">
            <a:avLst/>
          </a:prstGeom>
          <a:noFill/>
          <a:ln/>
        </p:spPr>
        <p:txBody>
          <a:bodyPr wrap="square" lIns="0" tIns="0" rIns="0" bIns="0" rtlCol="0" anchor="t"/>
          <a:lstStyle/>
          <a:p>
            <a:pPr algn="ctr" indent="0" marL="0">
              <a:buNone/>
            </a:pPr>
            <a:r>
              <a:rPr lang="en-US" sz="1400" dirty="0">
                <a:solidFill>
                  <a:srgbClr val="6E6E73"/>
                </a:solidFill>
                <a:latin typeface="Inter" pitchFamily="34" charset="0"/>
                <a:ea typeface="Inter" pitchFamily="34" charset="-122"/>
                <a:cs typeface="Inter" pitchFamily="34" charset="-120"/>
              </a:rPr>
              <a:t>Banda larga, enterprise, telefonia diretta</a:t>
            </a:r>
            <a:endParaRPr lang="en-US" sz="1400" dirty="0"/>
          </a:p>
        </p:txBody>
      </p:sp>
      <p:sp>
        <p:nvSpPr>
          <p:cNvPr id="17" name="Text 12"/>
          <p:cNvSpPr/>
          <p:nvPr/>
        </p:nvSpPr>
        <p:spPr>
          <a:xfrm>
            <a:off x="4315968" y="4343400"/>
            <a:ext cx="3566160" cy="1097280"/>
          </a:xfrm>
          <a:prstGeom prst="rect">
            <a:avLst/>
          </a:prstGeom>
          <a:noFill/>
          <a:ln/>
        </p:spPr>
        <p:txBody>
          <a:bodyPr wrap="square" lIns="0" tIns="0" rIns="0" bIns="0" rtlCol="0" anchor="b"/>
          <a:lstStyle/>
          <a:p>
            <a:pPr algn="ctr" indent="0" marL="0">
              <a:buNone/>
            </a:pPr>
            <a:r>
              <a:rPr lang="en-US" sz="8000" b="1" spc="-60" kern="0" dirty="0">
                <a:solidFill>
                  <a:srgbClr val="0B1F3A"/>
                </a:solidFill>
                <a:latin typeface="Inter Display" pitchFamily="34" charset="0"/>
                <a:ea typeface="Inter Display" pitchFamily="34" charset="-122"/>
                <a:cs typeface="Inter Display" pitchFamily="34" charset="-120"/>
              </a:rPr>
              <a:t>2,7x</a:t>
            </a:r>
            <a:endParaRPr lang="en-US" sz="8000" dirty="0"/>
          </a:p>
        </p:txBody>
      </p:sp>
      <p:sp>
        <p:nvSpPr>
          <p:cNvPr id="18" name="Text 13"/>
          <p:cNvSpPr/>
          <p:nvPr/>
        </p:nvSpPr>
        <p:spPr>
          <a:xfrm>
            <a:off x="4315968" y="5577840"/>
            <a:ext cx="3566160" cy="320040"/>
          </a:xfrm>
          <a:prstGeom prst="rect">
            <a:avLst/>
          </a:prstGeom>
          <a:noFill/>
          <a:ln/>
        </p:spPr>
        <p:txBody>
          <a:bodyPr wrap="square" lIns="0" tIns="0" rIns="0" bIns="0" rtlCol="0" anchor="t"/>
          <a:lstStyle/>
          <a:p>
            <a:pPr algn="ctr" indent="0" marL="0">
              <a:buNone/>
            </a:pPr>
            <a:r>
              <a:rPr lang="en-US" sz="1300" dirty="0">
                <a:solidFill>
                  <a:srgbClr val="6E6E73"/>
                </a:solidFill>
                <a:latin typeface="Inter" pitchFamily="34" charset="0"/>
                <a:ea typeface="Inter" pitchFamily="34" charset="-122"/>
                <a:cs typeface="Inter" pitchFamily="34" charset="-120"/>
              </a:rPr>
              <a:t>EV/ricavi del paniere: telecomunicazioni</a:t>
            </a:r>
            <a:endParaRPr lang="en-US" sz="1300" dirty="0"/>
          </a:p>
        </p:txBody>
      </p:sp>
      <p:sp>
        <p:nvSpPr>
          <p:cNvPr id="19" name="Shape 14"/>
          <p:cNvSpPr/>
          <p:nvPr/>
        </p:nvSpPr>
        <p:spPr>
          <a:xfrm>
            <a:off x="10003536" y="2880360"/>
            <a:ext cx="0" cy="274320"/>
          </a:xfrm>
          <a:prstGeom prst="line">
            <a:avLst/>
          </a:prstGeom>
          <a:noFill/>
          <a:ln w="9525">
            <a:solidFill>
              <a:srgbClr val="D2D2D7"/>
            </a:solidFill>
            <a:prstDash val="solid"/>
          </a:ln>
        </p:spPr>
      </p:sp>
      <p:pic>
        <p:nvPicPr>
          <p:cNvPr id="20" name="Image 2" descr="Logo xai">    </p:cNvPr>
          <p:cNvPicPr>
            <a:picLocks noChangeAspect="1"/>
          </p:cNvPicPr>
          <p:nvPr/>
        </p:nvPicPr>
        <p:blipFill>
          <a:blip r:embed="rId3"/>
          <a:stretch>
            <a:fillRect/>
          </a:stretch>
        </p:blipFill>
        <p:spPr>
          <a:xfrm>
            <a:off x="9539478" y="3337560"/>
            <a:ext cx="418338" cy="457200"/>
          </a:xfrm>
          <a:prstGeom prst="rect">
            <a:avLst/>
          </a:prstGeom>
        </p:spPr>
      </p:pic>
      <p:sp>
        <p:nvSpPr>
          <p:cNvPr id="21" name="Text 15"/>
          <p:cNvSpPr/>
          <p:nvPr/>
        </p:nvSpPr>
        <p:spPr>
          <a:xfrm>
            <a:off x="10003536" y="3410712"/>
            <a:ext cx="274320" cy="365760"/>
          </a:xfrm>
          <a:prstGeom prst="rect">
            <a:avLst/>
          </a:prstGeom>
          <a:noFill/>
          <a:ln/>
        </p:spPr>
        <p:txBody>
          <a:bodyPr wrap="square" lIns="0" tIns="0" rIns="0" bIns="0" rtlCol="0" anchor="t"/>
          <a:lstStyle/>
          <a:p>
            <a:pPr algn="ctr" indent="0" marL="0">
              <a:buNone/>
            </a:pPr>
            <a:r>
              <a:rPr lang="en-US" sz="1600" dirty="0">
                <a:solidFill>
                  <a:srgbClr val="6E6E73"/>
                </a:solidFill>
                <a:latin typeface="Inter" pitchFamily="34" charset="0"/>
                <a:ea typeface="Inter" pitchFamily="34" charset="-122"/>
                <a:cs typeface="Inter" pitchFamily="34" charset="-120"/>
              </a:rPr>
              <a:t>e</a:t>
            </a:r>
            <a:endParaRPr lang="en-US" sz="1600" dirty="0"/>
          </a:p>
        </p:txBody>
      </p:sp>
      <p:pic>
        <p:nvPicPr>
          <p:cNvPr id="22" name="Image 3" descr="Logo x">    </p:cNvPr>
          <p:cNvPicPr>
            <a:picLocks noChangeAspect="1"/>
          </p:cNvPicPr>
          <p:nvPr/>
        </p:nvPicPr>
        <p:blipFill>
          <a:blip r:embed="rId4"/>
          <a:stretch>
            <a:fillRect/>
          </a:stretch>
        </p:blipFill>
        <p:spPr>
          <a:xfrm>
            <a:off x="10323576" y="3337560"/>
            <a:ext cx="505206" cy="457200"/>
          </a:xfrm>
          <a:prstGeom prst="rect">
            <a:avLst/>
          </a:prstGeom>
        </p:spPr>
      </p:pic>
      <p:sp>
        <p:nvSpPr>
          <p:cNvPr id="23" name="Text 16"/>
          <p:cNvSpPr/>
          <p:nvPr/>
        </p:nvSpPr>
        <p:spPr>
          <a:xfrm>
            <a:off x="8220456" y="3977640"/>
            <a:ext cx="3566160" cy="365760"/>
          </a:xfrm>
          <a:prstGeom prst="rect">
            <a:avLst/>
          </a:prstGeom>
          <a:noFill/>
          <a:ln/>
        </p:spPr>
        <p:txBody>
          <a:bodyPr wrap="square" lIns="0" tIns="0" rIns="0" bIns="0" rtlCol="0" anchor="t"/>
          <a:lstStyle/>
          <a:p>
            <a:pPr algn="ctr" indent="0" marL="0">
              <a:buNone/>
            </a:pPr>
            <a:r>
              <a:rPr lang="en-US" sz="1400" dirty="0">
                <a:solidFill>
                  <a:srgbClr val="6E6E73"/>
                </a:solidFill>
                <a:latin typeface="Inter" pitchFamily="34" charset="0"/>
                <a:ea typeface="Inter" pitchFamily="34" charset="-122"/>
                <a:cs typeface="Inter" pitchFamily="34" charset="-120"/>
              </a:rPr>
              <a:t>Calcolo, Grok, pubblicità su X</a:t>
            </a:r>
            <a:endParaRPr lang="en-US" sz="1400" dirty="0"/>
          </a:p>
        </p:txBody>
      </p:sp>
      <p:sp>
        <p:nvSpPr>
          <p:cNvPr id="24" name="Text 17"/>
          <p:cNvSpPr/>
          <p:nvPr/>
        </p:nvSpPr>
        <p:spPr>
          <a:xfrm>
            <a:off x="8220456" y="4343400"/>
            <a:ext cx="3566160" cy="1097280"/>
          </a:xfrm>
          <a:prstGeom prst="rect">
            <a:avLst/>
          </a:prstGeom>
          <a:noFill/>
          <a:ln/>
        </p:spPr>
        <p:txBody>
          <a:bodyPr wrap="square" lIns="0" tIns="0" rIns="0" bIns="0" rtlCol="0" anchor="b"/>
          <a:lstStyle/>
          <a:p>
            <a:pPr algn="ctr" indent="0" marL="0">
              <a:buNone/>
            </a:pPr>
            <a:r>
              <a:rPr lang="en-US" sz="8000" b="1" spc="-60" kern="0" dirty="0">
                <a:solidFill>
                  <a:srgbClr val="0B1F3A"/>
                </a:solidFill>
                <a:latin typeface="Inter Display" pitchFamily="34" charset="0"/>
                <a:ea typeface="Inter Display" pitchFamily="34" charset="-122"/>
                <a:cs typeface="Inter Display" pitchFamily="34" charset="-120"/>
              </a:rPr>
              <a:t>7,9x</a:t>
            </a:r>
            <a:endParaRPr lang="en-US" sz="8000" dirty="0"/>
          </a:p>
        </p:txBody>
      </p:sp>
      <p:sp>
        <p:nvSpPr>
          <p:cNvPr id="25" name="Text 18"/>
          <p:cNvSpPr/>
          <p:nvPr/>
        </p:nvSpPr>
        <p:spPr>
          <a:xfrm>
            <a:off x="8220456" y="5577840"/>
            <a:ext cx="3566160" cy="320040"/>
          </a:xfrm>
          <a:prstGeom prst="rect">
            <a:avLst/>
          </a:prstGeom>
          <a:noFill/>
          <a:ln/>
        </p:spPr>
        <p:txBody>
          <a:bodyPr wrap="square" lIns="0" tIns="0" rIns="0" bIns="0" rtlCol="0" anchor="t"/>
          <a:lstStyle/>
          <a:p>
            <a:pPr algn="ctr" indent="0" marL="0">
              <a:buNone/>
            </a:pPr>
            <a:r>
              <a:rPr lang="en-US" sz="1300" dirty="0">
                <a:solidFill>
                  <a:srgbClr val="6E6E73"/>
                </a:solidFill>
                <a:latin typeface="Inter" pitchFamily="34" charset="0"/>
                <a:ea typeface="Inter" pitchFamily="34" charset="-122"/>
                <a:cs typeface="Inter" pitchFamily="34" charset="-120"/>
              </a:rPr>
              <a:t>EV/ricavi del paniere: hyperscaler e cloud</a:t>
            </a:r>
            <a:endParaRPr lang="en-US" sz="13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STARLINK  |  CONNECTIVITY</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Starlink è il motore</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Modello dell'autore (rNPV); mix dei ricavi H1 2026: SEC, 10-Q Nota 18; paniere: stockanalysis.com, 8-9/10/2026</a:t>
            </a:r>
            <a:endParaRPr lang="en-US" sz="800" dirty="0"/>
          </a:p>
        </p:txBody>
      </p:sp>
      <p:pic>
        <p:nvPicPr>
          <p:cNvPr id="6" name="Image 0" descr="Logo starlink">    </p:cNvPr>
          <p:cNvPicPr>
            <a:picLocks noChangeAspect="1"/>
          </p:cNvPicPr>
          <p:nvPr/>
        </p:nvPicPr>
        <p:blipFill>
          <a:blip r:embed="rId1"/>
          <a:stretch>
            <a:fillRect/>
          </a:stretch>
        </p:blipFill>
        <p:spPr>
          <a:xfrm>
            <a:off x="10707624" y="411480"/>
            <a:ext cx="932688" cy="457200"/>
          </a:xfrm>
          <a:prstGeom prst="rect">
            <a:avLst/>
          </a:prstGeom>
        </p:spPr>
      </p:pic>
      <p:sp>
        <p:nvSpPr>
          <p:cNvPr id="7" name="Text 3"/>
          <p:cNvSpPr/>
          <p:nvPr/>
        </p:nvSpPr>
        <p:spPr>
          <a:xfrm>
            <a:off x="548640" y="1965960"/>
            <a:ext cx="5120640" cy="1737360"/>
          </a:xfrm>
          <a:prstGeom prst="rect">
            <a:avLst/>
          </a:prstGeom>
          <a:noFill/>
          <a:ln/>
        </p:spPr>
        <p:txBody>
          <a:bodyPr wrap="square" lIns="0" tIns="0" rIns="0" bIns="0" rtlCol="0" anchor="b"/>
          <a:lstStyle/>
          <a:p>
            <a:pPr indent="0" marL="0">
              <a:buNone/>
            </a:pPr>
            <a:r>
              <a:rPr lang="en-US" sz="15000" b="1" spc="-60" kern="0" dirty="0">
                <a:solidFill>
                  <a:srgbClr val="0B1F3A"/>
                </a:solidFill>
                <a:latin typeface="Inter Display" pitchFamily="34" charset="0"/>
                <a:ea typeface="Inter Display" pitchFamily="34" charset="-122"/>
                <a:cs typeface="Inter Display" pitchFamily="34" charset="-120"/>
              </a:rPr>
              <a:t>585</a:t>
            </a:r>
            <a:endParaRPr lang="en-US" sz="15000" dirty="0"/>
          </a:p>
        </p:txBody>
      </p:sp>
      <p:sp>
        <p:nvSpPr>
          <p:cNvPr id="8" name="Text 4"/>
          <p:cNvSpPr/>
          <p:nvPr/>
        </p:nvSpPr>
        <p:spPr>
          <a:xfrm>
            <a:off x="548640" y="3794760"/>
            <a:ext cx="5120640" cy="365760"/>
          </a:xfrm>
          <a:prstGeom prst="rect">
            <a:avLst/>
          </a:prstGeom>
          <a:noFill/>
          <a:ln/>
        </p:spPr>
        <p:txBody>
          <a:bodyPr wrap="square" lIns="0" tIns="0" rIns="0" bIns="0" rtlCol="0" anchor="t"/>
          <a:lstStyle/>
          <a:p>
            <a:pPr indent="0" marL="0">
              <a:buNone/>
            </a:pPr>
            <a:r>
              <a:rPr lang="en-US" sz="2000" dirty="0">
                <a:solidFill>
                  <a:srgbClr val="6E6E73"/>
                </a:solidFill>
                <a:latin typeface="Inter" pitchFamily="34" charset="0"/>
                <a:ea typeface="Inter" pitchFamily="34" charset="-122"/>
                <a:cs typeface="Inter" pitchFamily="34" charset="-120"/>
              </a:rPr>
              <a:t>miliardi di dollari a rischio</a:t>
            </a:r>
            <a:endParaRPr lang="en-US" sz="2000" dirty="0"/>
          </a:p>
        </p:txBody>
      </p:sp>
      <p:sp>
        <p:nvSpPr>
          <p:cNvPr id="9" name="Text 5"/>
          <p:cNvSpPr/>
          <p:nvPr/>
        </p:nvSpPr>
        <p:spPr>
          <a:xfrm>
            <a:off x="548640" y="4526280"/>
            <a:ext cx="4937760" cy="27432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Caso di successo  769 mld $</a:t>
            </a:r>
            <a:endParaRPr lang="en-US" sz="1300" dirty="0"/>
          </a:p>
        </p:txBody>
      </p:sp>
      <p:sp>
        <p:nvSpPr>
          <p:cNvPr id="10" name="Shape 6"/>
          <p:cNvSpPr/>
          <p:nvPr/>
        </p:nvSpPr>
        <p:spPr>
          <a:xfrm>
            <a:off x="548640" y="4828032"/>
            <a:ext cx="4937760" cy="128016"/>
          </a:xfrm>
          <a:prstGeom prst="rect">
            <a:avLst/>
          </a:prstGeom>
          <a:solidFill>
            <a:srgbClr val="D2D2D7"/>
          </a:solidFill>
          <a:ln/>
        </p:spPr>
      </p:sp>
      <p:sp>
        <p:nvSpPr>
          <p:cNvPr id="11" name="Text 7"/>
          <p:cNvSpPr/>
          <p:nvPr/>
        </p:nvSpPr>
        <p:spPr>
          <a:xfrm>
            <a:off x="548640" y="5120640"/>
            <a:ext cx="4937760" cy="274320"/>
          </a:xfrm>
          <a:prstGeom prst="rect">
            <a:avLst/>
          </a:prstGeom>
          <a:noFill/>
          <a:ln/>
        </p:spPr>
        <p:txBody>
          <a:bodyPr wrap="square" lIns="0" tIns="0" rIns="0" bIns="0" rtlCol="0" anchor="t"/>
          <a:lstStyle/>
          <a:p>
            <a:pPr indent="0" marL="0">
              <a:buNone/>
            </a:pPr>
            <a:r>
              <a:rPr lang="en-US" sz="1300" b="1" dirty="0">
                <a:solidFill>
                  <a:srgbClr val="1D1D1F"/>
                </a:solidFill>
                <a:latin typeface="Inter" pitchFamily="34" charset="0"/>
                <a:ea typeface="Inter" pitchFamily="34" charset="-122"/>
                <a:cs typeface="Inter" pitchFamily="34" charset="-120"/>
              </a:rPr>
              <a:t>A rischio  585 mld $, 76% del successo</a:t>
            </a:r>
            <a:endParaRPr lang="en-US" sz="1300" dirty="0"/>
          </a:p>
        </p:txBody>
      </p:sp>
      <p:sp>
        <p:nvSpPr>
          <p:cNvPr id="12" name="Shape 8"/>
          <p:cNvSpPr/>
          <p:nvPr/>
        </p:nvSpPr>
        <p:spPr>
          <a:xfrm>
            <a:off x="548640" y="5422392"/>
            <a:ext cx="3754546" cy="128016"/>
          </a:xfrm>
          <a:prstGeom prst="rect">
            <a:avLst/>
          </a:prstGeom>
          <a:solidFill>
            <a:srgbClr val="0071E3"/>
          </a:solidFill>
          <a:ln/>
        </p:spPr>
      </p:sp>
      <p:sp>
        <p:nvSpPr>
          <p:cNvPr id="13" name="Text 9"/>
          <p:cNvSpPr/>
          <p:nvPr/>
        </p:nvSpPr>
        <p:spPr>
          <a:xfrm>
            <a:off x="548640" y="5760720"/>
            <a:ext cx="4937760" cy="27432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48,1 $ dei 57 $ per azione, prima degli sconti</a:t>
            </a:r>
            <a:endParaRPr lang="en-US" sz="1300" dirty="0"/>
          </a:p>
        </p:txBody>
      </p:sp>
      <p:sp>
        <p:nvSpPr>
          <p:cNvPr id="14" name="Text 10"/>
          <p:cNvSpPr/>
          <p:nvPr/>
        </p:nvSpPr>
        <p:spPr>
          <a:xfrm>
            <a:off x="6400800" y="2103120"/>
            <a:ext cx="5239512" cy="1371600"/>
          </a:xfrm>
          <a:prstGeom prst="rect">
            <a:avLst/>
          </a:prstGeom>
          <a:noFill/>
          <a:ln/>
        </p:spPr>
        <p:txBody>
          <a:bodyPr wrap="square" lIns="0" tIns="0" rIns="0" bIns="0" rtlCol="0" anchor="t"/>
          <a:lstStyle/>
          <a:p>
            <a:pPr indent="0" marL="0">
              <a:lnSpc>
                <a:spcPct val="105000"/>
              </a:lnSpc>
              <a:buNone/>
            </a:pPr>
            <a:r>
              <a:rPr lang="en-US" sz="2400" b="1" spc="-30" kern="0" dirty="0">
                <a:solidFill>
                  <a:srgbClr val="1D1D1F"/>
                </a:solidFill>
                <a:latin typeface="Inter Display" pitchFamily="34" charset="0"/>
                <a:ea typeface="Inter Display" pitchFamily="34" charset="-122"/>
                <a:cs typeface="Inter Display" pitchFamily="34" charset="-120"/>
              </a:rPr>
              <a:t>Il 61% dei ricavi è banda larga domestica: i suoi comparabili sono i telecom, non i lanciatori.</a:t>
            </a:r>
            <a:endParaRPr lang="en-US" sz="2400" dirty="0"/>
          </a:p>
        </p:txBody>
      </p:sp>
      <p:sp>
        <p:nvSpPr>
          <p:cNvPr id="15" name="Text 11"/>
          <p:cNvSpPr/>
          <p:nvPr/>
        </p:nvSpPr>
        <p:spPr>
          <a:xfrm>
            <a:off x="6400800" y="3703320"/>
            <a:ext cx="5239512" cy="274320"/>
          </a:xfrm>
          <a:prstGeom prst="rect">
            <a:avLst/>
          </a:prstGeom>
          <a:noFill/>
          <a:ln/>
        </p:spPr>
        <p:txBody>
          <a:bodyPr wrap="square" lIns="0" tIns="0" rIns="0" bIns="0" rtlCol="0" anchor="t"/>
          <a:lstStyle/>
          <a:p>
            <a:pPr indent="0" marL="0">
              <a:buNone/>
            </a:pPr>
            <a:r>
              <a:rPr lang="en-US" sz="1100" spc="300" kern="0" dirty="0">
                <a:solidFill>
                  <a:srgbClr val="6E6E73"/>
                </a:solidFill>
                <a:latin typeface="D-DIN" pitchFamily="34" charset="0"/>
                <a:ea typeface="D-DIN" pitchFamily="34" charset="-122"/>
                <a:cs typeface="D-DIN" pitchFamily="34" charset="-120"/>
              </a:rPr>
              <a:t>IL SUO PANIERE: 2,7X I RICAVI</a:t>
            </a:r>
            <a:endParaRPr lang="en-US" sz="1100" dirty="0"/>
          </a:p>
        </p:txBody>
      </p:sp>
      <p:pic>
        <p:nvPicPr>
          <p:cNvPr id="16" name="Image 1" descr="Logo cmcsa">    </p:cNvPr>
          <p:cNvPicPr>
            <a:picLocks noChangeAspect="1"/>
          </p:cNvPicPr>
          <p:nvPr/>
        </p:nvPicPr>
        <p:blipFill>
          <a:blip r:embed="rId2"/>
          <a:stretch>
            <a:fillRect/>
          </a:stretch>
        </p:blipFill>
        <p:spPr>
          <a:xfrm>
            <a:off x="6400800" y="4069080"/>
            <a:ext cx="969721" cy="384048"/>
          </a:xfrm>
          <a:prstGeom prst="rect">
            <a:avLst/>
          </a:prstGeom>
        </p:spPr>
      </p:pic>
      <p:pic>
        <p:nvPicPr>
          <p:cNvPr id="17" name="Image 2" descr="Logo tmus">    </p:cNvPr>
          <p:cNvPicPr>
            <a:picLocks noChangeAspect="1"/>
          </p:cNvPicPr>
          <p:nvPr/>
        </p:nvPicPr>
        <p:blipFill>
          <a:blip r:embed="rId3"/>
          <a:stretch>
            <a:fillRect/>
          </a:stretch>
        </p:blipFill>
        <p:spPr>
          <a:xfrm>
            <a:off x="8147304" y="4123897"/>
            <a:ext cx="1335024" cy="274414"/>
          </a:xfrm>
          <a:prstGeom prst="rect">
            <a:avLst/>
          </a:prstGeom>
        </p:spPr>
      </p:pic>
      <p:pic>
        <p:nvPicPr>
          <p:cNvPr id="18" name="Image 3" descr="Logo vz">    </p:cNvPr>
          <p:cNvPicPr>
            <a:picLocks noChangeAspect="1"/>
          </p:cNvPicPr>
          <p:nvPr/>
        </p:nvPicPr>
        <p:blipFill>
          <a:blip r:embed="rId4"/>
          <a:stretch>
            <a:fillRect/>
          </a:stretch>
        </p:blipFill>
        <p:spPr>
          <a:xfrm>
            <a:off x="9893808" y="4111438"/>
            <a:ext cx="1335024" cy="299333"/>
          </a:xfrm>
          <a:prstGeom prst="rect">
            <a:avLst/>
          </a:prstGeom>
        </p:spPr>
      </p:pic>
      <p:sp>
        <p:nvSpPr>
          <p:cNvPr id="19" name="Text 12"/>
          <p:cNvSpPr/>
          <p:nvPr/>
        </p:nvSpPr>
        <p:spPr>
          <a:xfrm>
            <a:off x="6400800" y="4800600"/>
            <a:ext cx="5239512" cy="914400"/>
          </a:xfrm>
          <a:prstGeom prst="rect">
            <a:avLst/>
          </a:prstGeom>
          <a:noFill/>
          <a:ln/>
        </p:spPr>
        <p:txBody>
          <a:bodyPr wrap="square" lIns="0" tIns="0" rIns="0" bIns="0" rtlCol="0" anchor="t"/>
          <a:lstStyle/>
          <a:p>
            <a:pPr indent="0" marL="0">
              <a:lnSpc>
                <a:spcPct val="110000"/>
              </a:lnSpc>
              <a:buNone/>
            </a:pPr>
            <a:r>
              <a:rPr lang="en-US" sz="1500" dirty="0">
                <a:solidFill>
                  <a:srgbClr val="6E6E73"/>
                </a:solidFill>
                <a:latin typeface="Inter" pitchFamily="34" charset="0"/>
                <a:ea typeface="Inter" pitchFamily="34" charset="-122"/>
                <a:cs typeface="Inter" pitchFamily="34" charset="-120"/>
              </a:rPr>
              <a:t>Starlink esiste già: conserva il 76% del valore. Pesa la capacità V3 (C1, cumulata 47%), che dipende da Starship.</a:t>
            </a:r>
            <a:endParaRPr lang="en-US" sz="15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SPACE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Space vale poco, ma decide molto</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Modello dell'autore (rNPV); probabilità stimate su tassi storici (Guikema e Paté-Cornell 2004); paniere: stockanalysis.com, 8-9/10/2026</a:t>
            </a:r>
            <a:endParaRPr lang="en-US" sz="800" dirty="0"/>
          </a:p>
        </p:txBody>
      </p:sp>
      <p:pic>
        <p:nvPicPr>
          <p:cNvPr id="6" name="Image 0" descr="Logo spacex">    </p:cNvPr>
          <p:cNvPicPr>
            <a:picLocks noChangeAspect="1"/>
          </p:cNvPicPr>
          <p:nvPr/>
        </p:nvPicPr>
        <p:blipFill>
          <a:blip r:embed="rId1"/>
          <a:stretch>
            <a:fillRect/>
          </a:stretch>
        </p:blipFill>
        <p:spPr>
          <a:xfrm>
            <a:off x="9509760" y="508646"/>
            <a:ext cx="2130552" cy="262869"/>
          </a:xfrm>
          <a:prstGeom prst="rect">
            <a:avLst/>
          </a:prstGeom>
        </p:spPr>
      </p:pic>
      <p:sp>
        <p:nvSpPr>
          <p:cNvPr id="7" name="Text 3"/>
          <p:cNvSpPr/>
          <p:nvPr/>
        </p:nvSpPr>
        <p:spPr>
          <a:xfrm>
            <a:off x="548640" y="1965960"/>
            <a:ext cx="5120640" cy="1737360"/>
          </a:xfrm>
          <a:prstGeom prst="rect">
            <a:avLst/>
          </a:prstGeom>
          <a:noFill/>
          <a:ln/>
        </p:spPr>
        <p:txBody>
          <a:bodyPr wrap="square" lIns="0" tIns="0" rIns="0" bIns="0" rtlCol="0" anchor="b"/>
          <a:lstStyle/>
          <a:p>
            <a:pPr indent="0" marL="0">
              <a:buNone/>
            </a:pPr>
            <a:r>
              <a:rPr lang="en-US" sz="15000" b="1" spc="-60" kern="0" dirty="0">
                <a:solidFill>
                  <a:srgbClr val="0B1F3A"/>
                </a:solidFill>
                <a:latin typeface="Inter Display" pitchFamily="34" charset="0"/>
                <a:ea typeface="Inter Display" pitchFamily="34" charset="-122"/>
                <a:cs typeface="Inter Display" pitchFamily="34" charset="-120"/>
              </a:rPr>
              <a:t>19</a:t>
            </a:r>
            <a:endParaRPr lang="en-US" sz="15000" dirty="0"/>
          </a:p>
        </p:txBody>
      </p:sp>
      <p:sp>
        <p:nvSpPr>
          <p:cNvPr id="8" name="Text 4"/>
          <p:cNvSpPr/>
          <p:nvPr/>
        </p:nvSpPr>
        <p:spPr>
          <a:xfrm>
            <a:off x="548640" y="3794760"/>
            <a:ext cx="5120640" cy="365760"/>
          </a:xfrm>
          <a:prstGeom prst="rect">
            <a:avLst/>
          </a:prstGeom>
          <a:noFill/>
          <a:ln/>
        </p:spPr>
        <p:txBody>
          <a:bodyPr wrap="square" lIns="0" tIns="0" rIns="0" bIns="0" rtlCol="0" anchor="t"/>
          <a:lstStyle/>
          <a:p>
            <a:pPr indent="0" marL="0">
              <a:buNone/>
            </a:pPr>
            <a:r>
              <a:rPr lang="en-US" sz="2000" dirty="0">
                <a:solidFill>
                  <a:srgbClr val="6E6E73"/>
                </a:solidFill>
                <a:latin typeface="Inter" pitchFamily="34" charset="0"/>
                <a:ea typeface="Inter" pitchFamily="34" charset="-122"/>
                <a:cs typeface="Inter" pitchFamily="34" charset="-120"/>
              </a:rPr>
              <a:t>miliardi di dollari a rischio</a:t>
            </a:r>
            <a:endParaRPr lang="en-US" sz="2000" dirty="0"/>
          </a:p>
        </p:txBody>
      </p:sp>
      <p:sp>
        <p:nvSpPr>
          <p:cNvPr id="9" name="Text 5"/>
          <p:cNvSpPr/>
          <p:nvPr/>
        </p:nvSpPr>
        <p:spPr>
          <a:xfrm>
            <a:off x="548640" y="4526280"/>
            <a:ext cx="4937760" cy="27432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Caso di successo  44 mld $</a:t>
            </a:r>
            <a:endParaRPr lang="en-US" sz="1300" dirty="0"/>
          </a:p>
        </p:txBody>
      </p:sp>
      <p:sp>
        <p:nvSpPr>
          <p:cNvPr id="10" name="Shape 6"/>
          <p:cNvSpPr/>
          <p:nvPr/>
        </p:nvSpPr>
        <p:spPr>
          <a:xfrm>
            <a:off x="548640" y="4828032"/>
            <a:ext cx="4937760" cy="128016"/>
          </a:xfrm>
          <a:prstGeom prst="rect">
            <a:avLst/>
          </a:prstGeom>
          <a:solidFill>
            <a:srgbClr val="D2D2D7"/>
          </a:solidFill>
          <a:ln/>
        </p:spPr>
      </p:sp>
      <p:sp>
        <p:nvSpPr>
          <p:cNvPr id="11" name="Text 7"/>
          <p:cNvSpPr/>
          <p:nvPr/>
        </p:nvSpPr>
        <p:spPr>
          <a:xfrm>
            <a:off x="548640" y="5120640"/>
            <a:ext cx="4937760" cy="274320"/>
          </a:xfrm>
          <a:prstGeom prst="rect">
            <a:avLst/>
          </a:prstGeom>
          <a:noFill/>
          <a:ln/>
        </p:spPr>
        <p:txBody>
          <a:bodyPr wrap="square" lIns="0" tIns="0" rIns="0" bIns="0" rtlCol="0" anchor="t"/>
          <a:lstStyle/>
          <a:p>
            <a:pPr indent="0" marL="0">
              <a:buNone/>
            </a:pPr>
            <a:r>
              <a:rPr lang="en-US" sz="1300" b="1" dirty="0">
                <a:solidFill>
                  <a:srgbClr val="1D1D1F"/>
                </a:solidFill>
                <a:latin typeface="Inter" pitchFamily="34" charset="0"/>
                <a:ea typeface="Inter" pitchFamily="34" charset="-122"/>
                <a:cs typeface="Inter" pitchFamily="34" charset="-120"/>
              </a:rPr>
              <a:t>A rischio  19 mld $, 44% del successo</a:t>
            </a:r>
            <a:endParaRPr lang="en-US" sz="1300" dirty="0"/>
          </a:p>
        </p:txBody>
      </p:sp>
      <p:sp>
        <p:nvSpPr>
          <p:cNvPr id="12" name="Shape 8"/>
          <p:cNvSpPr/>
          <p:nvPr/>
        </p:nvSpPr>
        <p:spPr>
          <a:xfrm>
            <a:off x="548640" y="5422392"/>
            <a:ext cx="2177560" cy="128016"/>
          </a:xfrm>
          <a:prstGeom prst="rect">
            <a:avLst/>
          </a:prstGeom>
          <a:solidFill>
            <a:srgbClr val="0071E3"/>
          </a:solidFill>
          <a:ln/>
        </p:spPr>
      </p:sp>
      <p:sp>
        <p:nvSpPr>
          <p:cNvPr id="13" name="Text 9"/>
          <p:cNvSpPr/>
          <p:nvPr/>
        </p:nvSpPr>
        <p:spPr>
          <a:xfrm>
            <a:off x="548640" y="5760720"/>
            <a:ext cx="4937760" cy="27432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1,6 $ dei 57 $ per azione, prima degli sconti</a:t>
            </a:r>
            <a:endParaRPr lang="en-US" sz="1300" dirty="0"/>
          </a:p>
        </p:txBody>
      </p:sp>
      <p:sp>
        <p:nvSpPr>
          <p:cNvPr id="14" name="Text 10"/>
          <p:cNvSpPr/>
          <p:nvPr/>
        </p:nvSpPr>
        <p:spPr>
          <a:xfrm>
            <a:off x="6400800" y="2103120"/>
            <a:ext cx="5239512" cy="1371600"/>
          </a:xfrm>
          <a:prstGeom prst="rect">
            <a:avLst/>
          </a:prstGeom>
          <a:noFill/>
          <a:ln/>
        </p:spPr>
        <p:txBody>
          <a:bodyPr wrap="square" lIns="0" tIns="0" rIns="0" bIns="0" rtlCol="0" anchor="t"/>
          <a:lstStyle/>
          <a:p>
            <a:pPr indent="0" marL="0">
              <a:lnSpc>
                <a:spcPct val="105000"/>
              </a:lnSpc>
              <a:buNone/>
            </a:pPr>
            <a:r>
              <a:rPr lang="en-US" sz="2400" b="1" spc="-30" kern="0" dirty="0">
                <a:solidFill>
                  <a:srgbClr val="1D1D1F"/>
                </a:solidFill>
                <a:latin typeface="Inter Display" pitchFamily="34" charset="0"/>
                <a:ea typeface="Inter Display" pitchFamily="34" charset="-122"/>
                <a:cs typeface="Inter Display" pitchFamily="34" charset="-120"/>
              </a:rPr>
              <a:t>Falcon, Dragon e i contratti governativi sono un'impresa di difesa e aerospazio: la sua scala è piccola.</a:t>
            </a:r>
            <a:endParaRPr lang="en-US" sz="2400" dirty="0"/>
          </a:p>
        </p:txBody>
      </p:sp>
      <p:sp>
        <p:nvSpPr>
          <p:cNvPr id="15" name="Text 11"/>
          <p:cNvSpPr/>
          <p:nvPr/>
        </p:nvSpPr>
        <p:spPr>
          <a:xfrm>
            <a:off x="6400800" y="3703320"/>
            <a:ext cx="5239512" cy="274320"/>
          </a:xfrm>
          <a:prstGeom prst="rect">
            <a:avLst/>
          </a:prstGeom>
          <a:noFill/>
          <a:ln/>
        </p:spPr>
        <p:txBody>
          <a:bodyPr wrap="square" lIns="0" tIns="0" rIns="0" bIns="0" rtlCol="0" anchor="t"/>
          <a:lstStyle/>
          <a:p>
            <a:pPr indent="0" marL="0">
              <a:buNone/>
            </a:pPr>
            <a:r>
              <a:rPr lang="en-US" sz="1100" spc="300" kern="0" dirty="0">
                <a:solidFill>
                  <a:srgbClr val="6E6E73"/>
                </a:solidFill>
                <a:latin typeface="D-DIN" pitchFamily="34" charset="0"/>
                <a:ea typeface="D-DIN" pitchFamily="34" charset="-122"/>
                <a:cs typeface="D-DIN" pitchFamily="34" charset="-120"/>
              </a:rPr>
              <a:t>IL SUO PANIERE: 1,9X I RICAVI</a:t>
            </a:r>
            <a:endParaRPr lang="en-US" sz="1100" dirty="0"/>
          </a:p>
        </p:txBody>
      </p:sp>
      <p:pic>
        <p:nvPicPr>
          <p:cNvPr id="16" name="Image 1" descr="Logo lmt">    </p:cNvPr>
          <p:cNvPicPr>
            <a:picLocks noChangeAspect="1"/>
          </p:cNvPicPr>
          <p:nvPr/>
        </p:nvPicPr>
        <p:blipFill>
          <a:blip r:embed="rId2"/>
          <a:stretch>
            <a:fillRect/>
          </a:stretch>
        </p:blipFill>
        <p:spPr>
          <a:xfrm>
            <a:off x="6400800" y="4160271"/>
            <a:ext cx="1335024" cy="201665"/>
          </a:xfrm>
          <a:prstGeom prst="rect">
            <a:avLst/>
          </a:prstGeom>
        </p:spPr>
      </p:pic>
      <p:pic>
        <p:nvPicPr>
          <p:cNvPr id="17" name="Image 2" descr="Logo noc">    </p:cNvPr>
          <p:cNvPicPr>
            <a:picLocks noChangeAspect="1"/>
          </p:cNvPicPr>
          <p:nvPr/>
        </p:nvPicPr>
        <p:blipFill>
          <a:blip r:embed="rId3"/>
          <a:stretch>
            <a:fillRect/>
          </a:stretch>
        </p:blipFill>
        <p:spPr>
          <a:xfrm>
            <a:off x="8147304" y="4113097"/>
            <a:ext cx="1335024" cy="296014"/>
          </a:xfrm>
          <a:prstGeom prst="rect">
            <a:avLst/>
          </a:prstGeom>
        </p:spPr>
      </p:pic>
      <p:pic>
        <p:nvPicPr>
          <p:cNvPr id="18" name="Image 3" descr="Logo rtx">    </p:cNvPr>
          <p:cNvPicPr>
            <a:picLocks noChangeAspect="1"/>
          </p:cNvPicPr>
          <p:nvPr/>
        </p:nvPicPr>
        <p:blipFill>
          <a:blip r:embed="rId4"/>
          <a:stretch>
            <a:fillRect/>
          </a:stretch>
        </p:blipFill>
        <p:spPr>
          <a:xfrm>
            <a:off x="9893808" y="4069080"/>
            <a:ext cx="798820" cy="384048"/>
          </a:xfrm>
          <a:prstGeom prst="rect">
            <a:avLst/>
          </a:prstGeom>
        </p:spPr>
      </p:pic>
      <p:sp>
        <p:nvSpPr>
          <p:cNvPr id="19" name="Text 12"/>
          <p:cNvSpPr/>
          <p:nvPr/>
        </p:nvSpPr>
        <p:spPr>
          <a:xfrm>
            <a:off x="6400800" y="4800600"/>
            <a:ext cx="5239512" cy="914400"/>
          </a:xfrm>
          <a:prstGeom prst="rect">
            <a:avLst/>
          </a:prstGeom>
          <a:noFill/>
          <a:ln/>
        </p:spPr>
        <p:txBody>
          <a:bodyPr wrap="square" lIns="0" tIns="0" rIns="0" bIns="0" rtlCol="0" anchor="t"/>
          <a:lstStyle/>
          <a:p>
            <a:pPr indent="0" marL="0">
              <a:lnSpc>
                <a:spcPct val="110000"/>
              </a:lnSpc>
              <a:buNone/>
            </a:pPr>
            <a:r>
              <a:rPr lang="en-US" sz="1500" dirty="0">
                <a:solidFill>
                  <a:srgbClr val="6E6E73"/>
                </a:solidFill>
                <a:latin typeface="Inter" pitchFamily="34" charset="0"/>
                <a:ea typeface="Inter" pitchFamily="34" charset="-122"/>
                <a:cs typeface="Inter" pitchFamily="34" charset="-120"/>
              </a:rPr>
              <a:t>Il nodo è il riuso dello stadio superiore (S2, 65%): sblocca i satelliti V3 e il costo sotto 500 $/kg.</a:t>
            </a:r>
            <a:endParaRPr lang="en-US" sz="15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XAI  |  AI</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L'AI ha più futuro da dimostrare</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Modello dell'autore (rNPV); mix dei ricavi H1 2026: SEC, 10-Q Nota 18; paniere: stockanalysis.com, 8-9/10/2026</a:t>
            </a:r>
            <a:endParaRPr lang="en-US" sz="800" dirty="0"/>
          </a:p>
        </p:txBody>
      </p:sp>
      <p:pic>
        <p:nvPicPr>
          <p:cNvPr id="6" name="Image 0" descr="Logo xai">    </p:cNvPr>
          <p:cNvPicPr>
            <a:picLocks noChangeAspect="1"/>
          </p:cNvPicPr>
          <p:nvPr/>
        </p:nvPicPr>
        <p:blipFill>
          <a:blip r:embed="rId1"/>
          <a:stretch>
            <a:fillRect/>
          </a:stretch>
        </p:blipFill>
        <p:spPr>
          <a:xfrm>
            <a:off x="10371582" y="411480"/>
            <a:ext cx="418338" cy="457200"/>
          </a:xfrm>
          <a:prstGeom prst="rect">
            <a:avLst/>
          </a:prstGeom>
        </p:spPr>
      </p:pic>
      <p:pic>
        <p:nvPicPr>
          <p:cNvPr id="7" name="Image 1" descr="Logo x">    </p:cNvPr>
          <p:cNvPicPr>
            <a:picLocks noChangeAspect="1"/>
          </p:cNvPicPr>
          <p:nvPr/>
        </p:nvPicPr>
        <p:blipFill>
          <a:blip r:embed="rId2"/>
          <a:stretch>
            <a:fillRect/>
          </a:stretch>
        </p:blipFill>
        <p:spPr>
          <a:xfrm>
            <a:off x="11135106" y="411480"/>
            <a:ext cx="505206" cy="457200"/>
          </a:xfrm>
          <a:prstGeom prst="rect">
            <a:avLst/>
          </a:prstGeom>
        </p:spPr>
      </p:pic>
      <p:sp>
        <p:nvSpPr>
          <p:cNvPr id="8" name="Text 3"/>
          <p:cNvSpPr/>
          <p:nvPr/>
        </p:nvSpPr>
        <p:spPr>
          <a:xfrm>
            <a:off x="548640" y="1965960"/>
            <a:ext cx="5120640" cy="1737360"/>
          </a:xfrm>
          <a:prstGeom prst="rect">
            <a:avLst/>
          </a:prstGeom>
          <a:noFill/>
          <a:ln/>
        </p:spPr>
        <p:txBody>
          <a:bodyPr wrap="square" lIns="0" tIns="0" rIns="0" bIns="0" rtlCol="0" anchor="b"/>
          <a:lstStyle/>
          <a:p>
            <a:pPr indent="0" marL="0">
              <a:buNone/>
            </a:pPr>
            <a:r>
              <a:rPr lang="en-US" sz="15000" b="1" spc="-60" kern="0" dirty="0">
                <a:solidFill>
                  <a:srgbClr val="0B1F3A"/>
                </a:solidFill>
                <a:latin typeface="Inter Display" pitchFamily="34" charset="0"/>
                <a:ea typeface="Inter Display" pitchFamily="34" charset="-122"/>
                <a:cs typeface="Inter Display" pitchFamily="34" charset="-120"/>
              </a:rPr>
              <a:t>139</a:t>
            </a:r>
            <a:endParaRPr lang="en-US" sz="15000" dirty="0"/>
          </a:p>
        </p:txBody>
      </p:sp>
      <p:sp>
        <p:nvSpPr>
          <p:cNvPr id="9" name="Text 4"/>
          <p:cNvSpPr/>
          <p:nvPr/>
        </p:nvSpPr>
        <p:spPr>
          <a:xfrm>
            <a:off x="548640" y="3794760"/>
            <a:ext cx="5120640" cy="365760"/>
          </a:xfrm>
          <a:prstGeom prst="rect">
            <a:avLst/>
          </a:prstGeom>
          <a:noFill/>
          <a:ln/>
        </p:spPr>
        <p:txBody>
          <a:bodyPr wrap="square" lIns="0" tIns="0" rIns="0" bIns="0" rtlCol="0" anchor="t"/>
          <a:lstStyle/>
          <a:p>
            <a:pPr indent="0" marL="0">
              <a:buNone/>
            </a:pPr>
            <a:r>
              <a:rPr lang="en-US" sz="2000" dirty="0">
                <a:solidFill>
                  <a:srgbClr val="6E6E73"/>
                </a:solidFill>
                <a:latin typeface="Inter" pitchFamily="34" charset="0"/>
                <a:ea typeface="Inter" pitchFamily="34" charset="-122"/>
                <a:cs typeface="Inter" pitchFamily="34" charset="-120"/>
              </a:rPr>
              <a:t>miliardi di dollari a rischio</a:t>
            </a:r>
            <a:endParaRPr lang="en-US" sz="2000" dirty="0"/>
          </a:p>
        </p:txBody>
      </p:sp>
      <p:sp>
        <p:nvSpPr>
          <p:cNvPr id="10" name="Text 5"/>
          <p:cNvSpPr/>
          <p:nvPr/>
        </p:nvSpPr>
        <p:spPr>
          <a:xfrm>
            <a:off x="548640" y="4526280"/>
            <a:ext cx="4937760" cy="27432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Caso di successo  395 mld $</a:t>
            </a:r>
            <a:endParaRPr lang="en-US" sz="1300" dirty="0"/>
          </a:p>
        </p:txBody>
      </p:sp>
      <p:sp>
        <p:nvSpPr>
          <p:cNvPr id="11" name="Shape 6"/>
          <p:cNvSpPr/>
          <p:nvPr/>
        </p:nvSpPr>
        <p:spPr>
          <a:xfrm>
            <a:off x="548640" y="4828032"/>
            <a:ext cx="4937760" cy="128016"/>
          </a:xfrm>
          <a:prstGeom prst="rect">
            <a:avLst/>
          </a:prstGeom>
          <a:solidFill>
            <a:srgbClr val="D2D2D7"/>
          </a:solidFill>
          <a:ln/>
        </p:spPr>
      </p:sp>
      <p:sp>
        <p:nvSpPr>
          <p:cNvPr id="12" name="Text 7"/>
          <p:cNvSpPr/>
          <p:nvPr/>
        </p:nvSpPr>
        <p:spPr>
          <a:xfrm>
            <a:off x="548640" y="5120640"/>
            <a:ext cx="4937760" cy="274320"/>
          </a:xfrm>
          <a:prstGeom prst="rect">
            <a:avLst/>
          </a:prstGeom>
          <a:noFill/>
          <a:ln/>
        </p:spPr>
        <p:txBody>
          <a:bodyPr wrap="square" lIns="0" tIns="0" rIns="0" bIns="0" rtlCol="0" anchor="t"/>
          <a:lstStyle/>
          <a:p>
            <a:pPr indent="0" marL="0">
              <a:buNone/>
            </a:pPr>
            <a:r>
              <a:rPr lang="en-US" sz="1300" b="1" dirty="0">
                <a:solidFill>
                  <a:srgbClr val="1D1D1F"/>
                </a:solidFill>
                <a:latin typeface="Inter" pitchFamily="34" charset="0"/>
                <a:ea typeface="Inter" pitchFamily="34" charset="-122"/>
                <a:cs typeface="Inter" pitchFamily="34" charset="-120"/>
              </a:rPr>
              <a:t>A rischio  139 mld $, 35% del successo</a:t>
            </a:r>
            <a:endParaRPr lang="en-US" sz="1300" dirty="0"/>
          </a:p>
        </p:txBody>
      </p:sp>
      <p:sp>
        <p:nvSpPr>
          <p:cNvPr id="13" name="Shape 8"/>
          <p:cNvSpPr/>
          <p:nvPr/>
        </p:nvSpPr>
        <p:spPr>
          <a:xfrm>
            <a:off x="548640" y="5422392"/>
            <a:ext cx="1736657" cy="128016"/>
          </a:xfrm>
          <a:prstGeom prst="rect">
            <a:avLst/>
          </a:prstGeom>
          <a:solidFill>
            <a:srgbClr val="0071E3"/>
          </a:solidFill>
          <a:ln/>
        </p:spPr>
      </p:sp>
      <p:sp>
        <p:nvSpPr>
          <p:cNvPr id="14" name="Text 9"/>
          <p:cNvSpPr/>
          <p:nvPr/>
        </p:nvSpPr>
        <p:spPr>
          <a:xfrm>
            <a:off x="548640" y="5760720"/>
            <a:ext cx="4937760" cy="27432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11,4 $ dei 57 $ per azione, prima degli sconti</a:t>
            </a:r>
            <a:endParaRPr lang="en-US" sz="1300" dirty="0"/>
          </a:p>
        </p:txBody>
      </p:sp>
      <p:sp>
        <p:nvSpPr>
          <p:cNvPr id="15" name="Text 10"/>
          <p:cNvSpPr/>
          <p:nvPr/>
        </p:nvSpPr>
        <p:spPr>
          <a:xfrm>
            <a:off x="6400800" y="2103120"/>
            <a:ext cx="5239512" cy="1371600"/>
          </a:xfrm>
          <a:prstGeom prst="rect">
            <a:avLst/>
          </a:prstGeom>
          <a:noFill/>
          <a:ln/>
        </p:spPr>
        <p:txBody>
          <a:bodyPr wrap="square" lIns="0" tIns="0" rIns="0" bIns="0" rtlCol="0" anchor="t"/>
          <a:lstStyle/>
          <a:p>
            <a:pPr indent="0" marL="0">
              <a:lnSpc>
                <a:spcPct val="105000"/>
              </a:lnSpc>
              <a:buNone/>
            </a:pPr>
            <a:r>
              <a:rPr lang="en-US" sz="2400" b="1" spc="-30" kern="0" dirty="0">
                <a:solidFill>
                  <a:srgbClr val="1D1D1F"/>
                </a:solidFill>
                <a:latin typeface="Inter Display" pitchFamily="34" charset="0"/>
                <a:ea typeface="Inter Display" pitchFamily="34" charset="-122"/>
                <a:cs typeface="Inter Display" pitchFamily="34" charset="-120"/>
              </a:rPr>
              <a:t>Quasi metà dei ricavi (49%) è calcolo affittato: del successo conserva solo il 35%.</a:t>
            </a:r>
            <a:endParaRPr lang="en-US" sz="2400" dirty="0"/>
          </a:p>
        </p:txBody>
      </p:sp>
      <p:sp>
        <p:nvSpPr>
          <p:cNvPr id="16" name="Text 11"/>
          <p:cNvSpPr/>
          <p:nvPr/>
        </p:nvSpPr>
        <p:spPr>
          <a:xfrm>
            <a:off x="6400800" y="3703320"/>
            <a:ext cx="5239512" cy="274320"/>
          </a:xfrm>
          <a:prstGeom prst="rect">
            <a:avLst/>
          </a:prstGeom>
          <a:noFill/>
          <a:ln/>
        </p:spPr>
        <p:txBody>
          <a:bodyPr wrap="square" lIns="0" tIns="0" rIns="0" bIns="0" rtlCol="0" anchor="t"/>
          <a:lstStyle/>
          <a:p>
            <a:pPr indent="0" marL="0">
              <a:buNone/>
            </a:pPr>
            <a:r>
              <a:rPr lang="en-US" sz="1100" spc="300" kern="0" dirty="0">
                <a:solidFill>
                  <a:srgbClr val="6E6E73"/>
                </a:solidFill>
                <a:latin typeface="D-DIN" pitchFamily="34" charset="0"/>
                <a:ea typeface="D-DIN" pitchFamily="34" charset="-122"/>
                <a:cs typeface="D-DIN" pitchFamily="34" charset="-120"/>
              </a:rPr>
              <a:t>IL SUO PANIERE: 7,9X I RICAVI</a:t>
            </a:r>
            <a:endParaRPr lang="en-US" sz="1100" dirty="0"/>
          </a:p>
        </p:txBody>
      </p:sp>
      <p:pic>
        <p:nvPicPr>
          <p:cNvPr id="17" name="Image 2" descr="Logo orcl">    </p:cNvPr>
          <p:cNvPicPr>
            <a:picLocks noChangeAspect="1"/>
          </p:cNvPicPr>
          <p:nvPr/>
        </p:nvPicPr>
        <p:blipFill>
          <a:blip r:embed="rId3"/>
          <a:stretch>
            <a:fillRect/>
          </a:stretch>
        </p:blipFill>
        <p:spPr>
          <a:xfrm>
            <a:off x="6400800" y="4174301"/>
            <a:ext cx="1335024" cy="173605"/>
          </a:xfrm>
          <a:prstGeom prst="rect">
            <a:avLst/>
          </a:prstGeom>
        </p:spPr>
      </p:pic>
      <p:pic>
        <p:nvPicPr>
          <p:cNvPr id="18" name="Image 3" descr="Logo msft">    </p:cNvPr>
          <p:cNvPicPr>
            <a:picLocks noChangeAspect="1"/>
          </p:cNvPicPr>
          <p:nvPr/>
        </p:nvPicPr>
        <p:blipFill>
          <a:blip r:embed="rId4"/>
          <a:stretch>
            <a:fillRect/>
          </a:stretch>
        </p:blipFill>
        <p:spPr>
          <a:xfrm>
            <a:off x="8147304" y="4118777"/>
            <a:ext cx="1335024" cy="284653"/>
          </a:xfrm>
          <a:prstGeom prst="rect">
            <a:avLst/>
          </a:prstGeom>
        </p:spPr>
      </p:pic>
      <p:pic>
        <p:nvPicPr>
          <p:cNvPr id="19" name="Image 4" descr="Logo crwv">    </p:cNvPr>
          <p:cNvPicPr>
            <a:picLocks noChangeAspect="1"/>
          </p:cNvPicPr>
          <p:nvPr/>
        </p:nvPicPr>
        <p:blipFill>
          <a:blip r:embed="rId5"/>
          <a:stretch>
            <a:fillRect/>
          </a:stretch>
        </p:blipFill>
        <p:spPr>
          <a:xfrm>
            <a:off x="9893808" y="4168715"/>
            <a:ext cx="1335024" cy="184778"/>
          </a:xfrm>
          <a:prstGeom prst="rect">
            <a:avLst/>
          </a:prstGeom>
        </p:spPr>
      </p:pic>
      <p:sp>
        <p:nvSpPr>
          <p:cNvPr id="20" name="Text 12"/>
          <p:cNvSpPr/>
          <p:nvPr/>
        </p:nvSpPr>
        <p:spPr>
          <a:xfrm>
            <a:off x="6400800" y="4800600"/>
            <a:ext cx="5239512" cy="914400"/>
          </a:xfrm>
          <a:prstGeom prst="rect">
            <a:avLst/>
          </a:prstGeom>
          <a:noFill/>
          <a:ln/>
        </p:spPr>
        <p:txBody>
          <a:bodyPr wrap="square" lIns="0" tIns="0" rIns="0" bIns="0" rtlCol="0" anchor="t"/>
          <a:lstStyle/>
          <a:p>
            <a:pPr indent="0" marL="0">
              <a:lnSpc>
                <a:spcPct val="110000"/>
              </a:lnSpc>
              <a:buNone/>
            </a:pPr>
            <a:r>
              <a:rPr lang="en-US" sz="1500" dirty="0">
                <a:solidFill>
                  <a:srgbClr val="6E6E73"/>
                </a:solidFill>
                <a:latin typeface="Inter" pitchFamily="34" charset="0"/>
                <a:ea typeface="Inter" pitchFamily="34" charset="-122"/>
                <a:cs typeface="Inter" pitchFamily="34" charset="-120"/>
              </a:rPr>
              <a:t>Costano di più il prodotto di frontiera (A2, 65%) e il ritorno sul capitale (A3, cumulata 25%).</a:t>
            </a:r>
            <a:endParaRPr lang="en-US" sz="15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LE MILESTONE CHE CONTANO</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Tredici milestone decidono il valore</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Probabilità stimate dall'autore su tassi storici (Guikema e Paté-Cornell 2004; Flyvbjerg 2014); cumulate per enumerazione esatta degli esiti</a:t>
            </a:r>
            <a:endParaRPr lang="en-US" sz="800" dirty="0"/>
          </a:p>
        </p:txBody>
      </p:sp>
      <p:pic>
        <p:nvPicPr>
          <p:cNvPr id="6" name="Image 0" descr="Albero delle tredici milestone con probabilità condizionate e cumulate">    </p:cNvPr>
          <p:cNvPicPr>
            <a:picLocks noChangeAspect="1"/>
          </p:cNvPicPr>
          <p:nvPr/>
        </p:nvPicPr>
        <p:blipFill>
          <a:blip r:embed="rId1"/>
          <a:stretch>
            <a:fillRect/>
          </a:stretch>
        </p:blipFill>
        <p:spPr>
          <a:xfrm>
            <a:off x="411480" y="1874520"/>
            <a:ext cx="7680960" cy="4320540"/>
          </a:xfrm>
          <a:prstGeom prst="rect">
            <a:avLst/>
          </a:prstGeom>
        </p:spPr>
      </p:pic>
      <p:sp>
        <p:nvSpPr>
          <p:cNvPr id="7" name="Text 3"/>
          <p:cNvSpPr/>
          <p:nvPr/>
        </p:nvSpPr>
        <p:spPr>
          <a:xfrm>
            <a:off x="8595360" y="1920240"/>
            <a:ext cx="3108960" cy="868680"/>
          </a:xfrm>
          <a:prstGeom prst="rect">
            <a:avLst/>
          </a:prstGeom>
          <a:noFill/>
          <a:ln/>
        </p:spPr>
        <p:txBody>
          <a:bodyPr wrap="square" lIns="0" tIns="0" rIns="0" bIns="0" rtlCol="0" anchor="b"/>
          <a:lstStyle/>
          <a:p>
            <a:pPr indent="0" marL="0">
              <a:buNone/>
            </a:pPr>
            <a:r>
              <a:rPr lang="en-US" sz="6400" b="1" spc="-60" kern="0" dirty="0">
                <a:solidFill>
                  <a:srgbClr val="0B1F3A"/>
                </a:solidFill>
                <a:latin typeface="Inter Display" pitchFamily="34" charset="0"/>
                <a:ea typeface="Inter Display" pitchFamily="34" charset="-122"/>
                <a:cs typeface="Inter Display" pitchFamily="34" charset="-120"/>
              </a:rPr>
              <a:t>13</a:t>
            </a:r>
            <a:endParaRPr lang="en-US" sz="6400" dirty="0"/>
          </a:p>
        </p:txBody>
      </p:sp>
      <p:sp>
        <p:nvSpPr>
          <p:cNvPr id="8" name="Text 4"/>
          <p:cNvSpPr/>
          <p:nvPr/>
        </p:nvSpPr>
        <p:spPr>
          <a:xfrm>
            <a:off x="8595360" y="2834640"/>
            <a:ext cx="3108960" cy="365760"/>
          </a:xfrm>
          <a:prstGeom prst="rect">
            <a:avLst/>
          </a:prstGeom>
          <a:noFill/>
          <a:ln/>
        </p:spPr>
        <p:txBody>
          <a:bodyPr wrap="square" lIns="0" tIns="0" rIns="0" bIns="0" rtlCol="0" anchor="t"/>
          <a:lstStyle/>
          <a:p>
            <a:pPr indent="0" marL="0">
              <a:buNone/>
            </a:pPr>
            <a:r>
              <a:rPr lang="en-US" sz="1400" dirty="0">
                <a:solidFill>
                  <a:srgbClr val="6E6E73"/>
                </a:solidFill>
                <a:latin typeface="Inter" pitchFamily="34" charset="0"/>
                <a:ea typeface="Inter" pitchFamily="34" charset="-122"/>
                <a:cs typeface="Inter" pitchFamily="34" charset="-120"/>
              </a:rPr>
              <a:t>milestone sui tre rami</a:t>
            </a:r>
            <a:endParaRPr lang="en-US" sz="1400" dirty="0"/>
          </a:p>
        </p:txBody>
      </p:sp>
      <p:sp>
        <p:nvSpPr>
          <p:cNvPr id="9" name="Text 5"/>
          <p:cNvSpPr/>
          <p:nvPr/>
        </p:nvSpPr>
        <p:spPr>
          <a:xfrm>
            <a:off x="8595360" y="3383280"/>
            <a:ext cx="3108960" cy="868680"/>
          </a:xfrm>
          <a:prstGeom prst="rect">
            <a:avLst/>
          </a:prstGeom>
          <a:noFill/>
          <a:ln/>
        </p:spPr>
        <p:txBody>
          <a:bodyPr wrap="square" lIns="0" tIns="0" rIns="0" bIns="0" rtlCol="0" anchor="b"/>
          <a:lstStyle/>
          <a:p>
            <a:pPr indent="0" marL="0">
              <a:buNone/>
            </a:pPr>
            <a:r>
              <a:rPr lang="en-US" sz="6400" b="1" spc="-60" kern="0" dirty="0">
                <a:solidFill>
                  <a:srgbClr val="0B1F3A"/>
                </a:solidFill>
                <a:latin typeface="Inter Display" pitchFamily="34" charset="0"/>
                <a:ea typeface="Inter Display" pitchFamily="34" charset="-122"/>
                <a:cs typeface="Inter Display" pitchFamily="34" charset="-120"/>
              </a:rPr>
              <a:t>696</a:t>
            </a:r>
            <a:endParaRPr lang="en-US" sz="6400" dirty="0"/>
          </a:p>
        </p:txBody>
      </p:sp>
      <p:sp>
        <p:nvSpPr>
          <p:cNvPr id="10" name="Text 6"/>
          <p:cNvSpPr/>
          <p:nvPr/>
        </p:nvSpPr>
        <p:spPr>
          <a:xfrm>
            <a:off x="8595360" y="4297680"/>
            <a:ext cx="3108960" cy="365760"/>
          </a:xfrm>
          <a:prstGeom prst="rect">
            <a:avLst/>
          </a:prstGeom>
          <a:noFill/>
          <a:ln/>
        </p:spPr>
        <p:txBody>
          <a:bodyPr wrap="square" lIns="0" tIns="0" rIns="0" bIns="0" rtlCol="0" anchor="t"/>
          <a:lstStyle/>
          <a:p>
            <a:pPr indent="0" marL="0">
              <a:buNone/>
            </a:pPr>
            <a:r>
              <a:rPr lang="en-US" sz="1400" dirty="0">
                <a:solidFill>
                  <a:srgbClr val="6E6E73"/>
                </a:solidFill>
                <a:latin typeface="Inter" pitchFamily="34" charset="0"/>
                <a:ea typeface="Inter" pitchFamily="34" charset="-122"/>
                <a:cs typeface="Inter" pitchFamily="34" charset="-120"/>
              </a:rPr>
              <a:t>esiti possibili, tutti pesati</a:t>
            </a:r>
            <a:endParaRPr lang="en-US" sz="1400" dirty="0"/>
          </a:p>
        </p:txBody>
      </p:sp>
      <p:sp>
        <p:nvSpPr>
          <p:cNvPr id="11" name="Text 7"/>
          <p:cNvSpPr/>
          <p:nvPr/>
        </p:nvSpPr>
        <p:spPr>
          <a:xfrm>
            <a:off x="8595360" y="4846320"/>
            <a:ext cx="3108960" cy="868680"/>
          </a:xfrm>
          <a:prstGeom prst="rect">
            <a:avLst/>
          </a:prstGeom>
          <a:noFill/>
          <a:ln/>
        </p:spPr>
        <p:txBody>
          <a:bodyPr wrap="square" lIns="0" tIns="0" rIns="0" bIns="0" rtlCol="0" anchor="b"/>
          <a:lstStyle/>
          <a:p>
            <a:pPr indent="0" marL="0">
              <a:buNone/>
            </a:pPr>
            <a:r>
              <a:rPr lang="en-US" sz="6400" b="1" spc="-60" kern="0" dirty="0">
                <a:solidFill>
                  <a:srgbClr val="0071E3"/>
                </a:solidFill>
                <a:latin typeface="Inter Display" pitchFamily="34" charset="0"/>
                <a:ea typeface="Inter Display" pitchFamily="34" charset="-122"/>
                <a:cs typeface="Inter Display" pitchFamily="34" charset="-120"/>
              </a:rPr>
              <a:t>65%</a:t>
            </a:r>
            <a:endParaRPr lang="en-US" sz="6400" dirty="0"/>
          </a:p>
        </p:txBody>
      </p:sp>
      <p:sp>
        <p:nvSpPr>
          <p:cNvPr id="12" name="Text 8"/>
          <p:cNvSpPr/>
          <p:nvPr/>
        </p:nvSpPr>
        <p:spPr>
          <a:xfrm>
            <a:off x="8595360" y="5760720"/>
            <a:ext cx="3108960" cy="365760"/>
          </a:xfrm>
          <a:prstGeom prst="rect">
            <a:avLst/>
          </a:prstGeom>
          <a:noFill/>
          <a:ln/>
        </p:spPr>
        <p:txBody>
          <a:bodyPr wrap="square" lIns="0" tIns="0" rIns="0" bIns="0" rtlCol="0" anchor="t"/>
          <a:lstStyle/>
          <a:p>
            <a:pPr indent="0" marL="0">
              <a:buNone/>
            </a:pPr>
            <a:r>
              <a:rPr lang="en-US" sz="1400" dirty="0">
                <a:solidFill>
                  <a:srgbClr val="6E6E73"/>
                </a:solidFill>
                <a:latin typeface="Inter" pitchFamily="34" charset="0"/>
                <a:ea typeface="Inter" pitchFamily="34" charset="-122"/>
                <a:cs typeface="Inter" pitchFamily="34" charset="-120"/>
              </a:rPr>
              <a:t>riuso dello stadio superiore: il nodo</a:t>
            </a:r>
            <a:endParaRPr lang="en-US" sz="14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86868B"/>
                </a:solidFill>
                <a:latin typeface="D-DIN" pitchFamily="34" charset="0"/>
                <a:ea typeface="D-DIN" pitchFamily="34" charset="-122"/>
                <a:cs typeface="D-DIN" pitchFamily="34" charset="-120"/>
              </a:rPr>
              <a:t>ATTO 1  |  LA SOMMA DELLE PARTI</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FFFFFF"/>
                </a:solidFill>
                <a:latin typeface="Inter Display" pitchFamily="34" charset="0"/>
                <a:ea typeface="Inter Display" pitchFamily="34" charset="-122"/>
                <a:cs typeface="Inter Display" pitchFamily="34" charset="-120"/>
              </a:rPr>
              <a:t>Sommati e scontati: 57 $ per azione</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86868B"/>
                </a:solidFill>
                <a:latin typeface="Inter" pitchFamily="34" charset="0"/>
                <a:ea typeface="Inter" pitchFamily="34" charset="-122"/>
                <a:cs typeface="Inter" pitchFamily="34" charset="-120"/>
              </a:rPr>
              <a:t>Fonte: Modello dell'autore; azioni, cassa, debito e claim azionari: SEC, 10-Q Q2 2026 e 424B4; sconti: conglomerata 5% (Berger e Ofek 1995), governance 3,5% (Dyck e Zingales 2004)</a:t>
            </a:r>
            <a:endParaRPr lang="en-US" sz="800" dirty="0"/>
          </a:p>
        </p:txBody>
      </p:sp>
      <p:sp>
        <p:nvSpPr>
          <p:cNvPr id="6" name="Shape 3"/>
          <p:cNvSpPr/>
          <p:nvPr/>
        </p:nvSpPr>
        <p:spPr>
          <a:xfrm>
            <a:off x="714654" y="5479966"/>
            <a:ext cx="541731" cy="52154"/>
          </a:xfrm>
          <a:prstGeom prst="rect">
            <a:avLst/>
          </a:prstGeom>
          <a:solidFill>
            <a:srgbClr val="2997FF"/>
          </a:solidFill>
          <a:ln/>
        </p:spPr>
      </p:sp>
      <p:sp>
        <p:nvSpPr>
          <p:cNvPr id="7" name="Text 4"/>
          <p:cNvSpPr/>
          <p:nvPr/>
        </p:nvSpPr>
        <p:spPr>
          <a:xfrm>
            <a:off x="531774" y="5187358"/>
            <a:ext cx="907491" cy="256032"/>
          </a:xfrm>
          <a:prstGeom prst="rect">
            <a:avLst/>
          </a:prstGeom>
          <a:noFill/>
          <a:ln/>
        </p:spPr>
        <p:txBody>
          <a:bodyPr wrap="square" lIns="0" tIns="0" rIns="0" bIns="0" rtlCol="0" anchor="b"/>
          <a:lstStyle/>
          <a:p>
            <a:pPr algn="ctr" indent="0" marL="0">
              <a:buNone/>
            </a:pPr>
            <a:r>
              <a:rPr lang="en-US" sz="1200" dirty="0">
                <a:solidFill>
                  <a:srgbClr val="FFFFFF"/>
                </a:solidFill>
                <a:latin typeface="Inter" pitchFamily="34" charset="0"/>
                <a:ea typeface="Inter" pitchFamily="34" charset="-122"/>
                <a:cs typeface="Inter" pitchFamily="34" charset="-120"/>
              </a:rPr>
              <a:t>+1,6</a:t>
            </a:r>
            <a:endParaRPr lang="en-US" sz="1200" dirty="0"/>
          </a:p>
        </p:txBody>
      </p:sp>
      <p:sp>
        <p:nvSpPr>
          <p:cNvPr id="8" name="Text 5"/>
          <p:cNvSpPr/>
          <p:nvPr/>
        </p:nvSpPr>
        <p:spPr>
          <a:xfrm>
            <a:off x="486054" y="5623560"/>
            <a:ext cx="998931" cy="457200"/>
          </a:xfrm>
          <a:prstGeom prst="rect">
            <a:avLst/>
          </a:prstGeom>
          <a:noFill/>
          <a:ln/>
        </p:spPr>
        <p:txBody>
          <a:bodyPr wrap="square" lIns="0" tIns="0" rIns="0" bIns="0" rtlCol="0" anchor="t"/>
          <a:lstStyle/>
          <a:p>
            <a:pPr algn="ctr" indent="0" marL="0">
              <a:buNone/>
            </a:pPr>
            <a:r>
              <a:rPr lang="en-US" sz="1000" dirty="0">
                <a:solidFill>
                  <a:srgbClr val="86868B"/>
                </a:solidFill>
                <a:latin typeface="Inter" pitchFamily="34" charset="0"/>
                <a:ea typeface="Inter" pitchFamily="34" charset="-122"/>
                <a:cs typeface="Inter" pitchFamily="34" charset="-120"/>
              </a:rPr>
              <a:t>Space</a:t>
            </a:r>
            <a:endParaRPr lang="en-US" sz="1000" dirty="0"/>
          </a:p>
        </p:txBody>
      </p:sp>
      <p:sp>
        <p:nvSpPr>
          <p:cNvPr id="9" name="Shape 6"/>
          <p:cNvSpPr/>
          <p:nvPr/>
        </p:nvSpPr>
        <p:spPr>
          <a:xfrm>
            <a:off x="1588414" y="3903243"/>
            <a:ext cx="541731" cy="1576723"/>
          </a:xfrm>
          <a:prstGeom prst="rect">
            <a:avLst/>
          </a:prstGeom>
          <a:solidFill>
            <a:srgbClr val="2997FF"/>
          </a:solidFill>
          <a:ln/>
        </p:spPr>
      </p:sp>
      <p:sp>
        <p:nvSpPr>
          <p:cNvPr id="10" name="Text 7"/>
          <p:cNvSpPr/>
          <p:nvPr/>
        </p:nvSpPr>
        <p:spPr>
          <a:xfrm>
            <a:off x="1405534" y="3610635"/>
            <a:ext cx="907491" cy="256032"/>
          </a:xfrm>
          <a:prstGeom prst="rect">
            <a:avLst/>
          </a:prstGeom>
          <a:noFill/>
          <a:ln/>
        </p:spPr>
        <p:txBody>
          <a:bodyPr wrap="square" lIns="0" tIns="0" rIns="0" bIns="0" rtlCol="0" anchor="b"/>
          <a:lstStyle/>
          <a:p>
            <a:pPr algn="ctr" indent="0" marL="0">
              <a:buNone/>
            </a:pPr>
            <a:r>
              <a:rPr lang="en-US" sz="1200" dirty="0">
                <a:solidFill>
                  <a:srgbClr val="FFFFFF"/>
                </a:solidFill>
                <a:latin typeface="Inter" pitchFamily="34" charset="0"/>
                <a:ea typeface="Inter" pitchFamily="34" charset="-122"/>
                <a:cs typeface="Inter" pitchFamily="34" charset="-120"/>
              </a:rPr>
              <a:t>+48,1</a:t>
            </a:r>
            <a:endParaRPr lang="en-US" sz="1200" dirty="0"/>
          </a:p>
        </p:txBody>
      </p:sp>
      <p:sp>
        <p:nvSpPr>
          <p:cNvPr id="11" name="Text 8"/>
          <p:cNvSpPr/>
          <p:nvPr/>
        </p:nvSpPr>
        <p:spPr>
          <a:xfrm>
            <a:off x="1359814" y="5623560"/>
            <a:ext cx="998931" cy="457200"/>
          </a:xfrm>
          <a:prstGeom prst="rect">
            <a:avLst/>
          </a:prstGeom>
          <a:noFill/>
          <a:ln/>
        </p:spPr>
        <p:txBody>
          <a:bodyPr wrap="square" lIns="0" tIns="0" rIns="0" bIns="0" rtlCol="0" anchor="t"/>
          <a:lstStyle/>
          <a:p>
            <a:pPr algn="ctr" indent="0" marL="0">
              <a:buNone/>
            </a:pPr>
            <a:r>
              <a:rPr lang="en-US" sz="1000" dirty="0">
                <a:solidFill>
                  <a:srgbClr val="86868B"/>
                </a:solidFill>
                <a:latin typeface="Inter" pitchFamily="34" charset="0"/>
                <a:ea typeface="Inter" pitchFamily="34" charset="-122"/>
                <a:cs typeface="Inter" pitchFamily="34" charset="-120"/>
              </a:rPr>
              <a:t>Starlink</a:t>
            </a:r>
            <a:endParaRPr lang="en-US" sz="1000" dirty="0"/>
          </a:p>
        </p:txBody>
      </p:sp>
      <p:sp>
        <p:nvSpPr>
          <p:cNvPr id="12" name="Shape 9"/>
          <p:cNvSpPr/>
          <p:nvPr/>
        </p:nvSpPr>
        <p:spPr>
          <a:xfrm>
            <a:off x="2462174" y="3528668"/>
            <a:ext cx="541731" cy="374574"/>
          </a:xfrm>
          <a:prstGeom prst="rect">
            <a:avLst/>
          </a:prstGeom>
          <a:solidFill>
            <a:srgbClr val="2997FF"/>
          </a:solidFill>
          <a:ln/>
        </p:spPr>
      </p:sp>
      <p:sp>
        <p:nvSpPr>
          <p:cNvPr id="13" name="Text 10"/>
          <p:cNvSpPr/>
          <p:nvPr/>
        </p:nvSpPr>
        <p:spPr>
          <a:xfrm>
            <a:off x="2279294" y="3236060"/>
            <a:ext cx="907491" cy="256032"/>
          </a:xfrm>
          <a:prstGeom prst="rect">
            <a:avLst/>
          </a:prstGeom>
          <a:noFill/>
          <a:ln/>
        </p:spPr>
        <p:txBody>
          <a:bodyPr wrap="square" lIns="0" tIns="0" rIns="0" bIns="0" rtlCol="0" anchor="b"/>
          <a:lstStyle/>
          <a:p>
            <a:pPr algn="ctr" indent="0" marL="0">
              <a:buNone/>
            </a:pPr>
            <a:r>
              <a:rPr lang="en-US" sz="1200" dirty="0">
                <a:solidFill>
                  <a:srgbClr val="FFFFFF"/>
                </a:solidFill>
                <a:latin typeface="Inter" pitchFamily="34" charset="0"/>
                <a:ea typeface="Inter" pitchFamily="34" charset="-122"/>
                <a:cs typeface="Inter" pitchFamily="34" charset="-120"/>
              </a:rPr>
              <a:t>+11,4</a:t>
            </a:r>
            <a:endParaRPr lang="en-US" sz="1200" dirty="0"/>
          </a:p>
        </p:txBody>
      </p:sp>
      <p:sp>
        <p:nvSpPr>
          <p:cNvPr id="14" name="Text 11"/>
          <p:cNvSpPr/>
          <p:nvPr/>
        </p:nvSpPr>
        <p:spPr>
          <a:xfrm>
            <a:off x="2233574" y="5623560"/>
            <a:ext cx="998931" cy="457200"/>
          </a:xfrm>
          <a:prstGeom prst="rect">
            <a:avLst/>
          </a:prstGeom>
          <a:noFill/>
          <a:ln/>
        </p:spPr>
        <p:txBody>
          <a:bodyPr wrap="square" lIns="0" tIns="0" rIns="0" bIns="0" rtlCol="0" anchor="t"/>
          <a:lstStyle/>
          <a:p>
            <a:pPr algn="ctr" indent="0" marL="0">
              <a:buNone/>
            </a:pPr>
            <a:r>
              <a:rPr lang="en-US" sz="1000" dirty="0">
                <a:solidFill>
                  <a:srgbClr val="86868B"/>
                </a:solidFill>
                <a:latin typeface="Inter" pitchFamily="34" charset="0"/>
                <a:ea typeface="Inter" pitchFamily="34" charset="-122"/>
                <a:cs typeface="Inter" pitchFamily="34" charset="-120"/>
              </a:rPr>
              <a:t>AI</a:t>
            </a:r>
            <a:endParaRPr lang="en-US" sz="1000" dirty="0"/>
          </a:p>
        </p:txBody>
      </p:sp>
      <p:sp>
        <p:nvSpPr>
          <p:cNvPr id="15" name="Shape 12"/>
          <p:cNvSpPr/>
          <p:nvPr/>
        </p:nvSpPr>
        <p:spPr>
          <a:xfrm>
            <a:off x="3335934" y="3528668"/>
            <a:ext cx="541731" cy="100173"/>
          </a:xfrm>
          <a:prstGeom prst="rect">
            <a:avLst/>
          </a:prstGeom>
          <a:solidFill>
            <a:srgbClr val="FF6961"/>
          </a:solidFill>
          <a:ln/>
        </p:spPr>
      </p:sp>
      <p:sp>
        <p:nvSpPr>
          <p:cNvPr id="16" name="Text 13"/>
          <p:cNvSpPr/>
          <p:nvPr/>
        </p:nvSpPr>
        <p:spPr>
          <a:xfrm>
            <a:off x="3153054" y="3236060"/>
            <a:ext cx="907491" cy="256032"/>
          </a:xfrm>
          <a:prstGeom prst="rect">
            <a:avLst/>
          </a:prstGeom>
          <a:noFill/>
          <a:ln/>
        </p:spPr>
        <p:txBody>
          <a:bodyPr wrap="square" lIns="0" tIns="0" rIns="0" bIns="0" rtlCol="0" anchor="b"/>
          <a:lstStyle/>
          <a:p>
            <a:pPr algn="ctr" indent="0" marL="0">
              <a:buNone/>
            </a:pPr>
            <a:r>
              <a:rPr lang="en-US" sz="1200" dirty="0">
                <a:solidFill>
                  <a:srgbClr val="FFFFFF"/>
                </a:solidFill>
                <a:latin typeface="Inter" pitchFamily="34" charset="0"/>
                <a:ea typeface="Inter" pitchFamily="34" charset="-122"/>
                <a:cs typeface="Inter" pitchFamily="34" charset="-120"/>
              </a:rPr>
              <a:t>-3,1</a:t>
            </a:r>
            <a:endParaRPr lang="en-US" sz="1200" dirty="0"/>
          </a:p>
        </p:txBody>
      </p:sp>
      <p:sp>
        <p:nvSpPr>
          <p:cNvPr id="17" name="Text 14"/>
          <p:cNvSpPr/>
          <p:nvPr/>
        </p:nvSpPr>
        <p:spPr>
          <a:xfrm>
            <a:off x="3107334" y="5623560"/>
            <a:ext cx="998931" cy="457200"/>
          </a:xfrm>
          <a:prstGeom prst="rect">
            <a:avLst/>
          </a:prstGeom>
          <a:noFill/>
          <a:ln/>
        </p:spPr>
        <p:txBody>
          <a:bodyPr wrap="square" lIns="0" tIns="0" rIns="0" bIns="0" rtlCol="0" anchor="t"/>
          <a:lstStyle/>
          <a:p>
            <a:pPr algn="ctr" indent="0" marL="0">
              <a:buNone/>
            </a:pPr>
            <a:r>
              <a:rPr lang="en-US" sz="1000" dirty="0">
                <a:solidFill>
                  <a:srgbClr val="86868B"/>
                </a:solidFill>
                <a:latin typeface="Inter" pitchFamily="34" charset="0"/>
                <a:ea typeface="Inter" pitchFamily="34" charset="-122"/>
                <a:cs typeface="Inter" pitchFamily="34" charset="-120"/>
              </a:rPr>
              <a:t>Sconto</a:t>
            </a:r>
            <a:endParaRPr lang="en-US" sz="1000" dirty="0"/>
          </a:p>
          <a:p>
            <a:pPr algn="ctr" indent="0" marL="0">
              <a:buNone/>
            </a:pPr>
            <a:r>
              <a:rPr lang="en-US" sz="1000" dirty="0">
                <a:solidFill>
                  <a:srgbClr val="86868B"/>
                </a:solidFill>
                <a:latin typeface="Inter" pitchFamily="34" charset="0"/>
                <a:ea typeface="Inter" pitchFamily="34" charset="-122"/>
                <a:cs typeface="Inter" pitchFamily="34" charset="-120"/>
              </a:rPr>
              <a:t>conglomerata</a:t>
            </a:r>
            <a:endParaRPr lang="en-US" sz="1000" dirty="0"/>
          </a:p>
        </p:txBody>
      </p:sp>
      <p:sp>
        <p:nvSpPr>
          <p:cNvPr id="18" name="Shape 15"/>
          <p:cNvSpPr/>
          <p:nvPr/>
        </p:nvSpPr>
        <p:spPr>
          <a:xfrm>
            <a:off x="4209694" y="3628841"/>
            <a:ext cx="541731" cy="66615"/>
          </a:xfrm>
          <a:prstGeom prst="rect">
            <a:avLst/>
          </a:prstGeom>
          <a:solidFill>
            <a:srgbClr val="FF6961"/>
          </a:solidFill>
          <a:ln/>
        </p:spPr>
      </p:sp>
      <p:sp>
        <p:nvSpPr>
          <p:cNvPr id="19" name="Text 16"/>
          <p:cNvSpPr/>
          <p:nvPr/>
        </p:nvSpPr>
        <p:spPr>
          <a:xfrm>
            <a:off x="4026814" y="3336233"/>
            <a:ext cx="907491" cy="256032"/>
          </a:xfrm>
          <a:prstGeom prst="rect">
            <a:avLst/>
          </a:prstGeom>
          <a:noFill/>
          <a:ln/>
        </p:spPr>
        <p:txBody>
          <a:bodyPr wrap="square" lIns="0" tIns="0" rIns="0" bIns="0" rtlCol="0" anchor="b"/>
          <a:lstStyle/>
          <a:p>
            <a:pPr algn="ctr" indent="0" marL="0">
              <a:buNone/>
            </a:pPr>
            <a:r>
              <a:rPr lang="en-US" sz="1200" dirty="0">
                <a:solidFill>
                  <a:srgbClr val="FFFFFF"/>
                </a:solidFill>
                <a:latin typeface="Inter" pitchFamily="34" charset="0"/>
                <a:ea typeface="Inter" pitchFamily="34" charset="-122"/>
                <a:cs typeface="Inter" pitchFamily="34" charset="-120"/>
              </a:rPr>
              <a:t>-2,0</a:t>
            </a:r>
            <a:endParaRPr lang="en-US" sz="1200" dirty="0"/>
          </a:p>
        </p:txBody>
      </p:sp>
      <p:sp>
        <p:nvSpPr>
          <p:cNvPr id="20" name="Text 17"/>
          <p:cNvSpPr/>
          <p:nvPr/>
        </p:nvSpPr>
        <p:spPr>
          <a:xfrm>
            <a:off x="3981094" y="5623560"/>
            <a:ext cx="998931" cy="457200"/>
          </a:xfrm>
          <a:prstGeom prst="rect">
            <a:avLst/>
          </a:prstGeom>
          <a:noFill/>
          <a:ln/>
        </p:spPr>
        <p:txBody>
          <a:bodyPr wrap="square" lIns="0" tIns="0" rIns="0" bIns="0" rtlCol="0" anchor="t"/>
          <a:lstStyle/>
          <a:p>
            <a:pPr algn="ctr" indent="0" marL="0">
              <a:buNone/>
            </a:pPr>
            <a:r>
              <a:rPr lang="en-US" sz="1000" dirty="0">
                <a:solidFill>
                  <a:srgbClr val="86868B"/>
                </a:solidFill>
                <a:latin typeface="Inter" pitchFamily="34" charset="0"/>
                <a:ea typeface="Inter" pitchFamily="34" charset="-122"/>
                <a:cs typeface="Inter" pitchFamily="34" charset="-120"/>
              </a:rPr>
              <a:t>Sconto</a:t>
            </a:r>
            <a:endParaRPr lang="en-US" sz="1000" dirty="0"/>
          </a:p>
          <a:p>
            <a:pPr algn="ctr" indent="0" marL="0">
              <a:buNone/>
            </a:pPr>
            <a:r>
              <a:rPr lang="en-US" sz="1000" dirty="0">
                <a:solidFill>
                  <a:srgbClr val="86868B"/>
                </a:solidFill>
                <a:latin typeface="Inter" pitchFamily="34" charset="0"/>
                <a:ea typeface="Inter" pitchFamily="34" charset="-122"/>
                <a:cs typeface="Inter" pitchFamily="34" charset="-120"/>
              </a:rPr>
              <a:t>governance</a:t>
            </a:r>
            <a:endParaRPr lang="en-US" sz="1000" dirty="0"/>
          </a:p>
        </p:txBody>
      </p:sp>
      <p:sp>
        <p:nvSpPr>
          <p:cNvPr id="21" name="Shape 18"/>
          <p:cNvSpPr/>
          <p:nvPr/>
        </p:nvSpPr>
        <p:spPr>
          <a:xfrm>
            <a:off x="5083454" y="3555131"/>
            <a:ext cx="541731" cy="140325"/>
          </a:xfrm>
          <a:prstGeom prst="rect">
            <a:avLst/>
          </a:prstGeom>
          <a:solidFill>
            <a:srgbClr val="86868B"/>
          </a:solidFill>
          <a:ln/>
        </p:spPr>
      </p:sp>
      <p:sp>
        <p:nvSpPr>
          <p:cNvPr id="22" name="Text 19"/>
          <p:cNvSpPr/>
          <p:nvPr/>
        </p:nvSpPr>
        <p:spPr>
          <a:xfrm>
            <a:off x="4900574" y="3262523"/>
            <a:ext cx="907491" cy="256032"/>
          </a:xfrm>
          <a:prstGeom prst="rect">
            <a:avLst/>
          </a:prstGeom>
          <a:noFill/>
          <a:ln/>
        </p:spPr>
        <p:txBody>
          <a:bodyPr wrap="square" lIns="0" tIns="0" rIns="0" bIns="0" rtlCol="0" anchor="b"/>
          <a:lstStyle/>
          <a:p>
            <a:pPr algn="ctr" indent="0" marL="0">
              <a:buNone/>
            </a:pPr>
            <a:r>
              <a:rPr lang="en-US" sz="1200" dirty="0">
                <a:solidFill>
                  <a:srgbClr val="FFFFFF"/>
                </a:solidFill>
                <a:latin typeface="Inter" pitchFamily="34" charset="0"/>
                <a:ea typeface="Inter" pitchFamily="34" charset="-122"/>
                <a:cs typeface="Inter" pitchFamily="34" charset="-120"/>
              </a:rPr>
              <a:t>+4,3</a:t>
            </a:r>
            <a:endParaRPr lang="en-US" sz="1200" dirty="0"/>
          </a:p>
        </p:txBody>
      </p:sp>
      <p:sp>
        <p:nvSpPr>
          <p:cNvPr id="23" name="Text 20"/>
          <p:cNvSpPr/>
          <p:nvPr/>
        </p:nvSpPr>
        <p:spPr>
          <a:xfrm>
            <a:off x="4854854" y="5623560"/>
            <a:ext cx="998931" cy="457200"/>
          </a:xfrm>
          <a:prstGeom prst="rect">
            <a:avLst/>
          </a:prstGeom>
          <a:noFill/>
          <a:ln/>
        </p:spPr>
        <p:txBody>
          <a:bodyPr wrap="square" lIns="0" tIns="0" rIns="0" bIns="0" rtlCol="0" anchor="t"/>
          <a:lstStyle/>
          <a:p>
            <a:pPr algn="ctr" indent="0" marL="0">
              <a:buNone/>
            </a:pPr>
            <a:r>
              <a:rPr lang="en-US" sz="1000" dirty="0">
                <a:solidFill>
                  <a:srgbClr val="86868B"/>
                </a:solidFill>
                <a:latin typeface="Inter" pitchFamily="34" charset="0"/>
                <a:ea typeface="Inter" pitchFamily="34" charset="-122"/>
                <a:cs typeface="Inter" pitchFamily="34" charset="-120"/>
              </a:rPr>
              <a:t>Cassa netta</a:t>
            </a:r>
            <a:endParaRPr lang="en-US" sz="1000" dirty="0"/>
          </a:p>
          <a:p>
            <a:pPr algn="ctr" indent="0" marL="0">
              <a:buNone/>
            </a:pPr>
            <a:r>
              <a:rPr lang="en-US" sz="1000" dirty="0">
                <a:solidFill>
                  <a:srgbClr val="86868B"/>
                </a:solidFill>
                <a:latin typeface="Inter" pitchFamily="34" charset="0"/>
                <a:ea typeface="Inter" pitchFamily="34" charset="-122"/>
                <a:cs typeface="Inter" pitchFamily="34" charset="-120"/>
              </a:rPr>
              <a:t>e debito</a:t>
            </a:r>
            <a:endParaRPr lang="en-US" sz="1000" dirty="0"/>
          </a:p>
        </p:txBody>
      </p:sp>
      <p:sp>
        <p:nvSpPr>
          <p:cNvPr id="24" name="Shape 21"/>
          <p:cNvSpPr/>
          <p:nvPr/>
        </p:nvSpPr>
        <p:spPr>
          <a:xfrm>
            <a:off x="5957214" y="3555131"/>
            <a:ext cx="541731" cy="107503"/>
          </a:xfrm>
          <a:prstGeom prst="rect">
            <a:avLst/>
          </a:prstGeom>
          <a:solidFill>
            <a:srgbClr val="FF6961"/>
          </a:solidFill>
          <a:ln/>
        </p:spPr>
      </p:sp>
      <p:sp>
        <p:nvSpPr>
          <p:cNvPr id="25" name="Text 22"/>
          <p:cNvSpPr/>
          <p:nvPr/>
        </p:nvSpPr>
        <p:spPr>
          <a:xfrm>
            <a:off x="5774334" y="3262523"/>
            <a:ext cx="907491" cy="256032"/>
          </a:xfrm>
          <a:prstGeom prst="rect">
            <a:avLst/>
          </a:prstGeom>
          <a:noFill/>
          <a:ln/>
        </p:spPr>
        <p:txBody>
          <a:bodyPr wrap="square" lIns="0" tIns="0" rIns="0" bIns="0" rtlCol="0" anchor="b"/>
          <a:lstStyle/>
          <a:p>
            <a:pPr algn="ctr" indent="0" marL="0">
              <a:buNone/>
            </a:pPr>
            <a:r>
              <a:rPr lang="en-US" sz="1200" dirty="0">
                <a:solidFill>
                  <a:srgbClr val="FFFFFF"/>
                </a:solidFill>
                <a:latin typeface="Inter" pitchFamily="34" charset="0"/>
                <a:ea typeface="Inter" pitchFamily="34" charset="-122"/>
                <a:cs typeface="Inter" pitchFamily="34" charset="-120"/>
              </a:rPr>
              <a:t>-3,3</a:t>
            </a:r>
            <a:endParaRPr lang="en-US" sz="1200" dirty="0"/>
          </a:p>
        </p:txBody>
      </p:sp>
      <p:sp>
        <p:nvSpPr>
          <p:cNvPr id="26" name="Text 23"/>
          <p:cNvSpPr/>
          <p:nvPr/>
        </p:nvSpPr>
        <p:spPr>
          <a:xfrm>
            <a:off x="5728614" y="5623560"/>
            <a:ext cx="998931" cy="457200"/>
          </a:xfrm>
          <a:prstGeom prst="rect">
            <a:avLst/>
          </a:prstGeom>
          <a:noFill/>
          <a:ln/>
        </p:spPr>
        <p:txBody>
          <a:bodyPr wrap="square" lIns="0" tIns="0" rIns="0" bIns="0" rtlCol="0" anchor="t"/>
          <a:lstStyle/>
          <a:p>
            <a:pPr algn="ctr" indent="0" marL="0">
              <a:buNone/>
            </a:pPr>
            <a:r>
              <a:rPr lang="en-US" sz="1000" dirty="0">
                <a:solidFill>
                  <a:srgbClr val="86868B"/>
                </a:solidFill>
                <a:latin typeface="Inter" pitchFamily="34" charset="0"/>
                <a:ea typeface="Inter" pitchFamily="34" charset="-122"/>
                <a:cs typeface="Inter" pitchFamily="34" charset="-120"/>
              </a:rPr>
              <a:t>Opzioni</a:t>
            </a:r>
            <a:endParaRPr lang="en-US" sz="1000" dirty="0"/>
          </a:p>
          <a:p>
            <a:pPr algn="ctr" indent="0" marL="0">
              <a:buNone/>
            </a:pPr>
            <a:r>
              <a:rPr lang="en-US" sz="1000" dirty="0">
                <a:solidFill>
                  <a:srgbClr val="86868B"/>
                </a:solidFill>
                <a:latin typeface="Inter" pitchFamily="34" charset="0"/>
                <a:ea typeface="Inter" pitchFamily="34" charset="-122"/>
                <a:cs typeface="Inter" pitchFamily="34" charset="-120"/>
              </a:rPr>
              <a:t>e claim</a:t>
            </a:r>
            <a:endParaRPr lang="en-US" sz="1000" dirty="0"/>
          </a:p>
        </p:txBody>
      </p:sp>
      <p:sp>
        <p:nvSpPr>
          <p:cNvPr id="27" name="Shape 24"/>
          <p:cNvSpPr/>
          <p:nvPr/>
        </p:nvSpPr>
        <p:spPr>
          <a:xfrm>
            <a:off x="6830974" y="3662634"/>
            <a:ext cx="541731" cy="1869486"/>
          </a:xfrm>
          <a:prstGeom prst="rect">
            <a:avLst/>
          </a:prstGeom>
          <a:solidFill>
            <a:srgbClr val="FFFFFF"/>
          </a:solidFill>
          <a:ln/>
        </p:spPr>
      </p:sp>
      <p:sp>
        <p:nvSpPr>
          <p:cNvPr id="28" name="Text 25"/>
          <p:cNvSpPr/>
          <p:nvPr/>
        </p:nvSpPr>
        <p:spPr>
          <a:xfrm>
            <a:off x="6602374" y="3351738"/>
            <a:ext cx="998931" cy="274320"/>
          </a:xfrm>
          <a:prstGeom prst="rect">
            <a:avLst/>
          </a:prstGeom>
          <a:noFill/>
          <a:ln/>
        </p:spPr>
        <p:txBody>
          <a:bodyPr wrap="square" lIns="0" tIns="0" rIns="0" bIns="0" rtlCol="0" anchor="b"/>
          <a:lstStyle/>
          <a:p>
            <a:pPr algn="ctr" indent="0" marL="0">
              <a:buNone/>
            </a:pPr>
            <a:r>
              <a:rPr lang="en-US" sz="1300" b="1" dirty="0">
                <a:solidFill>
                  <a:srgbClr val="FFFFFF"/>
                </a:solidFill>
                <a:latin typeface="Inter" pitchFamily="34" charset="0"/>
                <a:ea typeface="Inter" pitchFamily="34" charset="-122"/>
                <a:cs typeface="Inter" pitchFamily="34" charset="-120"/>
              </a:rPr>
              <a:t>57,00</a:t>
            </a:r>
            <a:endParaRPr lang="en-US" sz="1300" dirty="0"/>
          </a:p>
        </p:txBody>
      </p:sp>
      <p:sp>
        <p:nvSpPr>
          <p:cNvPr id="29" name="Text 26"/>
          <p:cNvSpPr/>
          <p:nvPr/>
        </p:nvSpPr>
        <p:spPr>
          <a:xfrm>
            <a:off x="6602374" y="5623560"/>
            <a:ext cx="998931" cy="457200"/>
          </a:xfrm>
          <a:prstGeom prst="rect">
            <a:avLst/>
          </a:prstGeom>
          <a:noFill/>
          <a:ln/>
        </p:spPr>
        <p:txBody>
          <a:bodyPr wrap="square" lIns="0" tIns="0" rIns="0" bIns="0" rtlCol="0" anchor="t"/>
          <a:lstStyle/>
          <a:p>
            <a:pPr algn="ctr" indent="0" marL="0">
              <a:buNone/>
            </a:pPr>
            <a:r>
              <a:rPr lang="en-US" sz="1000" dirty="0">
                <a:solidFill>
                  <a:srgbClr val="FFFFFF"/>
                </a:solidFill>
                <a:latin typeface="Inter" pitchFamily="34" charset="0"/>
                <a:ea typeface="Inter" pitchFamily="34" charset="-122"/>
                <a:cs typeface="Inter" pitchFamily="34" charset="-120"/>
              </a:rPr>
              <a:t>Valore</a:t>
            </a:r>
            <a:endParaRPr lang="en-US" sz="1000" dirty="0"/>
          </a:p>
          <a:p>
            <a:pPr algn="ctr" indent="0" marL="0">
              <a:buNone/>
            </a:pPr>
            <a:r>
              <a:rPr lang="en-US" sz="1000" dirty="0">
                <a:solidFill>
                  <a:srgbClr val="FFFFFF"/>
                </a:solidFill>
                <a:latin typeface="Inter" pitchFamily="34" charset="0"/>
                <a:ea typeface="Inter" pitchFamily="34" charset="-122"/>
                <a:cs typeface="Inter" pitchFamily="34" charset="-120"/>
              </a:rPr>
              <a:t>a rischio</a:t>
            </a:r>
            <a:endParaRPr lang="en-US" sz="1000" dirty="0"/>
          </a:p>
        </p:txBody>
      </p:sp>
      <p:sp>
        <p:nvSpPr>
          <p:cNvPr id="30" name="Shape 27"/>
          <p:cNvSpPr/>
          <p:nvPr/>
        </p:nvSpPr>
        <p:spPr>
          <a:xfrm>
            <a:off x="7704734" y="2581771"/>
            <a:ext cx="541731" cy="2950349"/>
          </a:xfrm>
          <a:prstGeom prst="rect">
            <a:avLst/>
          </a:prstGeom>
          <a:solidFill>
            <a:srgbClr val="64D2FF"/>
          </a:solidFill>
          <a:ln/>
        </p:spPr>
      </p:sp>
      <p:sp>
        <p:nvSpPr>
          <p:cNvPr id="31" name="Text 28"/>
          <p:cNvSpPr/>
          <p:nvPr/>
        </p:nvSpPr>
        <p:spPr>
          <a:xfrm>
            <a:off x="7476134" y="2270875"/>
            <a:ext cx="998931" cy="274320"/>
          </a:xfrm>
          <a:prstGeom prst="rect">
            <a:avLst/>
          </a:prstGeom>
          <a:noFill/>
          <a:ln/>
        </p:spPr>
        <p:txBody>
          <a:bodyPr wrap="square" lIns="0" tIns="0" rIns="0" bIns="0" rtlCol="0" anchor="b"/>
          <a:lstStyle/>
          <a:p>
            <a:pPr algn="ctr" indent="0" marL="0">
              <a:buNone/>
            </a:pPr>
            <a:r>
              <a:rPr lang="en-US" sz="1300" b="1" dirty="0">
                <a:solidFill>
                  <a:srgbClr val="64D2FF"/>
                </a:solidFill>
                <a:latin typeface="Inter" pitchFamily="34" charset="0"/>
                <a:ea typeface="Inter" pitchFamily="34" charset="-122"/>
                <a:cs typeface="Inter" pitchFamily="34" charset="-120"/>
              </a:rPr>
              <a:t>89,95</a:t>
            </a:r>
            <a:endParaRPr lang="en-US" sz="1300" dirty="0"/>
          </a:p>
        </p:txBody>
      </p:sp>
      <p:sp>
        <p:nvSpPr>
          <p:cNvPr id="32" name="Text 29"/>
          <p:cNvSpPr/>
          <p:nvPr/>
        </p:nvSpPr>
        <p:spPr>
          <a:xfrm>
            <a:off x="7476134" y="5623560"/>
            <a:ext cx="998931" cy="457200"/>
          </a:xfrm>
          <a:prstGeom prst="rect">
            <a:avLst/>
          </a:prstGeom>
          <a:noFill/>
          <a:ln/>
        </p:spPr>
        <p:txBody>
          <a:bodyPr wrap="square" lIns="0" tIns="0" rIns="0" bIns="0" rtlCol="0" anchor="t"/>
          <a:lstStyle/>
          <a:p>
            <a:pPr algn="ctr" indent="0" marL="0">
              <a:buNone/>
            </a:pPr>
            <a:r>
              <a:rPr lang="en-US" sz="1000" dirty="0">
                <a:solidFill>
                  <a:srgbClr val="FFFFFF"/>
                </a:solidFill>
                <a:latin typeface="Inter" pitchFamily="34" charset="0"/>
                <a:ea typeface="Inter" pitchFamily="34" charset="-122"/>
                <a:cs typeface="Inter" pitchFamily="34" charset="-120"/>
              </a:rPr>
              <a:t>Caso di</a:t>
            </a:r>
            <a:endParaRPr lang="en-US" sz="1000" dirty="0"/>
          </a:p>
          <a:p>
            <a:pPr algn="ctr" indent="0" marL="0">
              <a:buNone/>
            </a:pPr>
            <a:r>
              <a:rPr lang="en-US" sz="1000" dirty="0">
                <a:solidFill>
                  <a:srgbClr val="FFFFFF"/>
                </a:solidFill>
                <a:latin typeface="Inter" pitchFamily="34" charset="0"/>
                <a:ea typeface="Inter" pitchFamily="34" charset="-122"/>
                <a:cs typeface="Inter" pitchFamily="34" charset="-120"/>
              </a:rPr>
              <a:t>successo</a:t>
            </a:r>
            <a:endParaRPr lang="en-US" sz="1000" dirty="0"/>
          </a:p>
        </p:txBody>
      </p:sp>
      <p:sp>
        <p:nvSpPr>
          <p:cNvPr id="33" name="Shape 30"/>
          <p:cNvSpPr/>
          <p:nvPr/>
        </p:nvSpPr>
        <p:spPr>
          <a:xfrm>
            <a:off x="548640" y="5532120"/>
            <a:ext cx="7863840" cy="0"/>
          </a:xfrm>
          <a:prstGeom prst="line">
            <a:avLst/>
          </a:prstGeom>
          <a:noFill/>
          <a:ln w="12700">
            <a:solidFill>
              <a:srgbClr val="2C2C2E"/>
            </a:solidFill>
            <a:prstDash val="solid"/>
          </a:ln>
        </p:spPr>
      </p:sp>
      <p:sp>
        <p:nvSpPr>
          <p:cNvPr id="34" name="Text 31"/>
          <p:cNvSpPr/>
          <p:nvPr/>
        </p:nvSpPr>
        <p:spPr>
          <a:xfrm>
            <a:off x="548640" y="2057400"/>
            <a:ext cx="2743200" cy="228600"/>
          </a:xfrm>
          <a:prstGeom prst="rect">
            <a:avLst/>
          </a:prstGeom>
          <a:noFill/>
          <a:ln/>
        </p:spPr>
        <p:txBody>
          <a:bodyPr wrap="square" lIns="0" tIns="0" rIns="0" bIns="0" rtlCol="0" anchor="t"/>
          <a:lstStyle/>
          <a:p>
            <a:pPr indent="0" marL="0">
              <a:buNone/>
            </a:pPr>
            <a:r>
              <a:rPr lang="en-US" sz="1000" dirty="0">
                <a:solidFill>
                  <a:srgbClr val="86868B"/>
                </a:solidFill>
                <a:latin typeface="Inter" pitchFamily="34" charset="0"/>
                <a:ea typeface="Inter" pitchFamily="34" charset="-122"/>
                <a:cs typeface="Inter" pitchFamily="34" charset="-120"/>
              </a:rPr>
              <a:t>$ per azione</a:t>
            </a:r>
            <a:endParaRPr lang="en-US" sz="1000" dirty="0"/>
          </a:p>
        </p:txBody>
      </p:sp>
      <p:sp>
        <p:nvSpPr>
          <p:cNvPr id="35" name="Text 32"/>
          <p:cNvSpPr/>
          <p:nvPr/>
        </p:nvSpPr>
        <p:spPr>
          <a:xfrm>
            <a:off x="8778240" y="2103120"/>
            <a:ext cx="3108960" cy="914400"/>
          </a:xfrm>
          <a:prstGeom prst="rect">
            <a:avLst/>
          </a:prstGeom>
          <a:noFill/>
          <a:ln/>
        </p:spPr>
        <p:txBody>
          <a:bodyPr wrap="square" lIns="0" tIns="0" rIns="0" bIns="0" rtlCol="0" anchor="b"/>
          <a:lstStyle/>
          <a:p>
            <a:pPr indent="0" marL="0">
              <a:buNone/>
            </a:pPr>
            <a:r>
              <a:rPr lang="en-US" sz="6000" b="1" spc="-60" kern="0" dirty="0">
                <a:solidFill>
                  <a:srgbClr val="FFFFFF"/>
                </a:solidFill>
                <a:latin typeface="Inter Display" pitchFamily="34" charset="0"/>
                <a:ea typeface="Inter Display" pitchFamily="34" charset="-122"/>
                <a:cs typeface="Inter Display" pitchFamily="34" charset="-120"/>
              </a:rPr>
              <a:t>57,00 $</a:t>
            </a:r>
            <a:endParaRPr lang="en-US" sz="6000" dirty="0"/>
          </a:p>
        </p:txBody>
      </p:sp>
      <p:sp>
        <p:nvSpPr>
          <p:cNvPr id="36" name="Text 33"/>
          <p:cNvSpPr/>
          <p:nvPr/>
        </p:nvSpPr>
        <p:spPr>
          <a:xfrm>
            <a:off x="8778240" y="3108960"/>
            <a:ext cx="3017520" cy="36576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valore a rischio per azione</a:t>
            </a:r>
            <a:endParaRPr lang="en-US" sz="1500" dirty="0"/>
          </a:p>
        </p:txBody>
      </p:sp>
      <p:sp>
        <p:nvSpPr>
          <p:cNvPr id="37" name="Text 34"/>
          <p:cNvSpPr/>
          <p:nvPr/>
        </p:nvSpPr>
        <p:spPr>
          <a:xfrm>
            <a:off x="8778240" y="3703320"/>
            <a:ext cx="3017520" cy="2286000"/>
          </a:xfrm>
          <a:prstGeom prst="rect">
            <a:avLst/>
          </a:prstGeom>
          <a:noFill/>
          <a:ln/>
        </p:spPr>
        <p:txBody>
          <a:bodyPr wrap="square" lIns="0" tIns="0" rIns="0" bIns="0" rtlCol="0" anchor="t"/>
          <a:lstStyle/>
          <a:p>
            <a:pPr indent="0" marL="0">
              <a:buNone/>
            </a:pPr>
            <a:r>
              <a:rPr lang="en-US" sz="2200" b="1" dirty="0">
                <a:solidFill>
                  <a:srgbClr val="FFFFFF"/>
                </a:solidFill>
                <a:latin typeface="Inter Display" pitchFamily="34" charset="0"/>
                <a:ea typeface="Inter Display" pitchFamily="34" charset="-122"/>
                <a:cs typeface="Inter Display" pitchFamily="34" charset="-120"/>
              </a:rPr>
              <a:t>135 $</a:t>
            </a:r>
            <a:endParaRPr lang="en-US" sz="2200" dirty="0"/>
          </a:p>
          <a:p>
            <a:pPr indent="0" marL="0">
              <a:buNone/>
            </a:pPr>
            <a:r>
              <a:rPr lang="en-US" sz="1300" dirty="0">
                <a:solidFill>
                  <a:srgbClr val="86868B"/>
                </a:solidFill>
                <a:latin typeface="Inter" pitchFamily="34" charset="0"/>
                <a:ea typeface="Inter" pitchFamily="34" charset="-122"/>
                <a:cs typeface="Inter" pitchFamily="34" charset="-120"/>
              </a:rPr>
              <a:t>prezzo IPO (424B4)</a:t>
            </a:r>
            <a:endParaRPr lang="en-US" sz="2200" dirty="0"/>
          </a:p>
          <a:p>
            <a:pPr indent="0" marL="0">
              <a:buNone/>
            </a:pPr>
            <a:r>
              <a:rPr lang="en-US" sz="800" dirty="0">
                <a:solidFill>
                  <a:srgbClr val="000000"/>
                </a:solidFill>
                <a:latin typeface="Inter" pitchFamily="34" charset="0"/>
                <a:ea typeface="Inter" pitchFamily="34" charset="-122"/>
                <a:cs typeface="Inter" pitchFamily="34" charset="-120"/>
              </a:rPr>
              <a:t> </a:t>
            </a:r>
            <a:endParaRPr lang="en-US" sz="2200" dirty="0"/>
          </a:p>
          <a:p>
            <a:pPr indent="0" marL="0">
              <a:buNone/>
            </a:pPr>
            <a:r>
              <a:rPr lang="en-US" sz="2200" b="1" dirty="0">
                <a:solidFill>
                  <a:srgbClr val="FFB340"/>
                </a:solidFill>
                <a:latin typeface="Inter Display" pitchFamily="34" charset="0"/>
                <a:ea typeface="Inter Display" pitchFamily="34" charset="-122"/>
                <a:cs typeface="Inter Display" pitchFamily="34" charset="-120"/>
              </a:rPr>
              <a:t>167,60 $</a:t>
            </a:r>
            <a:endParaRPr lang="en-US" sz="2200" dirty="0"/>
          </a:p>
          <a:p>
            <a:pPr indent="0" marL="0">
              <a:buNone/>
            </a:pPr>
            <a:r>
              <a:rPr lang="en-US" sz="1300" dirty="0">
                <a:solidFill>
                  <a:srgbClr val="86868B"/>
                </a:solidFill>
                <a:latin typeface="Inter" pitchFamily="34" charset="0"/>
                <a:ea typeface="Inter" pitchFamily="34" charset="-122"/>
                <a:cs typeface="Inter" pitchFamily="34" charset="-120"/>
              </a:rPr>
              <a:t>prezzo di mercato, 7/10/2026</a:t>
            </a:r>
            <a:endParaRPr lang="en-US" sz="2200" dirty="0"/>
          </a:p>
          <a:p>
            <a:pPr indent="0" marL="0">
              <a:buNone/>
            </a:pPr>
            <a:r>
              <a:rPr lang="en-US" sz="800" dirty="0">
                <a:solidFill>
                  <a:srgbClr val="000000"/>
                </a:solidFill>
                <a:latin typeface="Inter" pitchFamily="34" charset="0"/>
                <a:ea typeface="Inter" pitchFamily="34" charset="-122"/>
                <a:cs typeface="Inter" pitchFamily="34" charset="-120"/>
              </a:rPr>
              <a:t> </a:t>
            </a:r>
            <a:endParaRPr lang="en-US" sz="2200" dirty="0"/>
          </a:p>
          <a:p>
            <a:pPr indent="0" marL="0">
              <a:buNone/>
            </a:pPr>
            <a:r>
              <a:rPr lang="en-US" sz="2200" b="1" dirty="0">
                <a:solidFill>
                  <a:srgbClr val="FFFFFF"/>
                </a:solidFill>
                <a:latin typeface="Inter Display" pitchFamily="34" charset="0"/>
                <a:ea typeface="Inter Display" pitchFamily="34" charset="-122"/>
                <a:cs typeface="Inter Display" pitchFamily="34" charset="-120"/>
              </a:rPr>
              <a:t>42,6 $ - 71,5 $</a:t>
            </a:r>
            <a:endParaRPr lang="en-US" sz="2200" dirty="0"/>
          </a:p>
          <a:p>
            <a:pPr indent="0" marL="0">
              <a:buNone/>
            </a:pPr>
            <a:r>
              <a:rPr lang="en-US" sz="1300" dirty="0">
                <a:solidFill>
                  <a:srgbClr val="86868B"/>
                </a:solidFill>
                <a:latin typeface="Inter" pitchFamily="34" charset="0"/>
                <a:ea typeface="Inter" pitchFamily="34" charset="-122"/>
                <a:cs typeface="Inter" pitchFamily="34" charset="-120"/>
              </a:rPr>
              <a:t>scenari del modello</a:t>
            </a:r>
            <a:endParaRPr lang="en-US" sz="22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6868B"/>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86868B"/>
                </a:solidFill>
                <a:latin typeface="D-DIN" pitchFamily="34" charset="0"/>
                <a:ea typeface="D-DIN" pitchFamily="34" charset="-122"/>
                <a:cs typeface="D-DIN" pitchFamily="34" charset="-120"/>
              </a:rPr>
              <a:t>CHE COSA SCONTA IL MERCATO</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FFFFFF"/>
                </a:solidFill>
                <a:latin typeface="Inter Display" pitchFamily="34" charset="0"/>
                <a:ea typeface="Inter Display" pitchFamily="34" charset="-122"/>
                <a:cs typeface="Inter Display" pitchFamily="34" charset="-120"/>
              </a:rPr>
              <a:t>Nemmeno la certezza basta</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86868B"/>
                </a:solidFill>
                <a:latin typeface="Inter" pitchFamily="34" charset="0"/>
                <a:ea typeface="Inter" pitchFamily="34" charset="-122"/>
                <a:cs typeface="Inter" pitchFamily="34" charset="-120"/>
              </a:rPr>
              <a:t>Fonte: Modello dell'autore; p' = p + lambda (1 - p) su tutte le 13 milestone; 696 esiti possibili per enumerazione esatta</a:t>
            </a:r>
            <a:endParaRPr lang="en-US" sz="800" dirty="0"/>
          </a:p>
        </p:txBody>
      </p:sp>
      <p:sp>
        <p:nvSpPr>
          <p:cNvPr id="6" name="Shape 3"/>
          <p:cNvSpPr/>
          <p:nvPr/>
        </p:nvSpPr>
        <p:spPr>
          <a:xfrm>
            <a:off x="1097280" y="5532120"/>
            <a:ext cx="6858000" cy="0"/>
          </a:xfrm>
          <a:prstGeom prst="line">
            <a:avLst/>
          </a:prstGeom>
          <a:noFill/>
          <a:ln w="9525">
            <a:solidFill>
              <a:srgbClr val="2C2C2E"/>
            </a:solidFill>
            <a:prstDash val="solid"/>
          </a:ln>
        </p:spPr>
      </p:sp>
      <p:sp>
        <p:nvSpPr>
          <p:cNvPr id="7" name="Text 4"/>
          <p:cNvSpPr/>
          <p:nvPr/>
        </p:nvSpPr>
        <p:spPr>
          <a:xfrm>
            <a:off x="548640" y="5422392"/>
            <a:ext cx="411480" cy="228600"/>
          </a:xfrm>
          <a:prstGeom prst="rect">
            <a:avLst/>
          </a:prstGeom>
          <a:noFill/>
          <a:ln/>
        </p:spPr>
        <p:txBody>
          <a:bodyPr wrap="square" lIns="0" tIns="0" rIns="0" bIns="0" rtlCol="0" anchor="t"/>
          <a:lstStyle/>
          <a:p>
            <a:pPr algn="r" indent="0" marL="0">
              <a:buNone/>
            </a:pPr>
            <a:r>
              <a:rPr lang="en-US" sz="1000" dirty="0">
                <a:solidFill>
                  <a:srgbClr val="86868B"/>
                </a:solidFill>
                <a:latin typeface="Inter" pitchFamily="34" charset="0"/>
                <a:ea typeface="Inter" pitchFamily="34" charset="-122"/>
                <a:cs typeface="Inter" pitchFamily="34" charset="-120"/>
              </a:rPr>
              <a:t>0</a:t>
            </a:r>
            <a:endParaRPr lang="en-US" sz="1000" dirty="0"/>
          </a:p>
        </p:txBody>
      </p:sp>
      <p:sp>
        <p:nvSpPr>
          <p:cNvPr id="8" name="Shape 5"/>
          <p:cNvSpPr/>
          <p:nvPr/>
        </p:nvSpPr>
        <p:spPr>
          <a:xfrm>
            <a:off x="1097280" y="4592320"/>
            <a:ext cx="6858000" cy="0"/>
          </a:xfrm>
          <a:prstGeom prst="line">
            <a:avLst/>
          </a:prstGeom>
          <a:noFill/>
          <a:ln w="9525">
            <a:solidFill>
              <a:srgbClr val="2C2C2E"/>
            </a:solidFill>
            <a:prstDash val="solid"/>
          </a:ln>
        </p:spPr>
      </p:sp>
      <p:sp>
        <p:nvSpPr>
          <p:cNvPr id="9" name="Text 6"/>
          <p:cNvSpPr/>
          <p:nvPr/>
        </p:nvSpPr>
        <p:spPr>
          <a:xfrm>
            <a:off x="548640" y="4482592"/>
            <a:ext cx="411480" cy="228600"/>
          </a:xfrm>
          <a:prstGeom prst="rect">
            <a:avLst/>
          </a:prstGeom>
          <a:noFill/>
          <a:ln/>
        </p:spPr>
        <p:txBody>
          <a:bodyPr wrap="square" lIns="0" tIns="0" rIns="0" bIns="0" rtlCol="0" anchor="t"/>
          <a:lstStyle/>
          <a:p>
            <a:pPr algn="r" indent="0" marL="0">
              <a:buNone/>
            </a:pPr>
            <a:r>
              <a:rPr lang="en-US" sz="1000" dirty="0">
                <a:solidFill>
                  <a:srgbClr val="86868B"/>
                </a:solidFill>
                <a:latin typeface="Inter" pitchFamily="34" charset="0"/>
                <a:ea typeface="Inter" pitchFamily="34" charset="-122"/>
                <a:cs typeface="Inter" pitchFamily="34" charset="-120"/>
              </a:rPr>
              <a:t>50</a:t>
            </a:r>
            <a:endParaRPr lang="en-US" sz="1000" dirty="0"/>
          </a:p>
        </p:txBody>
      </p:sp>
      <p:sp>
        <p:nvSpPr>
          <p:cNvPr id="10" name="Shape 7"/>
          <p:cNvSpPr/>
          <p:nvPr/>
        </p:nvSpPr>
        <p:spPr>
          <a:xfrm>
            <a:off x="1097280" y="3652520"/>
            <a:ext cx="6858000" cy="0"/>
          </a:xfrm>
          <a:prstGeom prst="line">
            <a:avLst/>
          </a:prstGeom>
          <a:noFill/>
          <a:ln w="9525">
            <a:solidFill>
              <a:srgbClr val="2C2C2E"/>
            </a:solidFill>
            <a:prstDash val="solid"/>
          </a:ln>
        </p:spPr>
      </p:sp>
      <p:sp>
        <p:nvSpPr>
          <p:cNvPr id="11" name="Text 8"/>
          <p:cNvSpPr/>
          <p:nvPr/>
        </p:nvSpPr>
        <p:spPr>
          <a:xfrm>
            <a:off x="548640" y="3542792"/>
            <a:ext cx="411480" cy="228600"/>
          </a:xfrm>
          <a:prstGeom prst="rect">
            <a:avLst/>
          </a:prstGeom>
          <a:noFill/>
          <a:ln/>
        </p:spPr>
        <p:txBody>
          <a:bodyPr wrap="square" lIns="0" tIns="0" rIns="0" bIns="0" rtlCol="0" anchor="t"/>
          <a:lstStyle/>
          <a:p>
            <a:pPr algn="r" indent="0" marL="0">
              <a:buNone/>
            </a:pPr>
            <a:r>
              <a:rPr lang="en-US" sz="1000" dirty="0">
                <a:solidFill>
                  <a:srgbClr val="86868B"/>
                </a:solidFill>
                <a:latin typeface="Inter" pitchFamily="34" charset="0"/>
                <a:ea typeface="Inter" pitchFamily="34" charset="-122"/>
                <a:cs typeface="Inter" pitchFamily="34" charset="-120"/>
              </a:rPr>
              <a:t>100</a:t>
            </a:r>
            <a:endParaRPr lang="en-US" sz="1000" dirty="0"/>
          </a:p>
        </p:txBody>
      </p:sp>
      <p:sp>
        <p:nvSpPr>
          <p:cNvPr id="12" name="Shape 9"/>
          <p:cNvSpPr/>
          <p:nvPr/>
        </p:nvSpPr>
        <p:spPr>
          <a:xfrm>
            <a:off x="1097280" y="2712720"/>
            <a:ext cx="6858000" cy="0"/>
          </a:xfrm>
          <a:prstGeom prst="line">
            <a:avLst/>
          </a:prstGeom>
          <a:noFill/>
          <a:ln w="9525">
            <a:solidFill>
              <a:srgbClr val="2C2C2E"/>
            </a:solidFill>
            <a:prstDash val="solid"/>
          </a:ln>
        </p:spPr>
      </p:sp>
      <p:sp>
        <p:nvSpPr>
          <p:cNvPr id="13" name="Text 10"/>
          <p:cNvSpPr/>
          <p:nvPr/>
        </p:nvSpPr>
        <p:spPr>
          <a:xfrm>
            <a:off x="548640" y="2602992"/>
            <a:ext cx="411480" cy="228600"/>
          </a:xfrm>
          <a:prstGeom prst="rect">
            <a:avLst/>
          </a:prstGeom>
          <a:noFill/>
          <a:ln/>
        </p:spPr>
        <p:txBody>
          <a:bodyPr wrap="square" lIns="0" tIns="0" rIns="0" bIns="0" rtlCol="0" anchor="t"/>
          <a:lstStyle/>
          <a:p>
            <a:pPr algn="r" indent="0" marL="0">
              <a:buNone/>
            </a:pPr>
            <a:r>
              <a:rPr lang="en-US" sz="1000" dirty="0">
                <a:solidFill>
                  <a:srgbClr val="86868B"/>
                </a:solidFill>
                <a:latin typeface="Inter" pitchFamily="34" charset="0"/>
                <a:ea typeface="Inter" pitchFamily="34" charset="-122"/>
                <a:cs typeface="Inter" pitchFamily="34" charset="-120"/>
              </a:rPr>
              <a:t>150</a:t>
            </a:r>
            <a:endParaRPr lang="en-US" sz="1000" dirty="0"/>
          </a:p>
        </p:txBody>
      </p:sp>
      <p:sp>
        <p:nvSpPr>
          <p:cNvPr id="14" name="Shape 11"/>
          <p:cNvSpPr/>
          <p:nvPr/>
        </p:nvSpPr>
        <p:spPr>
          <a:xfrm>
            <a:off x="1097280" y="2381910"/>
            <a:ext cx="6858000" cy="0"/>
          </a:xfrm>
          <a:prstGeom prst="line">
            <a:avLst/>
          </a:prstGeom>
          <a:noFill/>
          <a:ln w="15875">
            <a:solidFill>
              <a:srgbClr val="FFB340"/>
            </a:solidFill>
            <a:prstDash val="dash"/>
          </a:ln>
        </p:spPr>
      </p:sp>
      <p:sp>
        <p:nvSpPr>
          <p:cNvPr id="15" name="Text 12"/>
          <p:cNvSpPr/>
          <p:nvPr/>
        </p:nvSpPr>
        <p:spPr>
          <a:xfrm>
            <a:off x="1143000" y="2089302"/>
            <a:ext cx="2743200" cy="256032"/>
          </a:xfrm>
          <a:prstGeom prst="rect">
            <a:avLst/>
          </a:prstGeom>
          <a:noFill/>
          <a:ln/>
        </p:spPr>
        <p:txBody>
          <a:bodyPr wrap="square" lIns="0" tIns="0" rIns="0" bIns="0" rtlCol="0" anchor="b"/>
          <a:lstStyle/>
          <a:p>
            <a:pPr indent="0" marL="0">
              <a:buNone/>
            </a:pPr>
            <a:r>
              <a:rPr lang="en-US" sz="1200" dirty="0">
                <a:solidFill>
                  <a:srgbClr val="FFB340"/>
                </a:solidFill>
                <a:latin typeface="Inter" pitchFamily="34" charset="0"/>
                <a:ea typeface="Inter" pitchFamily="34" charset="-122"/>
                <a:cs typeface="Inter" pitchFamily="34" charset="-120"/>
              </a:rPr>
              <a:t>mercato 167,60 $</a:t>
            </a:r>
            <a:endParaRPr lang="en-US" sz="1200" dirty="0"/>
          </a:p>
        </p:txBody>
      </p:sp>
      <p:sp>
        <p:nvSpPr>
          <p:cNvPr id="16" name="Shape 13"/>
          <p:cNvSpPr/>
          <p:nvPr/>
        </p:nvSpPr>
        <p:spPr>
          <a:xfrm>
            <a:off x="1097280" y="2994660"/>
            <a:ext cx="6858000" cy="0"/>
          </a:xfrm>
          <a:prstGeom prst="line">
            <a:avLst/>
          </a:prstGeom>
          <a:noFill/>
          <a:ln w="15875">
            <a:solidFill>
              <a:srgbClr val="FFFFFF"/>
            </a:solidFill>
            <a:prstDash val="dash"/>
          </a:ln>
        </p:spPr>
      </p:sp>
      <p:sp>
        <p:nvSpPr>
          <p:cNvPr id="17" name="Text 14"/>
          <p:cNvSpPr/>
          <p:nvPr/>
        </p:nvSpPr>
        <p:spPr>
          <a:xfrm>
            <a:off x="1143000" y="2702052"/>
            <a:ext cx="2743200" cy="256032"/>
          </a:xfrm>
          <a:prstGeom prst="rect">
            <a:avLst/>
          </a:prstGeom>
          <a:noFill/>
          <a:ln/>
        </p:spPr>
        <p:txBody>
          <a:bodyPr wrap="square" lIns="0" tIns="0" rIns="0" bIns="0" rtlCol="0" anchor="b"/>
          <a:lstStyle/>
          <a:p>
            <a:pPr indent="0" marL="0">
              <a:buNone/>
            </a:pPr>
            <a:r>
              <a:rPr lang="en-US" sz="1200" dirty="0">
                <a:solidFill>
                  <a:srgbClr val="FFFFFF"/>
                </a:solidFill>
                <a:latin typeface="Inter" pitchFamily="34" charset="0"/>
                <a:ea typeface="Inter" pitchFamily="34" charset="-122"/>
                <a:cs typeface="Inter" pitchFamily="34" charset="-120"/>
              </a:rPr>
              <a:t>IPO 135 $</a:t>
            </a:r>
            <a:endParaRPr lang="en-US" sz="1200" dirty="0"/>
          </a:p>
        </p:txBody>
      </p:sp>
      <p:sp>
        <p:nvSpPr>
          <p:cNvPr id="18" name="Shape 15"/>
          <p:cNvSpPr/>
          <p:nvPr/>
        </p:nvSpPr>
        <p:spPr>
          <a:xfrm flipV="1">
            <a:off x="1097280" y="4421273"/>
            <a:ext cx="685800" cy="39512"/>
          </a:xfrm>
          <a:prstGeom prst="line">
            <a:avLst/>
          </a:prstGeom>
          <a:noFill/>
          <a:ln w="44450">
            <a:solidFill>
              <a:srgbClr val="2997FF"/>
            </a:solidFill>
            <a:prstDash val="solid"/>
          </a:ln>
        </p:spPr>
      </p:sp>
      <p:sp>
        <p:nvSpPr>
          <p:cNvPr id="19" name="Shape 16"/>
          <p:cNvSpPr/>
          <p:nvPr/>
        </p:nvSpPr>
        <p:spPr>
          <a:xfrm flipV="1">
            <a:off x="1783080" y="4379130"/>
            <a:ext cx="685800" cy="42143"/>
          </a:xfrm>
          <a:prstGeom prst="line">
            <a:avLst/>
          </a:prstGeom>
          <a:noFill/>
          <a:ln w="44450">
            <a:solidFill>
              <a:srgbClr val="2997FF"/>
            </a:solidFill>
            <a:prstDash val="solid"/>
          </a:ln>
        </p:spPr>
      </p:sp>
      <p:sp>
        <p:nvSpPr>
          <p:cNvPr id="20" name="Shape 17"/>
          <p:cNvSpPr/>
          <p:nvPr/>
        </p:nvSpPr>
        <p:spPr>
          <a:xfrm flipV="1">
            <a:off x="2468880" y="4334164"/>
            <a:ext cx="685800" cy="44967"/>
          </a:xfrm>
          <a:prstGeom prst="line">
            <a:avLst/>
          </a:prstGeom>
          <a:noFill/>
          <a:ln w="44450">
            <a:solidFill>
              <a:srgbClr val="2997FF"/>
            </a:solidFill>
            <a:prstDash val="solid"/>
          </a:ln>
        </p:spPr>
      </p:sp>
      <p:sp>
        <p:nvSpPr>
          <p:cNvPr id="21" name="Shape 18"/>
          <p:cNvSpPr/>
          <p:nvPr/>
        </p:nvSpPr>
        <p:spPr>
          <a:xfrm flipV="1">
            <a:off x="3154680" y="4286169"/>
            <a:ext cx="685800" cy="47995"/>
          </a:xfrm>
          <a:prstGeom prst="line">
            <a:avLst/>
          </a:prstGeom>
          <a:noFill/>
          <a:ln w="44450">
            <a:solidFill>
              <a:srgbClr val="2997FF"/>
            </a:solidFill>
            <a:prstDash val="solid"/>
          </a:ln>
        </p:spPr>
      </p:sp>
      <p:sp>
        <p:nvSpPr>
          <p:cNvPr id="22" name="Shape 19"/>
          <p:cNvSpPr/>
          <p:nvPr/>
        </p:nvSpPr>
        <p:spPr>
          <a:xfrm flipV="1">
            <a:off x="3840480" y="4234930"/>
            <a:ext cx="685800" cy="51239"/>
          </a:xfrm>
          <a:prstGeom prst="line">
            <a:avLst/>
          </a:prstGeom>
          <a:noFill/>
          <a:ln w="44450">
            <a:solidFill>
              <a:srgbClr val="2997FF"/>
            </a:solidFill>
            <a:prstDash val="solid"/>
          </a:ln>
        </p:spPr>
      </p:sp>
      <p:sp>
        <p:nvSpPr>
          <p:cNvPr id="23" name="Shape 20"/>
          <p:cNvSpPr/>
          <p:nvPr/>
        </p:nvSpPr>
        <p:spPr>
          <a:xfrm flipV="1">
            <a:off x="4526280" y="4180220"/>
            <a:ext cx="685800" cy="54710"/>
          </a:xfrm>
          <a:prstGeom prst="line">
            <a:avLst/>
          </a:prstGeom>
          <a:noFill/>
          <a:ln w="44450">
            <a:solidFill>
              <a:srgbClr val="2997FF"/>
            </a:solidFill>
            <a:prstDash val="solid"/>
          </a:ln>
        </p:spPr>
      </p:sp>
      <p:sp>
        <p:nvSpPr>
          <p:cNvPr id="24" name="Shape 21"/>
          <p:cNvSpPr/>
          <p:nvPr/>
        </p:nvSpPr>
        <p:spPr>
          <a:xfrm flipV="1">
            <a:off x="5212080" y="4121797"/>
            <a:ext cx="685800" cy="58422"/>
          </a:xfrm>
          <a:prstGeom prst="line">
            <a:avLst/>
          </a:prstGeom>
          <a:noFill/>
          <a:ln w="44450">
            <a:solidFill>
              <a:srgbClr val="2997FF"/>
            </a:solidFill>
            <a:prstDash val="solid"/>
          </a:ln>
        </p:spPr>
      </p:sp>
      <p:sp>
        <p:nvSpPr>
          <p:cNvPr id="25" name="Shape 22"/>
          <p:cNvSpPr/>
          <p:nvPr/>
        </p:nvSpPr>
        <p:spPr>
          <a:xfrm flipV="1">
            <a:off x="5897880" y="4059410"/>
            <a:ext cx="685800" cy="62387"/>
          </a:xfrm>
          <a:prstGeom prst="line">
            <a:avLst/>
          </a:prstGeom>
          <a:noFill/>
          <a:ln w="44450">
            <a:solidFill>
              <a:srgbClr val="2997FF"/>
            </a:solidFill>
            <a:prstDash val="solid"/>
          </a:ln>
        </p:spPr>
      </p:sp>
      <p:sp>
        <p:nvSpPr>
          <p:cNvPr id="26" name="Shape 23"/>
          <p:cNvSpPr/>
          <p:nvPr/>
        </p:nvSpPr>
        <p:spPr>
          <a:xfrm flipV="1">
            <a:off x="6583680" y="3992793"/>
            <a:ext cx="685800" cy="66617"/>
          </a:xfrm>
          <a:prstGeom prst="line">
            <a:avLst/>
          </a:prstGeom>
          <a:noFill/>
          <a:ln w="44450">
            <a:solidFill>
              <a:srgbClr val="2997FF"/>
            </a:solidFill>
            <a:prstDash val="solid"/>
          </a:ln>
        </p:spPr>
      </p:sp>
      <p:sp>
        <p:nvSpPr>
          <p:cNvPr id="27" name="Shape 24"/>
          <p:cNvSpPr/>
          <p:nvPr/>
        </p:nvSpPr>
        <p:spPr>
          <a:xfrm flipV="1">
            <a:off x="7269480" y="3921667"/>
            <a:ext cx="685800" cy="71126"/>
          </a:xfrm>
          <a:prstGeom prst="line">
            <a:avLst/>
          </a:prstGeom>
          <a:noFill/>
          <a:ln w="44450">
            <a:solidFill>
              <a:srgbClr val="2997FF"/>
            </a:solidFill>
            <a:prstDash val="solid"/>
          </a:ln>
        </p:spPr>
      </p:sp>
      <p:sp>
        <p:nvSpPr>
          <p:cNvPr id="28" name="Shape 25"/>
          <p:cNvSpPr/>
          <p:nvPr/>
        </p:nvSpPr>
        <p:spPr>
          <a:xfrm>
            <a:off x="1024128" y="4387633"/>
            <a:ext cx="146304" cy="146304"/>
          </a:xfrm>
          <a:prstGeom prst="ellipse">
            <a:avLst/>
          </a:prstGeom>
          <a:solidFill>
            <a:srgbClr val="2997FF"/>
          </a:solidFill>
          <a:ln/>
        </p:spPr>
      </p:sp>
      <p:sp>
        <p:nvSpPr>
          <p:cNvPr id="29" name="Shape 26"/>
          <p:cNvSpPr/>
          <p:nvPr/>
        </p:nvSpPr>
        <p:spPr>
          <a:xfrm>
            <a:off x="7882128" y="3848515"/>
            <a:ext cx="146304" cy="146304"/>
          </a:xfrm>
          <a:prstGeom prst="ellipse">
            <a:avLst/>
          </a:prstGeom>
          <a:solidFill>
            <a:srgbClr val="2997FF"/>
          </a:solidFill>
          <a:ln/>
        </p:spPr>
      </p:sp>
      <p:sp>
        <p:nvSpPr>
          <p:cNvPr id="30" name="Text 27"/>
          <p:cNvSpPr/>
          <p:nvPr/>
        </p:nvSpPr>
        <p:spPr>
          <a:xfrm>
            <a:off x="1188720" y="4570513"/>
            <a:ext cx="1097280" cy="274320"/>
          </a:xfrm>
          <a:prstGeom prst="rect">
            <a:avLst/>
          </a:prstGeom>
          <a:noFill/>
          <a:ln/>
        </p:spPr>
        <p:txBody>
          <a:bodyPr wrap="square" lIns="0" tIns="0" rIns="0" bIns="0" rtlCol="0" anchor="t"/>
          <a:lstStyle/>
          <a:p>
            <a:pPr indent="0" marL="0">
              <a:buNone/>
            </a:pPr>
            <a:r>
              <a:rPr lang="en-US" sz="1200" dirty="0">
                <a:solidFill>
                  <a:srgbClr val="2997FF"/>
                </a:solidFill>
                <a:latin typeface="Inter" pitchFamily="34" charset="0"/>
                <a:ea typeface="Inter" pitchFamily="34" charset="-122"/>
                <a:cs typeface="Inter" pitchFamily="34" charset="-120"/>
              </a:rPr>
              <a:t>57 $</a:t>
            </a:r>
            <a:endParaRPr lang="en-US" sz="1200" dirty="0"/>
          </a:p>
        </p:txBody>
      </p:sp>
      <p:sp>
        <p:nvSpPr>
          <p:cNvPr id="31" name="Text 28"/>
          <p:cNvSpPr/>
          <p:nvPr/>
        </p:nvSpPr>
        <p:spPr>
          <a:xfrm>
            <a:off x="6812280" y="4031395"/>
            <a:ext cx="1097280" cy="274320"/>
          </a:xfrm>
          <a:prstGeom prst="rect">
            <a:avLst/>
          </a:prstGeom>
          <a:noFill/>
          <a:ln/>
        </p:spPr>
        <p:txBody>
          <a:bodyPr wrap="square" lIns="0" tIns="0" rIns="0" bIns="0" rtlCol="0" anchor="t"/>
          <a:lstStyle/>
          <a:p>
            <a:pPr algn="r" indent="0" marL="0">
              <a:buNone/>
            </a:pPr>
            <a:r>
              <a:rPr lang="en-US" sz="1200" dirty="0">
                <a:solidFill>
                  <a:srgbClr val="2997FF"/>
                </a:solidFill>
                <a:latin typeface="Inter" pitchFamily="34" charset="0"/>
                <a:ea typeface="Inter" pitchFamily="34" charset="-122"/>
                <a:cs typeface="Inter" pitchFamily="34" charset="-120"/>
              </a:rPr>
              <a:t>86 $</a:t>
            </a:r>
            <a:endParaRPr lang="en-US" sz="1200" dirty="0"/>
          </a:p>
        </p:txBody>
      </p:sp>
      <p:sp>
        <p:nvSpPr>
          <p:cNvPr id="32" name="Text 29"/>
          <p:cNvSpPr/>
          <p:nvPr/>
        </p:nvSpPr>
        <p:spPr>
          <a:xfrm>
            <a:off x="1097280" y="5641848"/>
            <a:ext cx="2286000" cy="274320"/>
          </a:xfrm>
          <a:prstGeom prst="rect">
            <a:avLst/>
          </a:prstGeom>
          <a:noFill/>
          <a:ln/>
        </p:spPr>
        <p:txBody>
          <a:bodyPr wrap="square" lIns="0" tIns="0" rIns="0" bIns="0" rtlCol="0" anchor="t"/>
          <a:lstStyle/>
          <a:p>
            <a:pPr algn="l" indent="0" marL="0">
              <a:buNone/>
            </a:pPr>
            <a:r>
              <a:rPr lang="en-US" sz="1000" dirty="0">
                <a:solidFill>
                  <a:srgbClr val="86868B"/>
                </a:solidFill>
                <a:latin typeface="Inter" pitchFamily="34" charset="0"/>
                <a:ea typeface="Inter" pitchFamily="34" charset="-122"/>
                <a:cs typeface="Inter" pitchFamily="34" charset="-120"/>
              </a:rPr>
              <a:t>probabilità centrali</a:t>
            </a:r>
            <a:endParaRPr lang="en-US" sz="1000" dirty="0"/>
          </a:p>
        </p:txBody>
      </p:sp>
      <p:sp>
        <p:nvSpPr>
          <p:cNvPr id="33" name="Text 30"/>
          <p:cNvSpPr/>
          <p:nvPr/>
        </p:nvSpPr>
        <p:spPr>
          <a:xfrm>
            <a:off x="5669280" y="5641848"/>
            <a:ext cx="2286000" cy="274320"/>
          </a:xfrm>
          <a:prstGeom prst="rect">
            <a:avLst/>
          </a:prstGeom>
          <a:noFill/>
          <a:ln/>
        </p:spPr>
        <p:txBody>
          <a:bodyPr wrap="square" lIns="0" tIns="0" rIns="0" bIns="0" rtlCol="0" anchor="t"/>
          <a:lstStyle/>
          <a:p>
            <a:pPr algn="r" indent="0" marL="0">
              <a:buNone/>
            </a:pPr>
            <a:r>
              <a:rPr lang="en-US" sz="1000" dirty="0">
                <a:solidFill>
                  <a:srgbClr val="86868B"/>
                </a:solidFill>
                <a:latin typeface="Inter" pitchFamily="34" charset="0"/>
                <a:ea typeface="Inter" pitchFamily="34" charset="-122"/>
                <a:cs typeface="Inter" pitchFamily="34" charset="-120"/>
              </a:rPr>
              <a:t>milestone certe</a:t>
            </a:r>
            <a:endParaRPr lang="en-US" sz="1000" dirty="0"/>
          </a:p>
        </p:txBody>
      </p:sp>
      <p:sp>
        <p:nvSpPr>
          <p:cNvPr id="34" name="Text 31"/>
          <p:cNvSpPr/>
          <p:nvPr/>
        </p:nvSpPr>
        <p:spPr>
          <a:xfrm>
            <a:off x="3108960" y="5641848"/>
            <a:ext cx="2926080" cy="274320"/>
          </a:xfrm>
          <a:prstGeom prst="rect">
            <a:avLst/>
          </a:prstGeom>
          <a:noFill/>
          <a:ln/>
        </p:spPr>
        <p:txBody>
          <a:bodyPr wrap="square" lIns="0" tIns="0" rIns="0" bIns="0" rtlCol="0" anchor="t"/>
          <a:lstStyle/>
          <a:p>
            <a:pPr algn="ctr" indent="0" marL="0">
              <a:buNone/>
            </a:pPr>
            <a:r>
              <a:rPr lang="en-US" sz="1000" dirty="0">
                <a:solidFill>
                  <a:srgbClr val="86868B"/>
                </a:solidFill>
                <a:latin typeface="Inter" pitchFamily="34" charset="0"/>
                <a:ea typeface="Inter" pitchFamily="34" charset="-122"/>
                <a:cs typeface="Inter" pitchFamily="34" charset="-120"/>
              </a:rPr>
              <a:t>spostamento verso la certezza, $ per azione</a:t>
            </a:r>
            <a:endParaRPr lang="en-US" sz="1000" dirty="0"/>
          </a:p>
        </p:txBody>
      </p:sp>
      <p:sp>
        <p:nvSpPr>
          <p:cNvPr id="35" name="Text 32"/>
          <p:cNvSpPr/>
          <p:nvPr/>
        </p:nvSpPr>
        <p:spPr>
          <a:xfrm>
            <a:off x="8778240" y="2011680"/>
            <a:ext cx="3017520" cy="914400"/>
          </a:xfrm>
          <a:prstGeom prst="rect">
            <a:avLst/>
          </a:prstGeom>
          <a:noFill/>
          <a:ln/>
        </p:spPr>
        <p:txBody>
          <a:bodyPr wrap="square" lIns="0" tIns="0" rIns="0" bIns="0" rtlCol="0" anchor="b"/>
          <a:lstStyle/>
          <a:p>
            <a:pPr indent="0" marL="0">
              <a:buNone/>
            </a:pPr>
            <a:r>
              <a:rPr lang="en-US" sz="6400" b="1" spc="-60" kern="0" dirty="0">
                <a:solidFill>
                  <a:srgbClr val="FFFFFF"/>
                </a:solidFill>
                <a:latin typeface="Inter Display" pitchFamily="34" charset="0"/>
                <a:ea typeface="Inter Display" pitchFamily="34" charset="-122"/>
                <a:cs typeface="Inter Display" pitchFamily="34" charset="-120"/>
              </a:rPr>
              <a:t>86 $</a:t>
            </a:r>
            <a:endParaRPr lang="en-US" sz="6400" dirty="0"/>
          </a:p>
        </p:txBody>
      </p:sp>
      <p:sp>
        <p:nvSpPr>
          <p:cNvPr id="36" name="Text 33"/>
          <p:cNvSpPr/>
          <p:nvPr/>
        </p:nvSpPr>
        <p:spPr>
          <a:xfrm>
            <a:off x="8778240" y="3017520"/>
            <a:ext cx="3017520" cy="54864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con tutte e 13 le milestone certe</a:t>
            </a:r>
            <a:endParaRPr lang="en-US" sz="1500" dirty="0"/>
          </a:p>
        </p:txBody>
      </p:sp>
      <p:sp>
        <p:nvSpPr>
          <p:cNvPr id="37" name="Text 34"/>
          <p:cNvSpPr/>
          <p:nvPr/>
        </p:nvSpPr>
        <p:spPr>
          <a:xfrm>
            <a:off x="8778240" y="3657600"/>
            <a:ext cx="3017520" cy="914400"/>
          </a:xfrm>
          <a:prstGeom prst="rect">
            <a:avLst/>
          </a:prstGeom>
          <a:noFill/>
          <a:ln/>
        </p:spPr>
        <p:txBody>
          <a:bodyPr wrap="square" lIns="0" tIns="0" rIns="0" bIns="0" rtlCol="0" anchor="b"/>
          <a:lstStyle/>
          <a:p>
            <a:pPr indent="0" marL="0">
              <a:buNone/>
            </a:pPr>
            <a:r>
              <a:rPr lang="en-US" sz="6400" b="1" spc="-60" kern="0" dirty="0">
                <a:solidFill>
                  <a:srgbClr val="FFB340"/>
                </a:solidFill>
                <a:latin typeface="Inter Display" pitchFamily="34" charset="0"/>
                <a:ea typeface="Inter Display" pitchFamily="34" charset="-122"/>
                <a:cs typeface="Inter Display" pitchFamily="34" charset="-120"/>
              </a:rPr>
              <a:t>0</a:t>
            </a:r>
            <a:endParaRPr lang="en-US" sz="6400" dirty="0"/>
          </a:p>
        </p:txBody>
      </p:sp>
      <p:sp>
        <p:nvSpPr>
          <p:cNvPr id="38" name="Text 35"/>
          <p:cNvSpPr/>
          <p:nvPr/>
        </p:nvSpPr>
        <p:spPr>
          <a:xfrm>
            <a:off x="8778240" y="4663440"/>
            <a:ext cx="3017520" cy="64008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esiti su 696 superano il prezzo IPO (135 $)</a:t>
            </a:r>
            <a:endParaRPr lang="en-US" sz="15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6868B"/>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86868B"/>
                </a:solidFill>
                <a:latin typeface="D-DIN" pitchFamily="34" charset="0"/>
                <a:ea typeface="D-DIN" pitchFamily="34" charset="-122"/>
                <a:cs typeface="D-DIN" pitchFamily="34" charset="-120"/>
              </a:rPr>
              <a:t>ATTO 2  |  IL VALORE DELL'INSIEME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FFFFFF"/>
                </a:solidFill>
                <a:latin typeface="Inter Display" pitchFamily="34" charset="0"/>
                <a:ea typeface="Inter Display" pitchFamily="34" charset="-122"/>
                <a:cs typeface="Inter Display" pitchFamily="34" charset="-120"/>
              </a:rPr>
              <a:t>Un gruppo non è una somma</a:t>
            </a:r>
            <a:endParaRPr lang="en-US" sz="4000" dirty="0"/>
          </a:p>
        </p:txBody>
      </p:sp>
      <p:sp>
        <p:nvSpPr>
          <p:cNvPr id="5" name="Text 2"/>
          <p:cNvSpPr/>
          <p:nvPr/>
        </p:nvSpPr>
        <p:spPr>
          <a:xfrm>
            <a:off x="548640" y="2148840"/>
            <a:ext cx="11064240" cy="1371600"/>
          </a:xfrm>
          <a:prstGeom prst="rect">
            <a:avLst/>
          </a:prstGeom>
          <a:noFill/>
          <a:ln/>
        </p:spPr>
        <p:txBody>
          <a:bodyPr wrap="square" lIns="0" tIns="0" rIns="0" bIns="0" rtlCol="0" anchor="t"/>
          <a:lstStyle/>
          <a:p>
            <a:pPr indent="0" marL="0">
              <a:lnSpc>
                <a:spcPct val="105000"/>
              </a:lnSpc>
              <a:buNone/>
            </a:pPr>
            <a:r>
              <a:rPr lang="en-US" sz="2800" b="1" spc="-40" kern="0" dirty="0">
                <a:solidFill>
                  <a:srgbClr val="FFFFFF"/>
                </a:solidFill>
                <a:latin typeface="Inter Display" pitchFamily="34" charset="0"/>
                <a:ea typeface="Inter Display" pitchFamily="34" charset="-122"/>
                <a:cs typeface="Inter Display" pitchFamily="34" charset="-120"/>
              </a:rPr>
              <a:t>La somma delle parti usa i segmenti come stanno dentro il gruppo. Ma Starship vola perché c'è Starlink, e Starlink V3 esiste perché c'è Starship.</a:t>
            </a:r>
            <a:endParaRPr lang="en-US" sz="2800" dirty="0"/>
          </a:p>
        </p:txBody>
      </p:sp>
      <p:sp>
        <p:nvSpPr>
          <p:cNvPr id="6" name="Text 3"/>
          <p:cNvSpPr/>
          <p:nvPr/>
        </p:nvSpPr>
        <p:spPr>
          <a:xfrm>
            <a:off x="548640" y="3840480"/>
            <a:ext cx="11247120" cy="640080"/>
          </a:xfrm>
          <a:prstGeom prst="rect">
            <a:avLst/>
          </a:prstGeom>
          <a:noFill/>
          <a:ln/>
        </p:spPr>
        <p:txBody>
          <a:bodyPr wrap="square" lIns="0" tIns="0" rIns="0" bIns="0" rtlCol="0" anchor="t"/>
          <a:lstStyle/>
          <a:p>
            <a:pPr indent="0" marL="0">
              <a:buNone/>
            </a:pPr>
            <a:r>
              <a:rPr lang="en-US" sz="2500" b="1" dirty="0">
                <a:solidFill>
                  <a:srgbClr val="FFFFFF"/>
                </a:solidFill>
                <a:latin typeface="Inter Display" pitchFamily="34" charset="0"/>
                <a:ea typeface="Inter Display" pitchFamily="34" charset="-122"/>
                <a:cs typeface="Inter Display" pitchFamily="34" charset="-120"/>
              </a:rPr>
              <a:t>V(gruppo) = V(Space) + V(Starlink) + V(AI) </a:t>
            </a:r>
            <a:pPr indent="0" marL="0">
              <a:buNone/>
            </a:pPr>
            <a:r>
              <a:rPr lang="en-US" sz="2500" b="1" dirty="0">
                <a:solidFill>
                  <a:srgbClr val="2997FF"/>
                </a:solidFill>
                <a:latin typeface="Inter Display" pitchFamily="34" charset="0"/>
                <a:ea typeface="Inter Display" pitchFamily="34" charset="-122"/>
                <a:cs typeface="Inter Display" pitchFamily="34" charset="-120"/>
              </a:rPr>
              <a:t>+ sinergie </a:t>
            </a:r>
            <a:pPr indent="0" marL="0">
              <a:buNone/>
            </a:pPr>
            <a:r>
              <a:rPr lang="en-US" sz="2500" b="1" dirty="0">
                <a:solidFill>
                  <a:srgbClr val="FF6961"/>
                </a:solidFill>
                <a:latin typeface="Inter Display" pitchFamily="34" charset="0"/>
                <a:ea typeface="Inter Display" pitchFamily="34" charset="-122"/>
                <a:cs typeface="Inter Display" pitchFamily="34" charset="-120"/>
              </a:rPr>
              <a:t>− dis-sinergie</a:t>
            </a:r>
            <a:endParaRPr lang="en-US" sz="2500" dirty="0"/>
          </a:p>
        </p:txBody>
      </p:sp>
      <p:sp>
        <p:nvSpPr>
          <p:cNvPr id="7" name="Text 4"/>
          <p:cNvSpPr/>
          <p:nvPr/>
        </p:nvSpPr>
        <p:spPr>
          <a:xfrm>
            <a:off x="548640" y="4892040"/>
            <a:ext cx="10515600" cy="731520"/>
          </a:xfrm>
          <a:prstGeom prst="rect">
            <a:avLst/>
          </a:prstGeom>
          <a:noFill/>
          <a:ln/>
        </p:spPr>
        <p:txBody>
          <a:bodyPr wrap="square" lIns="0" tIns="0" rIns="0" bIns="0" rtlCol="0" anchor="t"/>
          <a:lstStyle/>
          <a:p>
            <a:pPr indent="0" marL="0">
              <a:buNone/>
            </a:pPr>
            <a:r>
              <a:rPr lang="en-US" sz="1800" dirty="0">
                <a:solidFill>
                  <a:srgbClr val="86868B"/>
                </a:solidFill>
                <a:latin typeface="Inter" pitchFamily="34" charset="0"/>
                <a:ea typeface="Inter" pitchFamily="34" charset="-122"/>
                <a:cs typeface="Inter" pitchFamily="34" charset="-120"/>
              </a:rPr>
              <a:t>La diversificazione da sola non è una sinergia: l'azionista diversifica da solo. Una sinergia deve cambiare i flussi, non il tasso.</a:t>
            </a:r>
            <a:endParaRPr lang="en-US" sz="1800" dirty="0"/>
          </a:p>
        </p:txBody>
      </p:sp>
      <p:sp>
        <p:nvSpPr>
          <p:cNvPr id="8"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endParaRPr lang="en-US" sz="8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6868B"/>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IL METODO  |  TRE IMPRESE DAVVERO SEPARATE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Che cosa cambia se le separo</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Probabilità da sole: estremi bassi degli intervalli stimati per ogni milestone; 123 lanci Starlink su 165 Falcon 9 nel 2025 (Space.com); xAI, debito al 12-12,5% (Reuters, giugno 2025); NOL: IRC 172; costi di emissione: Lee, Lochhead, Ritter e Zhao (1996)</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4206240"/>
                <a:gridCol w="1645920"/>
                <a:gridCol w="1737360"/>
                <a:gridCol w="3474720"/>
              </a:tblGrid>
              <a:tr h="475488">
                <a:tc>
                  <a:txBody>
                    <a:bodyPr/>
                    <a:lstStyle/>
                    <a:p>
                      <a:pPr algn="l" indent="0" marL="0">
                        <a:buNone/>
                      </a:pPr>
                      <a:r>
                        <a:rPr lang="en-US" sz="1100" spc="200" kern="0" dirty="0">
                          <a:solidFill>
                            <a:srgbClr val="6E6E73"/>
                          </a:solidFill>
                          <a:latin typeface="D-DIN" pitchFamily="34" charset="0"/>
                          <a:ea typeface="D-DIN" pitchFamily="34" charset="-122"/>
                          <a:cs typeface="D-DIN" pitchFamily="34" charset="-120"/>
                        </a:rPr>
                        <a:t>LEGAME</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NEL GRUPPO</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DA SOLE</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PERCHÉ</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algn="l" indent="0" marL="0">
                        <a:buNone/>
                      </a:pPr>
                      <a:r>
                        <a:rPr lang="en-US" sz="1500" dirty="0">
                          <a:solidFill>
                            <a:srgbClr val="1D1D1F"/>
                          </a:solidFill>
                          <a:latin typeface="Inter" pitchFamily="34" charset="0"/>
                          <a:ea typeface="Inter" pitchFamily="34" charset="-122"/>
                          <a:cs typeface="Inter" pitchFamily="34" charset="-120"/>
                        </a:rPr>
                        <a:t>Starship: riuso dello stadio superiore (S2)</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65%</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45%</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75% dei lanci Falcon 2025 per Starlink</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algn="l" indent="0" marL="0">
                        <a:buNone/>
                      </a:pPr>
                      <a:r>
                        <a:rPr lang="en-US" sz="1500" dirty="0">
                          <a:solidFill>
                            <a:srgbClr val="1D1D1F"/>
                          </a:solidFill>
                          <a:latin typeface="Inter" pitchFamily="34" charset="0"/>
                          <a:ea typeface="Inter" pitchFamily="34" charset="-122"/>
                          <a:cs typeface="Inter" pitchFamily="34" charset="-120"/>
                        </a:rPr>
                        <a:t>Starlink: 1.000 satelliti V3 (C1)</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80%</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60%</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V3 progettati per Starship</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algn="l" indent="0" marL="0">
                        <a:buNone/>
                      </a:pPr>
                      <a:r>
                        <a:rPr lang="en-US" sz="1500" dirty="0">
                          <a:solidFill>
                            <a:srgbClr val="1D1D1F"/>
                          </a:solidFill>
                          <a:latin typeface="Inter" pitchFamily="34" charset="0"/>
                          <a:ea typeface="Inter" pitchFamily="34" charset="-122"/>
                          <a:cs typeface="Inter" pitchFamily="34" charset="-120"/>
                        </a:rPr>
                        <a:t>Calcolo in orbita (A4)</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8%</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0%</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serve tutto il gruppo</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algn="l" indent="0" marL="0">
                        <a:buNone/>
                      </a:pPr>
                      <a:r>
                        <a:rPr lang="en-US" sz="1500" dirty="0">
                          <a:solidFill>
                            <a:srgbClr val="1D1D1F"/>
                          </a:solidFill>
                          <a:latin typeface="Inter" pitchFamily="34" charset="0"/>
                          <a:ea typeface="Inter" pitchFamily="34" charset="-122"/>
                          <a:cs typeface="Inter" pitchFamily="34" charset="-120"/>
                        </a:rPr>
                        <a:t>Perdite fiscali dell'AI e di Starship</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subito</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a nuovo, 80%</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consolidato fiscale</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algn="l" indent="0" marL="0">
                        <a:buNone/>
                      </a:pPr>
                      <a:r>
                        <a:rPr lang="en-US" sz="1500" dirty="0">
                          <a:solidFill>
                            <a:srgbClr val="1D1D1F"/>
                          </a:solidFill>
                          <a:latin typeface="Inter" pitchFamily="34" charset="0"/>
                          <a:ea typeface="Inter" pitchFamily="34" charset="-122"/>
                          <a:cs typeface="Inter" pitchFamily="34" charset="-120"/>
                        </a:rPr>
                        <a:t>Leva dell'AI (D/V)</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5-15%</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0-5%</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xAI al 12,5% nel 2025</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algn="l" indent="0" marL="0">
                        <a:buNone/>
                      </a:pPr>
                      <a:r>
                        <a:rPr lang="en-US" sz="1500" dirty="0">
                          <a:solidFill>
                            <a:srgbClr val="1D1D1F"/>
                          </a:solidFill>
                          <a:latin typeface="Inter" pitchFamily="34" charset="0"/>
                          <a:ea typeface="Inter" pitchFamily="34" charset="-122"/>
                          <a:cs typeface="Inter" pitchFamily="34" charset="-120"/>
                        </a:rPr>
                        <a:t>Fabbisogno di cassa dell'AI</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interno</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mercato, 3%</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1D1D1F"/>
                          </a:solidFill>
                          <a:latin typeface="Inter" pitchFamily="34" charset="0"/>
                          <a:ea typeface="Inter" pitchFamily="34" charset="-122"/>
                          <a:cs typeface="Inter" pitchFamily="34" charset="-120"/>
                        </a:rPr>
                        <a:t>costi di emissione</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algn="l" indent="0" marL="0">
                        <a:buNone/>
                      </a:pPr>
                      <a:r>
                        <a:rPr lang="en-US" sz="1500" b="1" dirty="0">
                          <a:solidFill>
                            <a:srgbClr val="FF6961"/>
                          </a:solidFill>
                          <a:latin typeface="Inter" pitchFamily="34" charset="0"/>
                          <a:ea typeface="Inter" pitchFamily="34" charset="-122"/>
                          <a:cs typeface="Inter" pitchFamily="34" charset="-120"/>
                        </a:rPr>
                        <a:t>Investimenti AI sotto il WACC</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b="1" dirty="0">
                          <a:solidFill>
                            <a:srgbClr val="FF6961"/>
                          </a:solidFill>
                          <a:latin typeface="Inter" pitchFamily="34" charset="0"/>
                          <a:ea typeface="Inter" pitchFamily="34" charset="-122"/>
                          <a:cs typeface="Inter" pitchFamily="34" charset="-120"/>
                        </a:rPr>
                        <a:t>tutti</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b="1" dirty="0">
                          <a:solidFill>
                            <a:srgbClr val="FF6961"/>
                          </a:solidFill>
                          <a:latin typeface="Inter" pitchFamily="34" charset="0"/>
                          <a:ea typeface="Inter" pitchFamily="34" charset="-122"/>
                          <a:cs typeface="Inter" pitchFamily="34" charset="-120"/>
                        </a:rPr>
                        <a:t>metà</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500" dirty="0">
                          <a:solidFill>
                            <a:srgbClr val="FF6961"/>
                          </a:solidFill>
                          <a:latin typeface="Inter" pitchFamily="34" charset="0"/>
                          <a:ea typeface="Inter" pitchFamily="34" charset="-122"/>
                          <a:cs typeface="Inter" pitchFamily="34" charset="-120"/>
                        </a:rPr>
                        <a:t>sussidio incrociato</a:t>
                      </a:r>
                      <a:endParaRPr lang="en-US" sz="15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DOVE NASCE IL VALORE DELL'INSIEME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Il legame che vale è fisico, non finanziario</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Modello dell'autore, valori a rischio in mld $; E = sinergie già contenute nei numeri dei segmenti, N = nuova, D = dis-sinergia; lanci: Space.com</a:t>
            </a:r>
            <a:endParaRPr lang="en-US" sz="800" dirty="0"/>
          </a:p>
        </p:txBody>
      </p:sp>
      <p:pic>
        <p:nvPicPr>
          <p:cNvPr id="6" name="Image 0" descr="Mappa dei legami fra Space, Starlink e AI con il valore di ogni sinergia">    </p:cNvPr>
          <p:cNvPicPr>
            <a:picLocks noChangeAspect="1"/>
          </p:cNvPicPr>
          <p:nvPr/>
        </p:nvPicPr>
        <p:blipFill>
          <a:blip r:embed="rId1"/>
          <a:stretch>
            <a:fillRect/>
          </a:stretch>
        </p:blipFill>
        <p:spPr>
          <a:xfrm>
            <a:off x="411480" y="1828800"/>
            <a:ext cx="7772400" cy="4370832"/>
          </a:xfrm>
          <a:prstGeom prst="rect">
            <a:avLst/>
          </a:prstGeom>
        </p:spPr>
      </p:pic>
      <p:sp>
        <p:nvSpPr>
          <p:cNvPr id="7" name="Text 3"/>
          <p:cNvSpPr/>
          <p:nvPr/>
        </p:nvSpPr>
        <p:spPr>
          <a:xfrm>
            <a:off x="8595360" y="1920240"/>
            <a:ext cx="3200400" cy="822960"/>
          </a:xfrm>
          <a:prstGeom prst="rect">
            <a:avLst/>
          </a:prstGeom>
          <a:noFill/>
          <a:ln/>
        </p:spPr>
        <p:txBody>
          <a:bodyPr wrap="square" lIns="0" tIns="0" rIns="0" bIns="0" rtlCol="0" anchor="b"/>
          <a:lstStyle/>
          <a:p>
            <a:pPr indent="0" marL="0">
              <a:buNone/>
            </a:pPr>
            <a:r>
              <a:rPr lang="en-US" sz="5600" b="1" spc="-60" kern="0" dirty="0">
                <a:solidFill>
                  <a:srgbClr val="0B1F3A"/>
                </a:solidFill>
                <a:latin typeface="Inter Display" pitchFamily="34" charset="0"/>
                <a:ea typeface="Inter Display" pitchFamily="34" charset="-122"/>
                <a:cs typeface="Inter Display" pitchFamily="34" charset="-120"/>
              </a:rPr>
              <a:t>+62</a:t>
            </a:r>
            <a:endParaRPr lang="en-US" sz="5600" dirty="0"/>
          </a:p>
        </p:txBody>
      </p:sp>
      <p:sp>
        <p:nvSpPr>
          <p:cNvPr id="8" name="Text 4"/>
          <p:cNvSpPr/>
          <p:nvPr/>
        </p:nvSpPr>
        <p:spPr>
          <a:xfrm>
            <a:off x="8595360" y="2788920"/>
            <a:ext cx="3108960" cy="45720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mld di sinergie già dentro i numeri dei segmenti, mai dichiarate</a:t>
            </a:r>
            <a:endParaRPr lang="en-US" sz="1300" dirty="0"/>
          </a:p>
        </p:txBody>
      </p:sp>
      <p:sp>
        <p:nvSpPr>
          <p:cNvPr id="9" name="Text 5"/>
          <p:cNvSpPr/>
          <p:nvPr/>
        </p:nvSpPr>
        <p:spPr>
          <a:xfrm>
            <a:off x="8595360" y="3337560"/>
            <a:ext cx="3200400" cy="822960"/>
          </a:xfrm>
          <a:prstGeom prst="rect">
            <a:avLst/>
          </a:prstGeom>
          <a:noFill/>
          <a:ln/>
        </p:spPr>
        <p:txBody>
          <a:bodyPr wrap="square" lIns="0" tIns="0" rIns="0" bIns="0" rtlCol="0" anchor="b"/>
          <a:lstStyle/>
          <a:p>
            <a:pPr indent="0" marL="0">
              <a:buNone/>
            </a:pPr>
            <a:r>
              <a:rPr lang="en-US" sz="5600" b="1" spc="-60" kern="0" dirty="0">
                <a:solidFill>
                  <a:srgbClr val="0071E3"/>
                </a:solidFill>
                <a:latin typeface="Inter Display" pitchFamily="34" charset="0"/>
                <a:ea typeface="Inter Display" pitchFamily="34" charset="-122"/>
                <a:cs typeface="Inter Display" pitchFamily="34" charset="-120"/>
              </a:rPr>
              <a:t>+53</a:t>
            </a:r>
            <a:endParaRPr lang="en-US" sz="5600" dirty="0"/>
          </a:p>
        </p:txBody>
      </p:sp>
      <p:sp>
        <p:nvSpPr>
          <p:cNvPr id="10" name="Text 6"/>
          <p:cNvSpPr/>
          <p:nvPr/>
        </p:nvSpPr>
        <p:spPr>
          <a:xfrm>
            <a:off x="8595360" y="4206240"/>
            <a:ext cx="3108960" cy="45720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di queste vengono da Starship e Starlink</a:t>
            </a:r>
            <a:endParaRPr lang="en-US" sz="1300" dirty="0"/>
          </a:p>
        </p:txBody>
      </p:sp>
      <p:sp>
        <p:nvSpPr>
          <p:cNvPr id="11" name="Text 7"/>
          <p:cNvSpPr/>
          <p:nvPr/>
        </p:nvSpPr>
        <p:spPr>
          <a:xfrm>
            <a:off x="8595360" y="4754880"/>
            <a:ext cx="3200400" cy="822960"/>
          </a:xfrm>
          <a:prstGeom prst="rect">
            <a:avLst/>
          </a:prstGeom>
          <a:noFill/>
          <a:ln/>
        </p:spPr>
        <p:txBody>
          <a:bodyPr wrap="square" lIns="0" tIns="0" rIns="0" bIns="0" rtlCol="0" anchor="b"/>
          <a:lstStyle/>
          <a:p>
            <a:pPr indent="0" marL="0">
              <a:buNone/>
            </a:pPr>
            <a:r>
              <a:rPr lang="en-US" sz="5600" b="1" spc="-60" kern="0" dirty="0">
                <a:solidFill>
                  <a:srgbClr val="FF6961"/>
                </a:solidFill>
                <a:latin typeface="Inter Display" pitchFamily="34" charset="0"/>
                <a:ea typeface="Inter Display" pitchFamily="34" charset="-122"/>
                <a:cs typeface="Inter Display" pitchFamily="34" charset="-120"/>
              </a:rPr>
              <a:t>−16</a:t>
            </a:r>
            <a:endParaRPr lang="en-US" sz="5600" dirty="0"/>
          </a:p>
        </p:txBody>
      </p:sp>
      <p:sp>
        <p:nvSpPr>
          <p:cNvPr id="12" name="Text 8"/>
          <p:cNvSpPr/>
          <p:nvPr/>
        </p:nvSpPr>
        <p:spPr>
          <a:xfrm>
            <a:off x="8595360" y="5623560"/>
            <a:ext cx="3108960" cy="45720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mld restituiti dal sussidio all'AI</a:t>
            </a:r>
            <a:endParaRPr lang="en-US" sz="13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IL VALORE DELL'INSIEME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Unite valgono di più: 60,06 $ contro 56,31 $</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Modello dell'autore; ponte: posizione finanziaria, azioni e claim da SEC 10-Q Q2 2026 e 424B4, governance 3,5% (Dyck e Zingales 2004); nessuno sconto di conglomerata: le dis-sinergie sono misurate</a:t>
            </a:r>
            <a:endParaRPr lang="en-US" sz="800" dirty="0"/>
          </a:p>
        </p:txBody>
      </p:sp>
      <p:pic>
        <p:nvPicPr>
          <p:cNvPr id="6" name="Image 0" descr="Cascata dal valore delle tre imprese separate al valore del gruppo, dollari per azione">    </p:cNvPr>
          <p:cNvPicPr>
            <a:picLocks noChangeAspect="1"/>
          </p:cNvPicPr>
          <p:nvPr/>
        </p:nvPicPr>
        <p:blipFill>
          <a:blip r:embed="rId1"/>
          <a:stretch>
            <a:fillRect/>
          </a:stretch>
        </p:blipFill>
        <p:spPr>
          <a:xfrm>
            <a:off x="411480" y="1828800"/>
            <a:ext cx="7772400" cy="4370832"/>
          </a:xfrm>
          <a:prstGeom prst="rect">
            <a:avLst/>
          </a:prstGeom>
        </p:spPr>
      </p:pic>
      <p:sp>
        <p:nvSpPr>
          <p:cNvPr id="7" name="Text 3"/>
          <p:cNvSpPr/>
          <p:nvPr/>
        </p:nvSpPr>
        <p:spPr>
          <a:xfrm>
            <a:off x="8595360" y="1920240"/>
            <a:ext cx="3200400" cy="868680"/>
          </a:xfrm>
          <a:prstGeom prst="rect">
            <a:avLst/>
          </a:prstGeom>
          <a:noFill/>
          <a:ln/>
        </p:spPr>
        <p:txBody>
          <a:bodyPr wrap="square" lIns="0" tIns="0" rIns="0" bIns="0" rtlCol="0" anchor="b"/>
          <a:lstStyle/>
          <a:p>
            <a:pPr indent="0" marL="0">
              <a:buNone/>
            </a:pPr>
            <a:r>
              <a:rPr lang="en-US" sz="5600" b="1" spc="-60" kern="0" dirty="0">
                <a:solidFill>
                  <a:srgbClr val="0B1F3A"/>
                </a:solidFill>
                <a:latin typeface="Inter Display" pitchFamily="34" charset="0"/>
                <a:ea typeface="Inter Display" pitchFamily="34" charset="-122"/>
                <a:cs typeface="Inter Display" pitchFamily="34" charset="-120"/>
              </a:rPr>
              <a:t>60,06 $</a:t>
            </a:r>
            <a:endParaRPr lang="en-US" sz="5600" dirty="0"/>
          </a:p>
        </p:txBody>
      </p:sp>
      <p:sp>
        <p:nvSpPr>
          <p:cNvPr id="8" name="Text 4"/>
          <p:cNvSpPr/>
          <p:nvPr/>
        </p:nvSpPr>
        <p:spPr>
          <a:xfrm>
            <a:off x="8595360" y="2834640"/>
            <a:ext cx="3108960" cy="32004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il gruppo, per azione</a:t>
            </a:r>
            <a:endParaRPr lang="en-US" sz="1300" dirty="0"/>
          </a:p>
        </p:txBody>
      </p:sp>
      <p:sp>
        <p:nvSpPr>
          <p:cNvPr id="9" name="Text 5"/>
          <p:cNvSpPr/>
          <p:nvPr/>
        </p:nvSpPr>
        <p:spPr>
          <a:xfrm>
            <a:off x="8595360" y="3337560"/>
            <a:ext cx="3200400" cy="868680"/>
          </a:xfrm>
          <a:prstGeom prst="rect">
            <a:avLst/>
          </a:prstGeom>
          <a:noFill/>
          <a:ln/>
        </p:spPr>
        <p:txBody>
          <a:bodyPr wrap="square" lIns="0" tIns="0" rIns="0" bIns="0" rtlCol="0" anchor="b"/>
          <a:lstStyle/>
          <a:p>
            <a:pPr indent="0" marL="0">
              <a:buNone/>
            </a:pPr>
            <a:r>
              <a:rPr lang="en-US" sz="5600" b="1" spc="-60" kern="0" dirty="0">
                <a:solidFill>
                  <a:srgbClr val="0071E3"/>
                </a:solidFill>
                <a:latin typeface="Inter Display" pitchFamily="34" charset="0"/>
                <a:ea typeface="Inter Display" pitchFamily="34" charset="-122"/>
                <a:cs typeface="Inter Display" pitchFamily="34" charset="-120"/>
              </a:rPr>
              <a:t>+7%</a:t>
            </a:r>
            <a:endParaRPr lang="en-US" sz="5600" dirty="0"/>
          </a:p>
        </p:txBody>
      </p:sp>
      <p:sp>
        <p:nvSpPr>
          <p:cNvPr id="10" name="Text 6"/>
          <p:cNvSpPr/>
          <p:nvPr/>
        </p:nvSpPr>
        <p:spPr>
          <a:xfrm>
            <a:off x="8595360" y="4251960"/>
            <a:ext cx="3108960" cy="45720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sulle parti separate: +50 mld di sinergie nette</a:t>
            </a:r>
            <a:endParaRPr lang="en-US" sz="1300" dirty="0"/>
          </a:p>
        </p:txBody>
      </p:sp>
      <p:sp>
        <p:nvSpPr>
          <p:cNvPr id="11" name="Text 7"/>
          <p:cNvSpPr/>
          <p:nvPr/>
        </p:nvSpPr>
        <p:spPr>
          <a:xfrm>
            <a:off x="8595360" y="4937760"/>
            <a:ext cx="3108960" cy="1005840"/>
          </a:xfrm>
          <a:prstGeom prst="rect">
            <a:avLst/>
          </a:prstGeom>
          <a:noFill/>
          <a:ln/>
        </p:spPr>
        <p:txBody>
          <a:bodyPr wrap="square" lIns="0" tIns="0" rIns="0" bIns="0" rtlCol="0" anchor="t"/>
          <a:lstStyle/>
          <a:p>
            <a:pPr indent="0" marL="0">
              <a:buNone/>
            </a:pPr>
            <a:r>
              <a:rPr lang="en-US" sz="1500" b="1" dirty="0">
                <a:solidFill>
                  <a:srgbClr val="1D1D1F"/>
                </a:solidFill>
                <a:latin typeface="Inter Display" pitchFamily="34" charset="0"/>
                <a:ea typeface="Inter Display" pitchFamily="34" charset="-122"/>
                <a:cs typeface="Inter Display" pitchFamily="34" charset="-120"/>
              </a:rPr>
              <a:t>Lo sconto di conglomerata del 5% sparisce: il costo dell'unione è già nei flussi dell'AI.</a:t>
            </a:r>
            <a:endParaRPr lang="en-US" sz="15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CHI GUADAGNA DALL'UNIONE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Starlink e Space ci guadagnano, l'AI ci perde</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Modello dell'autore: valore a rischio di ogni segmento da solo (controfattuale) e nel gruppo; investimenti xAI 2025: Morningstar</a:t>
            </a:r>
            <a:endParaRPr lang="en-US" sz="800" dirty="0"/>
          </a:p>
        </p:txBody>
      </p:sp>
      <p:pic>
        <p:nvPicPr>
          <p:cNvPr id="6" name="Image 0" descr="Valore di ogni segmento da solo e dentro il gruppo">    </p:cNvPr>
          <p:cNvPicPr>
            <a:picLocks noChangeAspect="1"/>
          </p:cNvPicPr>
          <p:nvPr/>
        </p:nvPicPr>
        <p:blipFill>
          <a:blip r:embed="rId1"/>
          <a:stretch>
            <a:fillRect/>
          </a:stretch>
        </p:blipFill>
        <p:spPr>
          <a:xfrm>
            <a:off x="411480" y="1828800"/>
            <a:ext cx="7772400" cy="4370832"/>
          </a:xfrm>
          <a:prstGeom prst="rect">
            <a:avLst/>
          </a:prstGeom>
        </p:spPr>
      </p:pic>
      <p:sp>
        <p:nvSpPr>
          <p:cNvPr id="7" name="Text 3"/>
          <p:cNvSpPr/>
          <p:nvPr/>
        </p:nvSpPr>
        <p:spPr>
          <a:xfrm>
            <a:off x="8595360" y="2011680"/>
            <a:ext cx="3108960" cy="1463040"/>
          </a:xfrm>
          <a:prstGeom prst="rect">
            <a:avLst/>
          </a:prstGeom>
          <a:noFill/>
          <a:ln/>
        </p:spPr>
        <p:txBody>
          <a:bodyPr wrap="square" lIns="0" tIns="0" rIns="0" bIns="0" rtlCol="0" anchor="t"/>
          <a:lstStyle/>
          <a:p>
            <a:pPr indent="0" marL="0">
              <a:lnSpc>
                <a:spcPct val="105000"/>
              </a:lnSpc>
              <a:buNone/>
            </a:pPr>
            <a:r>
              <a:rPr lang="en-US" sz="2000" b="1" spc="-30" kern="0" dirty="0">
                <a:solidFill>
                  <a:srgbClr val="1D1D1F"/>
                </a:solidFill>
                <a:latin typeface="Inter Display" pitchFamily="34" charset="0"/>
                <a:ea typeface="Inter Display" pitchFamily="34" charset="-122"/>
                <a:cs typeface="Inter Display" pitchFamily="34" charset="-120"/>
              </a:rPr>
              <a:t>Nel gruppo l'AI ha la cassa di Starlink, e la usa anche dove rende meno del costo del capitale.</a:t>
            </a:r>
            <a:endParaRPr lang="en-US" sz="2000" dirty="0"/>
          </a:p>
        </p:txBody>
      </p:sp>
      <p:sp>
        <p:nvSpPr>
          <p:cNvPr id="8" name="Text 4"/>
          <p:cNvSpPr/>
          <p:nvPr/>
        </p:nvSpPr>
        <p:spPr>
          <a:xfrm>
            <a:off x="8595360" y="3657600"/>
            <a:ext cx="3200400" cy="868680"/>
          </a:xfrm>
          <a:prstGeom prst="rect">
            <a:avLst/>
          </a:prstGeom>
          <a:noFill/>
          <a:ln/>
        </p:spPr>
        <p:txBody>
          <a:bodyPr wrap="square" lIns="0" tIns="0" rIns="0" bIns="0" rtlCol="0" anchor="b"/>
          <a:lstStyle/>
          <a:p>
            <a:pPr indent="0" marL="0">
              <a:buNone/>
            </a:pPr>
            <a:r>
              <a:rPr lang="en-US" sz="5600" b="1" spc="-60" kern="0" dirty="0">
                <a:solidFill>
                  <a:srgbClr val="FF6961"/>
                </a:solidFill>
                <a:latin typeface="Inter Display" pitchFamily="34" charset="0"/>
                <a:ea typeface="Inter Display" pitchFamily="34" charset="-122"/>
                <a:cs typeface="Inter Display" pitchFamily="34" charset="-120"/>
              </a:rPr>
              <a:t>12,7</a:t>
            </a:r>
            <a:endParaRPr lang="en-US" sz="5600" dirty="0"/>
          </a:p>
        </p:txBody>
      </p:sp>
      <p:sp>
        <p:nvSpPr>
          <p:cNvPr id="9" name="Text 5"/>
          <p:cNvSpPr/>
          <p:nvPr/>
        </p:nvSpPr>
        <p:spPr>
          <a:xfrm>
            <a:off x="8595360" y="4572000"/>
            <a:ext cx="3108960" cy="73152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mld di investimenti di xAI nel 2025, contro 8,0 di Starlink e lanci insieme (Morningstar)</a:t>
            </a:r>
            <a:endParaRPr lang="en-US" sz="13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IL CONFRONTO CON ALTRI GRUPPI MULTI-SETTORE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Solo un gruppo integrato vale più delle sue parti</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Berger e Ofek (1995): EV / somma dei segmenti al multiplo EV/EBIT mediano dei concorrenti specializzati, stockanalysis.com 9/10/2026, segmenti dai bilanci 2025 [SEC]; holding: sconto sul NAV (Exor, SoftBank, Porsche SE)</a:t>
            </a:r>
            <a:endParaRPr lang="en-US" sz="800" dirty="0"/>
          </a:p>
        </p:txBody>
      </p:sp>
      <p:pic>
        <p:nvPicPr>
          <p:cNvPr id="6" name="Image 0" descr="Excess value di gruppi multi-settore, holding e SpaceX">    </p:cNvPr>
          <p:cNvPicPr>
            <a:picLocks noChangeAspect="1"/>
          </p:cNvPicPr>
          <p:nvPr/>
        </p:nvPicPr>
        <p:blipFill>
          <a:blip r:embed="rId1"/>
          <a:stretch>
            <a:fillRect/>
          </a:stretch>
        </p:blipFill>
        <p:spPr>
          <a:xfrm>
            <a:off x="411480" y="1828800"/>
            <a:ext cx="7772400" cy="4370832"/>
          </a:xfrm>
          <a:prstGeom prst="rect">
            <a:avLst/>
          </a:prstGeom>
        </p:spPr>
      </p:pic>
      <p:pic>
        <p:nvPicPr>
          <p:cNvPr id="7" name="Image 1" descr="Logo amzn">    </p:cNvPr>
          <p:cNvPicPr>
            <a:picLocks noChangeAspect="1"/>
          </p:cNvPicPr>
          <p:nvPr/>
        </p:nvPicPr>
        <p:blipFill>
          <a:blip r:embed="rId2"/>
          <a:stretch>
            <a:fillRect/>
          </a:stretch>
        </p:blipFill>
        <p:spPr>
          <a:xfrm>
            <a:off x="8595360" y="1965960"/>
            <a:ext cx="1212494" cy="365760"/>
          </a:xfrm>
          <a:prstGeom prst="rect">
            <a:avLst/>
          </a:prstGeom>
        </p:spPr>
      </p:pic>
      <p:sp>
        <p:nvSpPr>
          <p:cNvPr id="8" name="Text 3"/>
          <p:cNvSpPr/>
          <p:nvPr/>
        </p:nvSpPr>
        <p:spPr>
          <a:xfrm>
            <a:off x="8595360" y="2377440"/>
            <a:ext cx="3200400" cy="822960"/>
          </a:xfrm>
          <a:prstGeom prst="rect">
            <a:avLst/>
          </a:prstGeom>
          <a:noFill/>
          <a:ln/>
        </p:spPr>
        <p:txBody>
          <a:bodyPr wrap="square" lIns="0" tIns="0" rIns="0" bIns="0" rtlCol="0" anchor="b"/>
          <a:lstStyle/>
          <a:p>
            <a:pPr indent="0" marL="0">
              <a:buNone/>
            </a:pPr>
            <a:r>
              <a:rPr lang="en-US" sz="5200" b="1" spc="-60" kern="0" dirty="0">
                <a:solidFill>
                  <a:srgbClr val="0B1F3A"/>
                </a:solidFill>
                <a:latin typeface="Inter Display" pitchFamily="34" charset="0"/>
                <a:ea typeface="Inter Display" pitchFamily="34" charset="-122"/>
                <a:cs typeface="Inter Display" pitchFamily="34" charset="-120"/>
              </a:rPr>
              <a:t>+20%</a:t>
            </a:r>
            <a:endParaRPr lang="en-US" sz="5200" dirty="0"/>
          </a:p>
        </p:txBody>
      </p:sp>
      <p:sp>
        <p:nvSpPr>
          <p:cNvPr id="9" name="Text 4"/>
          <p:cNvSpPr/>
          <p:nvPr/>
        </p:nvSpPr>
        <p:spPr>
          <a:xfrm>
            <a:off x="8595360" y="3246120"/>
            <a:ext cx="3108960" cy="45720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il migliore del campione: AWS nasce dall'infrastruttura del retail</a:t>
            </a:r>
            <a:endParaRPr lang="en-US" sz="1300" dirty="0"/>
          </a:p>
        </p:txBody>
      </p:sp>
      <p:sp>
        <p:nvSpPr>
          <p:cNvPr id="10" name="Text 5"/>
          <p:cNvSpPr/>
          <p:nvPr/>
        </p:nvSpPr>
        <p:spPr>
          <a:xfrm>
            <a:off x="8595360" y="3977640"/>
            <a:ext cx="3200400" cy="822960"/>
          </a:xfrm>
          <a:prstGeom prst="rect">
            <a:avLst/>
          </a:prstGeom>
          <a:noFill/>
          <a:ln/>
        </p:spPr>
        <p:txBody>
          <a:bodyPr wrap="square" lIns="0" tIns="0" rIns="0" bIns="0" rtlCol="0" anchor="b"/>
          <a:lstStyle/>
          <a:p>
            <a:pPr indent="0" marL="0">
              <a:buNone/>
            </a:pPr>
            <a:r>
              <a:rPr lang="en-US" sz="5200" b="1" spc="-60" kern="0" dirty="0">
                <a:solidFill>
                  <a:srgbClr val="B86E00"/>
                </a:solidFill>
                <a:latin typeface="Inter Display" pitchFamily="34" charset="0"/>
                <a:ea typeface="Inter Display" pitchFamily="34" charset="-122"/>
                <a:cs typeface="Inter Display" pitchFamily="34" charset="-120"/>
              </a:rPr>
              <a:t>+117%</a:t>
            </a:r>
            <a:endParaRPr lang="en-US" sz="5200" dirty="0"/>
          </a:p>
        </p:txBody>
      </p:sp>
      <p:sp>
        <p:nvSpPr>
          <p:cNvPr id="11" name="Text 6"/>
          <p:cNvSpPr/>
          <p:nvPr/>
        </p:nvSpPr>
        <p:spPr>
          <a:xfrm>
            <a:off x="8595360" y="4846320"/>
            <a:ext cx="3108960" cy="45720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il premio sulle parti che chiede il prezzo di 167,60 $</a:t>
            </a:r>
            <a:endParaRPr lang="en-US" sz="1300" dirty="0"/>
          </a:p>
        </p:txBody>
      </p:sp>
      <p:sp>
        <p:nvSpPr>
          <p:cNvPr id="12" name="Text 7"/>
          <p:cNvSpPr/>
          <p:nvPr/>
        </p:nvSpPr>
        <p:spPr>
          <a:xfrm>
            <a:off x="8595360" y="5440680"/>
            <a:ext cx="3108960" cy="548640"/>
          </a:xfrm>
          <a:prstGeom prst="rect">
            <a:avLst/>
          </a:prstGeom>
          <a:noFill/>
          <a:ln/>
        </p:spPr>
        <p:txBody>
          <a:bodyPr wrap="square" lIns="0" tIns="0" rIns="0" bIns="0" rtlCol="0" anchor="t"/>
          <a:lstStyle/>
          <a:p>
            <a:pPr indent="0" marL="0">
              <a:buNone/>
            </a:pPr>
            <a:r>
              <a:rPr lang="en-US" sz="1400" b="1" dirty="0">
                <a:solidFill>
                  <a:srgbClr val="1D1D1F"/>
                </a:solidFill>
                <a:latin typeface="Inter Display" pitchFamily="34" charset="0"/>
                <a:ea typeface="Inter Display" pitchFamily="34" charset="-122"/>
                <a:cs typeface="Inter Display" pitchFamily="34" charset="-120"/>
              </a:rPr>
              <a:t>Con il premio di Amazon SpaceX varrebbe 68 $.</a:t>
            </a:r>
            <a:endParaRPr lang="en-US" sz="14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LA FUSIONE CON XAI, CON GLI STRUMENTI DEL CORSO</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Le sinergie sono andate agli azionisti SpaceX</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Termini: Bloomberg via Yahoo Finance e Taipei Times (2-4/2/2026), tutta in azioni, SpaceX 1.000 mld e xAI 250 mld; valori: modello dell'autore. Posizione finanziaria non ripartita</a:t>
            </a:r>
            <a:endParaRPr lang="en-US" sz="800" dirty="0"/>
          </a:p>
        </p:txBody>
      </p:sp>
      <p:pic>
        <p:nvPicPr>
          <p:cNvPr id="6" name="Image 0" descr="Valore da soli e quota del gruppo per gli azionisti SpaceX e xAI">    </p:cNvPr>
          <p:cNvPicPr>
            <a:picLocks noChangeAspect="1"/>
          </p:cNvPicPr>
          <p:nvPr/>
        </p:nvPicPr>
        <p:blipFill>
          <a:blip r:embed="rId1"/>
          <a:stretch>
            <a:fillRect/>
          </a:stretch>
        </p:blipFill>
        <p:spPr>
          <a:xfrm>
            <a:off x="411480" y="1828800"/>
            <a:ext cx="7772400" cy="4370832"/>
          </a:xfrm>
          <a:prstGeom prst="rect">
            <a:avLst/>
          </a:prstGeom>
        </p:spPr>
      </p:pic>
      <p:sp>
        <p:nvSpPr>
          <p:cNvPr id="7" name="Text 3"/>
          <p:cNvSpPr/>
          <p:nvPr/>
        </p:nvSpPr>
        <p:spPr>
          <a:xfrm>
            <a:off x="8595360" y="1920240"/>
            <a:ext cx="3200400" cy="868680"/>
          </a:xfrm>
          <a:prstGeom prst="rect">
            <a:avLst/>
          </a:prstGeom>
          <a:noFill/>
          <a:ln/>
        </p:spPr>
        <p:txBody>
          <a:bodyPr wrap="square" lIns="0" tIns="0" rIns="0" bIns="0" rtlCol="0" anchor="b"/>
          <a:lstStyle/>
          <a:p>
            <a:pPr indent="0" marL="0">
              <a:buNone/>
            </a:pPr>
            <a:r>
              <a:rPr lang="en-US" sz="5600" b="1" spc="-60" kern="0" dirty="0">
                <a:solidFill>
                  <a:srgbClr val="0B1F3A"/>
                </a:solidFill>
                <a:latin typeface="Inter Display" pitchFamily="34" charset="0"/>
                <a:ea typeface="Inter Display" pitchFamily="34" charset="-122"/>
                <a:cs typeface="Inter Display" pitchFamily="34" charset="-120"/>
              </a:rPr>
              <a:t>94%</a:t>
            </a:r>
            <a:endParaRPr lang="en-US" sz="5600" dirty="0"/>
          </a:p>
        </p:txBody>
      </p:sp>
      <p:sp>
        <p:nvSpPr>
          <p:cNvPr id="8" name="Text 4"/>
          <p:cNvSpPr/>
          <p:nvPr/>
        </p:nvSpPr>
        <p:spPr>
          <a:xfrm>
            <a:off x="8595360" y="2834640"/>
            <a:ext cx="3108960" cy="45720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delle sinergie nette agli azionisti SpaceX</a:t>
            </a:r>
            <a:endParaRPr lang="en-US" sz="1300" dirty="0"/>
          </a:p>
        </p:txBody>
      </p:sp>
      <p:sp>
        <p:nvSpPr>
          <p:cNvPr id="9" name="Text 5"/>
          <p:cNvSpPr/>
          <p:nvPr/>
        </p:nvSpPr>
        <p:spPr>
          <a:xfrm>
            <a:off x="8595360" y="3520440"/>
            <a:ext cx="3200400" cy="868680"/>
          </a:xfrm>
          <a:prstGeom prst="rect">
            <a:avLst/>
          </a:prstGeom>
          <a:noFill/>
          <a:ln/>
        </p:spPr>
        <p:txBody>
          <a:bodyPr wrap="square" lIns="0" tIns="0" rIns="0" bIns="0" rtlCol="0" anchor="b"/>
          <a:lstStyle/>
          <a:p>
            <a:pPr indent="0" marL="0">
              <a:buNone/>
            </a:pPr>
            <a:r>
              <a:rPr lang="en-US" sz="5600" b="1" spc="-60" kern="0" dirty="0">
                <a:solidFill>
                  <a:srgbClr val="0071E3"/>
                </a:solidFill>
                <a:latin typeface="Inter Display" pitchFamily="34" charset="0"/>
                <a:ea typeface="Inter Display" pitchFamily="34" charset="-122"/>
                <a:cs typeface="Inter Display" pitchFamily="34" charset="-120"/>
              </a:rPr>
              <a:t>26,3%</a:t>
            </a:r>
            <a:endParaRPr lang="en-US" sz="5600" dirty="0"/>
          </a:p>
        </p:txBody>
      </p:sp>
      <p:sp>
        <p:nvSpPr>
          <p:cNvPr id="10" name="Text 6"/>
          <p:cNvSpPr/>
          <p:nvPr/>
        </p:nvSpPr>
        <p:spPr>
          <a:xfrm>
            <a:off x="8595360" y="4434840"/>
            <a:ext cx="3108960" cy="457200"/>
          </a:xfrm>
          <a:prstGeom prst="rect">
            <a:avLst/>
          </a:prstGeom>
          <a:noFill/>
          <a:ln/>
        </p:spPr>
        <p:txBody>
          <a:bodyPr wrap="square" lIns="0" tIns="0" rIns="0" bIns="0" rtlCol="0" anchor="t"/>
          <a:lstStyle/>
          <a:p>
            <a:pPr indent="0" marL="0">
              <a:buNone/>
            </a:pPr>
            <a:r>
              <a:rPr lang="en-US" sz="1300" dirty="0">
                <a:solidFill>
                  <a:srgbClr val="6E6E73"/>
                </a:solidFill>
                <a:latin typeface="Inter" pitchFamily="34" charset="0"/>
                <a:ea typeface="Inter" pitchFamily="34" charset="-122"/>
                <a:cs typeface="Inter" pitchFamily="34" charset="-120"/>
              </a:rPr>
              <a:t>quota massima che SpaceX poteva cedere: ha ceduto il 20%</a:t>
            </a:r>
            <a:endParaRPr lang="en-US" sz="13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86868B"/>
                </a:solidFill>
                <a:latin typeface="D-DIN" pitchFamily="34" charset="0"/>
                <a:ea typeface="D-DIN" pitchFamily="34" charset="-122"/>
                <a:cs typeface="D-DIN" pitchFamily="34" charset="-120"/>
              </a:rPr>
              <a:t>IL PUNTO</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FFFFFF"/>
                </a:solidFill>
                <a:latin typeface="Inter Display" pitchFamily="34" charset="0"/>
                <a:ea typeface="Inter Display" pitchFamily="34" charset="-122"/>
                <a:cs typeface="Inter Display" pitchFamily="34" charset="-120"/>
              </a:rPr>
              <a:t>Il mercato non paga la probabilità, né l'unione. Paga un successo più grande.</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86868B"/>
                </a:solidFill>
                <a:latin typeface="Inter" pitchFamily="34" charset="0"/>
                <a:ea typeface="Inter" pitchFamily="34" charset="-122"/>
                <a:cs typeface="Inter" pitchFamily="34" charset="-120"/>
              </a:rPr>
              <a:t>Fonte: Modello dell'autore: moltiplicatore dei ricavi delle milestone e sinergie nette necessarie per arrivare al prezzo; prezzo: chiusura del 7/10/2026</a:t>
            </a:r>
            <a:endParaRPr lang="en-US" sz="800" dirty="0"/>
          </a:p>
        </p:txBody>
      </p:sp>
      <p:sp>
        <p:nvSpPr>
          <p:cNvPr id="6" name="Text 3"/>
          <p:cNvSpPr/>
          <p:nvPr/>
        </p:nvSpPr>
        <p:spPr>
          <a:xfrm>
            <a:off x="548640" y="2606040"/>
            <a:ext cx="2743200" cy="822960"/>
          </a:xfrm>
          <a:prstGeom prst="rect">
            <a:avLst/>
          </a:prstGeom>
          <a:noFill/>
          <a:ln/>
        </p:spPr>
        <p:txBody>
          <a:bodyPr wrap="square" lIns="0" tIns="0" rIns="0" bIns="0" rtlCol="0" anchor="b"/>
          <a:lstStyle/>
          <a:p>
            <a:pPr indent="0" marL="0">
              <a:buNone/>
            </a:pPr>
            <a:r>
              <a:rPr lang="en-US" sz="4600" b="1" spc="-60" kern="0" dirty="0">
                <a:solidFill>
                  <a:srgbClr val="86868B"/>
                </a:solidFill>
                <a:latin typeface="Inter Display" pitchFamily="34" charset="0"/>
                <a:ea typeface="Inter Display" pitchFamily="34" charset="-122"/>
                <a:cs typeface="Inter Display" pitchFamily="34" charset="-120"/>
              </a:rPr>
              <a:t>56,31 $</a:t>
            </a:r>
            <a:endParaRPr lang="en-US" sz="4600" dirty="0"/>
          </a:p>
        </p:txBody>
      </p:sp>
      <p:sp>
        <p:nvSpPr>
          <p:cNvPr id="7" name="Text 4"/>
          <p:cNvSpPr/>
          <p:nvPr/>
        </p:nvSpPr>
        <p:spPr>
          <a:xfrm>
            <a:off x="548640" y="3520440"/>
            <a:ext cx="2651760" cy="365760"/>
          </a:xfrm>
          <a:prstGeom prst="rect">
            <a:avLst/>
          </a:prstGeom>
          <a:noFill/>
          <a:ln/>
        </p:spPr>
        <p:txBody>
          <a:bodyPr wrap="square" lIns="0" tIns="0" rIns="0" bIns="0" rtlCol="0" anchor="t"/>
          <a:lstStyle/>
          <a:p>
            <a:pPr indent="0" marL="0">
              <a:buNone/>
            </a:pPr>
            <a:r>
              <a:rPr lang="en-US" sz="1400" dirty="0">
                <a:solidFill>
                  <a:srgbClr val="86868B"/>
                </a:solidFill>
                <a:latin typeface="Inter" pitchFamily="34" charset="0"/>
                <a:ea typeface="Inter" pitchFamily="34" charset="-122"/>
                <a:cs typeface="Inter" pitchFamily="34" charset="-120"/>
              </a:rPr>
              <a:t>tre imprese separate</a:t>
            </a:r>
            <a:endParaRPr lang="en-US" sz="1400" dirty="0"/>
          </a:p>
        </p:txBody>
      </p:sp>
      <p:sp>
        <p:nvSpPr>
          <p:cNvPr id="8" name="Text 5"/>
          <p:cNvSpPr/>
          <p:nvPr/>
        </p:nvSpPr>
        <p:spPr>
          <a:xfrm>
            <a:off x="3383280" y="2606040"/>
            <a:ext cx="2743200" cy="822960"/>
          </a:xfrm>
          <a:prstGeom prst="rect">
            <a:avLst/>
          </a:prstGeom>
          <a:noFill/>
          <a:ln/>
        </p:spPr>
        <p:txBody>
          <a:bodyPr wrap="square" lIns="0" tIns="0" rIns="0" bIns="0" rtlCol="0" anchor="b"/>
          <a:lstStyle/>
          <a:p>
            <a:pPr indent="0" marL="0">
              <a:buNone/>
            </a:pPr>
            <a:r>
              <a:rPr lang="en-US" sz="4600" b="1" spc="-60" kern="0" dirty="0">
                <a:solidFill>
                  <a:srgbClr val="FFFFFF"/>
                </a:solidFill>
                <a:latin typeface="Inter Display" pitchFamily="34" charset="0"/>
                <a:ea typeface="Inter Display" pitchFamily="34" charset="-122"/>
                <a:cs typeface="Inter Display" pitchFamily="34" charset="-120"/>
              </a:rPr>
              <a:t>60,06 $</a:t>
            </a:r>
            <a:endParaRPr lang="en-US" sz="4600" dirty="0"/>
          </a:p>
        </p:txBody>
      </p:sp>
      <p:sp>
        <p:nvSpPr>
          <p:cNvPr id="9" name="Text 6"/>
          <p:cNvSpPr/>
          <p:nvPr/>
        </p:nvSpPr>
        <p:spPr>
          <a:xfrm>
            <a:off x="3383280" y="3520440"/>
            <a:ext cx="2651760" cy="365760"/>
          </a:xfrm>
          <a:prstGeom prst="rect">
            <a:avLst/>
          </a:prstGeom>
          <a:noFill/>
          <a:ln/>
        </p:spPr>
        <p:txBody>
          <a:bodyPr wrap="square" lIns="0" tIns="0" rIns="0" bIns="0" rtlCol="0" anchor="t"/>
          <a:lstStyle/>
          <a:p>
            <a:pPr indent="0" marL="0">
              <a:buNone/>
            </a:pPr>
            <a:r>
              <a:rPr lang="en-US" sz="1400" dirty="0">
                <a:solidFill>
                  <a:srgbClr val="86868B"/>
                </a:solidFill>
                <a:latin typeface="Inter" pitchFamily="34" charset="0"/>
                <a:ea typeface="Inter" pitchFamily="34" charset="-122"/>
                <a:cs typeface="Inter" pitchFamily="34" charset="-120"/>
              </a:rPr>
              <a:t>il gruppo, con le sinergie</a:t>
            </a:r>
            <a:endParaRPr lang="en-US" sz="1400" dirty="0"/>
          </a:p>
        </p:txBody>
      </p:sp>
      <p:sp>
        <p:nvSpPr>
          <p:cNvPr id="10" name="Text 7"/>
          <p:cNvSpPr/>
          <p:nvPr/>
        </p:nvSpPr>
        <p:spPr>
          <a:xfrm>
            <a:off x="6217920" y="2606040"/>
            <a:ext cx="2743200" cy="822960"/>
          </a:xfrm>
          <a:prstGeom prst="rect">
            <a:avLst/>
          </a:prstGeom>
          <a:noFill/>
          <a:ln/>
        </p:spPr>
        <p:txBody>
          <a:bodyPr wrap="square" lIns="0" tIns="0" rIns="0" bIns="0" rtlCol="0" anchor="b"/>
          <a:lstStyle/>
          <a:p>
            <a:pPr indent="0" marL="0">
              <a:buNone/>
            </a:pPr>
            <a:r>
              <a:rPr lang="en-US" sz="4600" b="1" spc="-60" kern="0" dirty="0">
                <a:solidFill>
                  <a:srgbClr val="FFFFFF"/>
                </a:solidFill>
                <a:latin typeface="Inter Display" pitchFamily="34" charset="0"/>
                <a:ea typeface="Inter Display" pitchFamily="34" charset="-122"/>
                <a:cs typeface="Inter Display" pitchFamily="34" charset="-120"/>
              </a:rPr>
              <a:t>93,86 $</a:t>
            </a:r>
            <a:endParaRPr lang="en-US" sz="4600" dirty="0"/>
          </a:p>
        </p:txBody>
      </p:sp>
      <p:sp>
        <p:nvSpPr>
          <p:cNvPr id="11" name="Text 8"/>
          <p:cNvSpPr/>
          <p:nvPr/>
        </p:nvSpPr>
        <p:spPr>
          <a:xfrm>
            <a:off x="6217920" y="3520440"/>
            <a:ext cx="2651760" cy="365760"/>
          </a:xfrm>
          <a:prstGeom prst="rect">
            <a:avLst/>
          </a:prstGeom>
          <a:noFill/>
          <a:ln/>
        </p:spPr>
        <p:txBody>
          <a:bodyPr wrap="square" lIns="0" tIns="0" rIns="0" bIns="0" rtlCol="0" anchor="t"/>
          <a:lstStyle/>
          <a:p>
            <a:pPr indent="0" marL="0">
              <a:buNone/>
            </a:pPr>
            <a:r>
              <a:rPr lang="en-US" sz="1400" dirty="0">
                <a:solidFill>
                  <a:srgbClr val="86868B"/>
                </a:solidFill>
                <a:latin typeface="Inter" pitchFamily="34" charset="0"/>
                <a:ea typeface="Inter" pitchFamily="34" charset="-122"/>
                <a:cs typeface="Inter" pitchFamily="34" charset="-120"/>
              </a:rPr>
              <a:t>il gruppo, tutte le milestone riuscite</a:t>
            </a:r>
            <a:endParaRPr lang="en-US" sz="1400" dirty="0"/>
          </a:p>
        </p:txBody>
      </p:sp>
      <p:sp>
        <p:nvSpPr>
          <p:cNvPr id="12" name="Text 9"/>
          <p:cNvSpPr/>
          <p:nvPr/>
        </p:nvSpPr>
        <p:spPr>
          <a:xfrm>
            <a:off x="9052560" y="2606040"/>
            <a:ext cx="2743200" cy="822960"/>
          </a:xfrm>
          <a:prstGeom prst="rect">
            <a:avLst/>
          </a:prstGeom>
          <a:noFill/>
          <a:ln/>
        </p:spPr>
        <p:txBody>
          <a:bodyPr wrap="square" lIns="0" tIns="0" rIns="0" bIns="0" rtlCol="0" anchor="b"/>
          <a:lstStyle/>
          <a:p>
            <a:pPr indent="0" marL="0">
              <a:buNone/>
            </a:pPr>
            <a:r>
              <a:rPr lang="en-US" sz="4600" b="1" spc="-60" kern="0" dirty="0">
                <a:solidFill>
                  <a:srgbClr val="FFB340"/>
                </a:solidFill>
                <a:latin typeface="Inter Display" pitchFamily="34" charset="0"/>
                <a:ea typeface="Inter Display" pitchFamily="34" charset="-122"/>
                <a:cs typeface="Inter Display" pitchFamily="34" charset="-120"/>
              </a:rPr>
              <a:t>167,60 $</a:t>
            </a:r>
            <a:endParaRPr lang="en-US" sz="4600" dirty="0"/>
          </a:p>
        </p:txBody>
      </p:sp>
      <p:sp>
        <p:nvSpPr>
          <p:cNvPr id="13" name="Text 10"/>
          <p:cNvSpPr/>
          <p:nvPr/>
        </p:nvSpPr>
        <p:spPr>
          <a:xfrm>
            <a:off x="9052560" y="3520440"/>
            <a:ext cx="2651760" cy="365760"/>
          </a:xfrm>
          <a:prstGeom prst="rect">
            <a:avLst/>
          </a:prstGeom>
          <a:noFill/>
          <a:ln/>
        </p:spPr>
        <p:txBody>
          <a:bodyPr wrap="square" lIns="0" tIns="0" rIns="0" bIns="0" rtlCol="0" anchor="t"/>
          <a:lstStyle/>
          <a:p>
            <a:pPr indent="0" marL="0">
              <a:buNone/>
            </a:pPr>
            <a:r>
              <a:rPr lang="en-US" sz="1400" dirty="0">
                <a:solidFill>
                  <a:srgbClr val="86868B"/>
                </a:solidFill>
                <a:latin typeface="Inter" pitchFamily="34" charset="0"/>
                <a:ea typeface="Inter" pitchFamily="34" charset="-122"/>
                <a:cs typeface="Inter" pitchFamily="34" charset="-120"/>
              </a:rPr>
              <a:t>prezzo di mercato, 7/10/2026</a:t>
            </a:r>
            <a:endParaRPr lang="en-US" sz="1400" dirty="0"/>
          </a:p>
        </p:txBody>
      </p:sp>
      <p:sp>
        <p:nvSpPr>
          <p:cNvPr id="14" name="Text 11"/>
          <p:cNvSpPr/>
          <p:nvPr/>
        </p:nvSpPr>
        <p:spPr>
          <a:xfrm>
            <a:off x="548640" y="4206240"/>
            <a:ext cx="3291840" cy="1645920"/>
          </a:xfrm>
          <a:prstGeom prst="rect">
            <a:avLst/>
          </a:prstGeom>
          <a:noFill/>
          <a:ln/>
        </p:spPr>
        <p:txBody>
          <a:bodyPr wrap="square" lIns="0" tIns="0" rIns="0" bIns="0" rtlCol="0" anchor="b"/>
          <a:lstStyle/>
          <a:p>
            <a:pPr indent="0" marL="0">
              <a:buNone/>
            </a:pPr>
            <a:r>
              <a:rPr lang="en-US" sz="12000" b="1" spc="-60" kern="0" dirty="0">
                <a:solidFill>
                  <a:srgbClr val="FFB340"/>
                </a:solidFill>
                <a:latin typeface="Inter Display" pitchFamily="34" charset="0"/>
                <a:ea typeface="Inter Display" pitchFamily="34" charset="-122"/>
                <a:cs typeface="Inter Display" pitchFamily="34" charset="-120"/>
              </a:rPr>
              <a:t>31x</a:t>
            </a:r>
            <a:endParaRPr lang="en-US" sz="12000" dirty="0"/>
          </a:p>
        </p:txBody>
      </p:sp>
      <p:sp>
        <p:nvSpPr>
          <p:cNvPr id="15" name="Text 12"/>
          <p:cNvSpPr/>
          <p:nvPr/>
        </p:nvSpPr>
        <p:spPr>
          <a:xfrm>
            <a:off x="3931920" y="4572000"/>
            <a:ext cx="7589520" cy="1097280"/>
          </a:xfrm>
          <a:prstGeom prst="rect">
            <a:avLst/>
          </a:prstGeom>
          <a:noFill/>
          <a:ln/>
        </p:spPr>
        <p:txBody>
          <a:bodyPr wrap="square" lIns="0" tIns="0" rIns="0" bIns="0" rtlCol="0" anchor="t"/>
          <a:lstStyle/>
          <a:p>
            <a:pPr indent="0" marL="0">
              <a:buNone/>
            </a:pPr>
            <a:r>
              <a:rPr lang="en-US" sz="2000" dirty="0">
                <a:solidFill>
                  <a:srgbClr val="FFFFFF"/>
                </a:solidFill>
                <a:latin typeface="Inter" pitchFamily="34" charset="0"/>
                <a:ea typeface="Inter" pitchFamily="34" charset="-122"/>
                <a:cs typeface="Inter" pitchFamily="34" charset="-120"/>
              </a:rPr>
              <a:t>le sinergie che servirebbero per arrivare al prezzo, rispetto a quelle stimate. Con le probabilità: ricavi delle milestone circa 5x il caso di successo.</a:t>
            </a:r>
            <a:endParaRPr lang="en-US" sz="20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6868B"/>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86868B"/>
                </a:solidFill>
                <a:latin typeface="D-DIN" pitchFamily="34" charset="0"/>
                <a:ea typeface="D-DIN" pitchFamily="34" charset="-122"/>
                <a:cs typeface="D-DIN" pitchFamily="34" charset="-120"/>
              </a:rPr>
              <a:t>IN UNA FRASE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FFFFFF"/>
                </a:solidFill>
                <a:latin typeface="Inter Display" pitchFamily="34" charset="0"/>
                <a:ea typeface="Inter Display" pitchFamily="34" charset="-122"/>
                <a:cs typeface="Inter Display" pitchFamily="34" charset="-120"/>
              </a:rPr>
              <a:t>Tre imprese, un gruppo, un prezzo</a:t>
            </a:r>
            <a:endParaRPr lang="en-US" sz="4000" dirty="0"/>
          </a:p>
        </p:txBody>
      </p:sp>
      <p:sp>
        <p:nvSpPr>
          <p:cNvPr id="5" name="Text 2"/>
          <p:cNvSpPr/>
          <p:nvPr/>
        </p:nvSpPr>
        <p:spPr>
          <a:xfrm>
            <a:off x="548640" y="2103120"/>
            <a:ext cx="11064240" cy="1737360"/>
          </a:xfrm>
          <a:prstGeom prst="rect">
            <a:avLst/>
          </a:prstGeom>
          <a:noFill/>
          <a:ln/>
        </p:spPr>
        <p:txBody>
          <a:bodyPr wrap="square" lIns="0" tIns="0" rIns="0" bIns="0" rtlCol="0" anchor="t"/>
          <a:lstStyle/>
          <a:p>
            <a:pPr indent="0" marL="0">
              <a:lnSpc>
                <a:spcPct val="105000"/>
              </a:lnSpc>
              <a:buNone/>
            </a:pPr>
            <a:r>
              <a:rPr lang="en-US" sz="3000" b="1" spc="-40" kern="0" dirty="0">
                <a:solidFill>
                  <a:srgbClr val="FFFFFF"/>
                </a:solidFill>
                <a:latin typeface="Inter Display" pitchFamily="34" charset="0"/>
                <a:ea typeface="Inter Display" pitchFamily="34" charset="-122"/>
                <a:cs typeface="Inter Display" pitchFamily="34" charset="-120"/>
              </a:rPr>
              <a:t>Separate valgono 56 $, unite 60 $: l'insieme vale di più, grazie a Starship e Starlink. Il prezzo di 167,60 $ chiede molto più dell'unione.</a:t>
            </a:r>
            <a:endParaRPr lang="en-US" sz="3000" dirty="0"/>
          </a:p>
        </p:txBody>
      </p:sp>
      <p:sp>
        <p:nvSpPr>
          <p:cNvPr id="6" name="Text 3"/>
          <p:cNvSpPr/>
          <p:nvPr/>
        </p:nvSpPr>
        <p:spPr>
          <a:xfrm>
            <a:off x="548640" y="4069080"/>
            <a:ext cx="3566160" cy="1188720"/>
          </a:xfrm>
          <a:prstGeom prst="rect">
            <a:avLst/>
          </a:prstGeom>
          <a:noFill/>
          <a:ln/>
        </p:spPr>
        <p:txBody>
          <a:bodyPr wrap="square" lIns="0" tIns="0" rIns="0" bIns="0" rtlCol="0" anchor="b"/>
          <a:lstStyle/>
          <a:p>
            <a:pPr indent="0" marL="0">
              <a:buNone/>
            </a:pPr>
            <a:r>
              <a:rPr lang="en-US" sz="8000" b="1" spc="-60" kern="0" dirty="0">
                <a:solidFill>
                  <a:srgbClr val="2997FF"/>
                </a:solidFill>
                <a:latin typeface="Inter Display" pitchFamily="34" charset="0"/>
                <a:ea typeface="Inter Display" pitchFamily="34" charset="-122"/>
                <a:cs typeface="Inter Display" pitchFamily="34" charset="-120"/>
              </a:rPr>
              <a:t>+50</a:t>
            </a:r>
            <a:endParaRPr lang="en-US" sz="8000" dirty="0"/>
          </a:p>
        </p:txBody>
      </p:sp>
      <p:sp>
        <p:nvSpPr>
          <p:cNvPr id="7" name="Text 4"/>
          <p:cNvSpPr/>
          <p:nvPr/>
        </p:nvSpPr>
        <p:spPr>
          <a:xfrm>
            <a:off x="548640" y="5349240"/>
            <a:ext cx="3566160" cy="36576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mld di sinergie nette</a:t>
            </a:r>
            <a:endParaRPr lang="en-US" sz="1500" dirty="0"/>
          </a:p>
        </p:txBody>
      </p:sp>
      <p:sp>
        <p:nvSpPr>
          <p:cNvPr id="8" name="Text 5"/>
          <p:cNvSpPr/>
          <p:nvPr/>
        </p:nvSpPr>
        <p:spPr>
          <a:xfrm>
            <a:off x="4343400" y="4069080"/>
            <a:ext cx="3566160" cy="1188720"/>
          </a:xfrm>
          <a:prstGeom prst="rect">
            <a:avLst/>
          </a:prstGeom>
          <a:noFill/>
          <a:ln/>
        </p:spPr>
        <p:txBody>
          <a:bodyPr wrap="square" lIns="0" tIns="0" rIns="0" bIns="0" rtlCol="0" anchor="b"/>
          <a:lstStyle/>
          <a:p>
            <a:pPr indent="0" marL="0">
              <a:buNone/>
            </a:pPr>
            <a:r>
              <a:rPr lang="en-US" sz="8000" b="1" spc="-60" kern="0" dirty="0">
                <a:solidFill>
                  <a:srgbClr val="FFFFFF"/>
                </a:solidFill>
                <a:latin typeface="Inter Display" pitchFamily="34" charset="0"/>
                <a:ea typeface="Inter Display" pitchFamily="34" charset="-122"/>
                <a:cs typeface="Inter Display" pitchFamily="34" charset="-120"/>
              </a:rPr>
              <a:t>+7%</a:t>
            </a:r>
            <a:endParaRPr lang="en-US" sz="8000" dirty="0"/>
          </a:p>
        </p:txBody>
      </p:sp>
      <p:sp>
        <p:nvSpPr>
          <p:cNvPr id="9" name="Text 6"/>
          <p:cNvSpPr/>
          <p:nvPr/>
        </p:nvSpPr>
        <p:spPr>
          <a:xfrm>
            <a:off x="4343400" y="5349240"/>
            <a:ext cx="3566160" cy="36576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premio del gruppo sulle parti</a:t>
            </a:r>
            <a:endParaRPr lang="en-US" sz="1500" dirty="0"/>
          </a:p>
        </p:txBody>
      </p:sp>
      <p:sp>
        <p:nvSpPr>
          <p:cNvPr id="10" name="Text 7"/>
          <p:cNvSpPr/>
          <p:nvPr/>
        </p:nvSpPr>
        <p:spPr>
          <a:xfrm>
            <a:off x="8138160" y="4069080"/>
            <a:ext cx="3566160" cy="1188720"/>
          </a:xfrm>
          <a:prstGeom prst="rect">
            <a:avLst/>
          </a:prstGeom>
          <a:noFill/>
          <a:ln/>
        </p:spPr>
        <p:txBody>
          <a:bodyPr wrap="square" lIns="0" tIns="0" rIns="0" bIns="0" rtlCol="0" anchor="b"/>
          <a:lstStyle/>
          <a:p>
            <a:pPr indent="0" marL="0">
              <a:buNone/>
            </a:pPr>
            <a:r>
              <a:rPr lang="en-US" sz="8000" b="1" spc="-60" kern="0" dirty="0">
                <a:solidFill>
                  <a:srgbClr val="FFB340"/>
                </a:solidFill>
                <a:latin typeface="Inter Display" pitchFamily="34" charset="0"/>
                <a:ea typeface="Inter Display" pitchFamily="34" charset="-122"/>
                <a:cs typeface="Inter Display" pitchFamily="34" charset="-120"/>
              </a:rPr>
              <a:t>+117%</a:t>
            </a:r>
            <a:endParaRPr lang="en-US" sz="8000" dirty="0"/>
          </a:p>
        </p:txBody>
      </p:sp>
      <p:sp>
        <p:nvSpPr>
          <p:cNvPr id="11" name="Text 8"/>
          <p:cNvSpPr/>
          <p:nvPr/>
        </p:nvSpPr>
        <p:spPr>
          <a:xfrm>
            <a:off x="8138160" y="5349240"/>
            <a:ext cx="3566160" cy="365760"/>
          </a:xfrm>
          <a:prstGeom prst="rect">
            <a:avLst/>
          </a:prstGeom>
          <a:noFill/>
          <a:ln/>
        </p:spPr>
        <p:txBody>
          <a:bodyPr wrap="square" lIns="0" tIns="0" rIns="0" bIns="0" rtlCol="0" anchor="t"/>
          <a:lstStyle/>
          <a:p>
            <a:pPr indent="0" marL="0">
              <a:buNone/>
            </a:pPr>
            <a:r>
              <a:rPr lang="en-US" sz="1500" dirty="0">
                <a:solidFill>
                  <a:srgbClr val="86868B"/>
                </a:solidFill>
                <a:latin typeface="Inter" pitchFamily="34" charset="0"/>
                <a:ea typeface="Inter" pitchFamily="34" charset="-122"/>
                <a:cs typeface="Inter" pitchFamily="34" charset="-120"/>
              </a:rPr>
              <a:t>premio che chiede il prezzo</a:t>
            </a:r>
            <a:endParaRPr lang="en-US" sz="1500" dirty="0"/>
          </a:p>
        </p:txBody>
      </p:sp>
      <p:pic>
        <p:nvPicPr>
          <p:cNvPr id="12" name="Image 0" descr="QR code delle fonti">    </p:cNvPr>
          <p:cNvPicPr>
            <a:picLocks noChangeAspect="1"/>
          </p:cNvPicPr>
          <p:nvPr/>
        </p:nvPicPr>
        <p:blipFill>
          <a:blip r:embed="rId1"/>
          <a:stretch>
            <a:fillRect/>
          </a:stretch>
        </p:blipFill>
        <p:spPr>
          <a:xfrm>
            <a:off x="10972800" y="457200"/>
            <a:ext cx="868680" cy="868680"/>
          </a:xfrm>
          <a:prstGeom prst="rect">
            <a:avLst/>
          </a:prstGeom>
        </p:spPr>
      </p:pic>
      <p:sp>
        <p:nvSpPr>
          <p:cNvPr id="13"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endParaRPr lang="en-US" sz="8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86868B"/>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FONTI E DOCUMENTI</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Tutte le fonti, il report e il modello Excel</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Sito del lavoro: gherardo200-glitch.github.io/spacex-valutazione</a:t>
            </a:r>
            <a:endParaRPr lang="en-US" sz="800" dirty="0"/>
          </a:p>
        </p:txBody>
      </p:sp>
      <p:pic>
        <p:nvPicPr>
          <p:cNvPr id="6" name="Image 0" descr="QR code della pagina delle fonti">    </p:cNvPr>
          <p:cNvPicPr>
            <a:picLocks noChangeAspect="1"/>
          </p:cNvPicPr>
          <p:nvPr/>
        </p:nvPicPr>
        <p:blipFill>
          <a:blip r:embed="rId1"/>
          <a:stretch>
            <a:fillRect/>
          </a:stretch>
        </p:blipFill>
        <p:spPr>
          <a:xfrm>
            <a:off x="548640" y="1828800"/>
            <a:ext cx="4023360" cy="4023360"/>
          </a:xfrm>
          <a:prstGeom prst="rect">
            <a:avLst/>
          </a:prstGeom>
        </p:spPr>
      </p:pic>
      <p:sp>
        <p:nvSpPr>
          <p:cNvPr id="7" name="Text 3"/>
          <p:cNvSpPr/>
          <p:nvPr/>
        </p:nvSpPr>
        <p:spPr>
          <a:xfrm>
            <a:off x="5120640" y="1920240"/>
            <a:ext cx="6400800" cy="411480"/>
          </a:xfrm>
          <a:prstGeom prst="rect">
            <a:avLst/>
          </a:prstGeom>
          <a:noFill/>
          <a:ln/>
        </p:spPr>
        <p:txBody>
          <a:bodyPr wrap="square" lIns="0" tIns="0" rIns="0" bIns="0" rtlCol="0" anchor="t"/>
          <a:lstStyle/>
          <a:p>
            <a:pPr indent="0" marL="0">
              <a:buNone/>
            </a:pPr>
            <a:r>
              <a:rPr lang="en-US" sz="2400" b="1" spc="-60" kern="0" dirty="0">
                <a:solidFill>
                  <a:srgbClr val="1D1D1F"/>
                </a:solidFill>
                <a:latin typeface="Inter Display" pitchFamily="34" charset="0"/>
                <a:ea typeface="Inter Display" pitchFamily="34" charset="-122"/>
                <a:cs typeface="Inter Display" pitchFamily="34" charset="-120"/>
              </a:rPr>
              <a:t>Fonti</a:t>
            </a:r>
            <a:endParaRPr lang="en-US" sz="2400" dirty="0"/>
          </a:p>
        </p:txBody>
      </p:sp>
      <p:sp>
        <p:nvSpPr>
          <p:cNvPr id="8" name="Text 4"/>
          <p:cNvSpPr/>
          <p:nvPr/>
        </p:nvSpPr>
        <p:spPr>
          <a:xfrm>
            <a:off x="5120640" y="2331720"/>
            <a:ext cx="6400800" cy="365760"/>
          </a:xfrm>
          <a:prstGeom prst="rect">
            <a:avLst/>
          </a:prstGeom>
          <a:noFill/>
          <a:ln/>
        </p:spPr>
        <p:txBody>
          <a:bodyPr wrap="square" lIns="0" tIns="0" rIns="0" bIns="0" rtlCol="0" anchor="t"/>
          <a:lstStyle/>
          <a:p>
            <a:pPr indent="0" marL="0">
              <a:buNone/>
            </a:pPr>
            <a:r>
              <a:rPr lang="en-US" sz="1400" dirty="0">
                <a:solidFill>
                  <a:srgbClr val="6E6E73"/>
                </a:solidFill>
                <a:latin typeface="Inter" pitchFamily="34" charset="0"/>
                <a:ea typeface="Inter" pitchFamily="34" charset="-122"/>
                <a:cs typeface="Inter" pitchFamily="34" charset="-120"/>
              </a:rPr>
              <a:t>documenti SEC, prezzi di mercato, articoli accademici, analisti e stampa, con i link</a:t>
            </a:r>
            <a:endParaRPr lang="en-US" sz="1400" dirty="0"/>
          </a:p>
        </p:txBody>
      </p:sp>
      <p:sp>
        <p:nvSpPr>
          <p:cNvPr id="9" name="Text 5"/>
          <p:cNvSpPr/>
          <p:nvPr/>
        </p:nvSpPr>
        <p:spPr>
          <a:xfrm>
            <a:off x="5120640" y="2834640"/>
            <a:ext cx="6400800" cy="411480"/>
          </a:xfrm>
          <a:prstGeom prst="rect">
            <a:avLst/>
          </a:prstGeom>
          <a:noFill/>
          <a:ln/>
        </p:spPr>
        <p:txBody>
          <a:bodyPr wrap="square" lIns="0" tIns="0" rIns="0" bIns="0" rtlCol="0" anchor="t"/>
          <a:lstStyle/>
          <a:p>
            <a:pPr indent="0" marL="0">
              <a:buNone/>
            </a:pPr>
            <a:r>
              <a:rPr lang="en-US" sz="2400" b="1" spc="-60" kern="0" dirty="0">
                <a:solidFill>
                  <a:srgbClr val="1D1D1F"/>
                </a:solidFill>
                <a:latin typeface="Inter Display" pitchFamily="34" charset="0"/>
                <a:ea typeface="Inter Display" pitchFamily="34" charset="-122"/>
                <a:cs typeface="Inter Display" pitchFamily="34" charset="-120"/>
              </a:rPr>
              <a:t>Report</a:t>
            </a:r>
            <a:endParaRPr lang="en-US" sz="2400" dirty="0"/>
          </a:p>
        </p:txBody>
      </p:sp>
      <p:sp>
        <p:nvSpPr>
          <p:cNvPr id="10" name="Text 6"/>
          <p:cNvSpPr/>
          <p:nvPr/>
        </p:nvSpPr>
        <p:spPr>
          <a:xfrm>
            <a:off x="5120640" y="3246120"/>
            <a:ext cx="6400800" cy="365760"/>
          </a:xfrm>
          <a:prstGeom prst="rect">
            <a:avLst/>
          </a:prstGeom>
          <a:noFill/>
          <a:ln/>
        </p:spPr>
        <p:txBody>
          <a:bodyPr wrap="square" lIns="0" tIns="0" rIns="0" bIns="0" rtlCol="0" anchor="t"/>
          <a:lstStyle/>
          <a:p>
            <a:pPr indent="0" marL="0">
              <a:buNone/>
            </a:pPr>
            <a:r>
              <a:rPr lang="en-US" sz="1400" dirty="0">
                <a:solidFill>
                  <a:srgbClr val="6E6E73"/>
                </a:solidFill>
                <a:latin typeface="Inter" pitchFamily="34" charset="0"/>
                <a:ea typeface="Inter" pitchFamily="34" charset="-122"/>
                <a:cs typeface="Inter" pitchFamily="34" charset="-120"/>
              </a:rPr>
              <a:t>il caso completo, 30 pagine, con tutti gli esibiti</a:t>
            </a:r>
            <a:endParaRPr lang="en-US" sz="1400" dirty="0"/>
          </a:p>
        </p:txBody>
      </p:sp>
      <p:sp>
        <p:nvSpPr>
          <p:cNvPr id="11" name="Text 7"/>
          <p:cNvSpPr/>
          <p:nvPr/>
        </p:nvSpPr>
        <p:spPr>
          <a:xfrm>
            <a:off x="5120640" y="3749040"/>
            <a:ext cx="6400800" cy="411480"/>
          </a:xfrm>
          <a:prstGeom prst="rect">
            <a:avLst/>
          </a:prstGeom>
          <a:noFill/>
          <a:ln/>
        </p:spPr>
        <p:txBody>
          <a:bodyPr wrap="square" lIns="0" tIns="0" rIns="0" bIns="0" rtlCol="0" anchor="t"/>
          <a:lstStyle/>
          <a:p>
            <a:pPr indent="0" marL="0">
              <a:buNone/>
            </a:pPr>
            <a:r>
              <a:rPr lang="en-US" sz="2400" b="1" spc="-60" kern="0" dirty="0">
                <a:solidFill>
                  <a:srgbClr val="1D1D1F"/>
                </a:solidFill>
                <a:latin typeface="Inter Display" pitchFamily="34" charset="0"/>
                <a:ea typeface="Inter Display" pitchFamily="34" charset="-122"/>
                <a:cs typeface="Inter Display" pitchFamily="34" charset="-120"/>
              </a:rPr>
              <a:t>Presentazione</a:t>
            </a:r>
            <a:endParaRPr lang="en-US" sz="2400" dirty="0"/>
          </a:p>
        </p:txBody>
      </p:sp>
      <p:sp>
        <p:nvSpPr>
          <p:cNvPr id="12" name="Text 8"/>
          <p:cNvSpPr/>
          <p:nvPr/>
        </p:nvSpPr>
        <p:spPr>
          <a:xfrm>
            <a:off x="5120640" y="4160520"/>
            <a:ext cx="6400800" cy="365760"/>
          </a:xfrm>
          <a:prstGeom prst="rect">
            <a:avLst/>
          </a:prstGeom>
          <a:noFill/>
          <a:ln/>
        </p:spPr>
        <p:txBody>
          <a:bodyPr wrap="square" lIns="0" tIns="0" rIns="0" bIns="0" rtlCol="0" anchor="t"/>
          <a:lstStyle/>
          <a:p>
            <a:pPr indent="0" marL="0">
              <a:buNone/>
            </a:pPr>
            <a:r>
              <a:rPr lang="en-US" sz="1400" dirty="0">
                <a:solidFill>
                  <a:srgbClr val="6E6E73"/>
                </a:solidFill>
                <a:latin typeface="Inter" pitchFamily="34" charset="0"/>
                <a:ea typeface="Inter" pitchFamily="34" charset="-122"/>
                <a:cs typeface="Inter" pitchFamily="34" charset="-120"/>
              </a:rPr>
              <a:t>questa presentazione, in PowerPoint e PDF</a:t>
            </a:r>
            <a:endParaRPr lang="en-US" sz="1400" dirty="0"/>
          </a:p>
        </p:txBody>
      </p:sp>
      <p:sp>
        <p:nvSpPr>
          <p:cNvPr id="13" name="Text 9"/>
          <p:cNvSpPr/>
          <p:nvPr/>
        </p:nvSpPr>
        <p:spPr>
          <a:xfrm>
            <a:off x="5120640" y="4663440"/>
            <a:ext cx="6400800" cy="411480"/>
          </a:xfrm>
          <a:prstGeom prst="rect">
            <a:avLst/>
          </a:prstGeom>
          <a:noFill/>
          <a:ln/>
        </p:spPr>
        <p:txBody>
          <a:bodyPr wrap="square" lIns="0" tIns="0" rIns="0" bIns="0" rtlCol="0" anchor="t"/>
          <a:lstStyle/>
          <a:p>
            <a:pPr indent="0" marL="0">
              <a:buNone/>
            </a:pPr>
            <a:r>
              <a:rPr lang="en-US" sz="2400" b="1" spc="-60" kern="0" dirty="0">
                <a:solidFill>
                  <a:srgbClr val="1D1D1F"/>
                </a:solidFill>
                <a:latin typeface="Inter Display" pitchFamily="34" charset="0"/>
                <a:ea typeface="Inter Display" pitchFamily="34" charset="-122"/>
                <a:cs typeface="Inter Display" pitchFamily="34" charset="-120"/>
              </a:rPr>
              <a:t>Modello Excel</a:t>
            </a:r>
            <a:endParaRPr lang="en-US" sz="2400" dirty="0"/>
          </a:p>
        </p:txBody>
      </p:sp>
      <p:sp>
        <p:nvSpPr>
          <p:cNvPr id="14" name="Text 10"/>
          <p:cNvSpPr/>
          <p:nvPr/>
        </p:nvSpPr>
        <p:spPr>
          <a:xfrm>
            <a:off x="5120640" y="5074920"/>
            <a:ext cx="6400800" cy="365760"/>
          </a:xfrm>
          <a:prstGeom prst="rect">
            <a:avLst/>
          </a:prstGeom>
          <a:noFill/>
          <a:ln/>
        </p:spPr>
        <p:txBody>
          <a:bodyPr wrap="square" lIns="0" tIns="0" rIns="0" bIns="0" rtlCol="0" anchor="t"/>
          <a:lstStyle/>
          <a:p>
            <a:pPr indent="0" marL="0">
              <a:buNone/>
            </a:pPr>
            <a:r>
              <a:rPr lang="en-US" sz="1400" dirty="0">
                <a:solidFill>
                  <a:srgbClr val="6E6E73"/>
                </a:solidFill>
                <a:latin typeface="Inter" pitchFamily="34" charset="0"/>
                <a:ea typeface="Inter" pitchFamily="34" charset="-122"/>
                <a:cs typeface="Inter" pitchFamily="34" charset="-120"/>
              </a:rPr>
              <a:t>13 fogli, 1.945 formule, ogni input con la sua fonte</a:t>
            </a:r>
            <a:endParaRPr lang="en-US" sz="1400" dirty="0"/>
          </a:p>
        </p:txBody>
      </p:sp>
      <p:sp>
        <p:nvSpPr>
          <p:cNvPr id="15" name="Text 11"/>
          <p:cNvSpPr/>
          <p:nvPr/>
        </p:nvSpPr>
        <p:spPr>
          <a:xfrm>
            <a:off x="5120640" y="5715000"/>
            <a:ext cx="6583680" cy="365760"/>
          </a:xfrm>
          <a:prstGeom prst="rect">
            <a:avLst/>
          </a:prstGeom>
          <a:noFill/>
          <a:ln/>
        </p:spPr>
        <p:txBody>
          <a:bodyPr wrap="square" lIns="0" tIns="0" rIns="0" bIns="0" rtlCol="0" anchor="t"/>
          <a:lstStyle/>
          <a:p>
            <a:pPr indent="0" marL="0">
              <a:buNone/>
            </a:pPr>
            <a:r>
              <a:rPr lang="en-US" sz="1600" b="1" dirty="0">
                <a:solidFill>
                  <a:srgbClr val="0071E3"/>
                </a:solidFill>
                <a:latin typeface="Inter" pitchFamily="34" charset="0"/>
                <a:ea typeface="Inter" pitchFamily="34" charset="-122"/>
                <a:cs typeface="Inter" pitchFamily="34" charset="-120"/>
              </a:rPr>
              <a:t>gherardo200-glitch.github.io/spacex-valutazione</a:t>
            </a:r>
            <a:endParaRPr lang="en-US" sz="16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APPENDICE  |  METODO</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Il rischio si conta una volta sola</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Stewart, Allison e Johnson (2001); Myers e Howe (1997); Berk, Green e Naik (2004); beta bottom-up: Damodaran, Betas by Sector (US), gennaio 2026</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377440"/>
                <a:gridCol w="1737360"/>
                <a:gridCol w="1737360"/>
                <a:gridCol w="1828800"/>
                <a:gridCol w="1828800"/>
                <a:gridCol w="1554480"/>
              </a:tblGrid>
              <a:tr h="548640">
                <a:tc>
                  <a:txBody>
                    <a:bodyPr/>
                    <a:lstStyle/>
                    <a:p>
                      <a:pPr algn="l" indent="0" marL="0">
                        <a:buNone/>
                      </a:pPr>
                      <a:r>
                        <a:rPr lang="en-US" sz="1100" spc="200" kern="0" dirty="0">
                          <a:solidFill>
                            <a:srgbClr val="6E6E73"/>
                          </a:solidFill>
                          <a:latin typeface="D-DIN" pitchFamily="34" charset="0"/>
                          <a:ea typeface="D-DIN" pitchFamily="34" charset="-122"/>
                          <a:cs typeface="D-DIN" pitchFamily="34" charset="-120"/>
                        </a:rPr>
                        <a:t>SEGMENTO</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BETA PRIMA</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BETA DOPO</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WACC PRIMA</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WACC DOPO</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SBLOCCO</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48640">
                <a:tc>
                  <a:txBody>
                    <a:bodyPr/>
                    <a:lstStyle/>
                    <a:p>
                      <a:pPr algn="l" indent="0" marL="0">
                        <a:buNone/>
                      </a:pPr>
                      <a:r>
                        <a:rPr lang="en-US" sz="2000" dirty="0">
                          <a:solidFill>
                            <a:srgbClr val="1D1D1F"/>
                          </a:solidFill>
                          <a:latin typeface="Inter" pitchFamily="34" charset="0"/>
                          <a:ea typeface="Inter" pitchFamily="34" charset="-122"/>
                          <a:cs typeface="Inter" pitchFamily="34" charset="-120"/>
                        </a:rPr>
                        <a:t>Space</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1,25</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0,822</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10,6%</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8,8%</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2028</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48640">
                <a:tc>
                  <a:txBody>
                    <a:bodyPr/>
                    <a:lstStyle/>
                    <a:p>
                      <a:pPr algn="l" indent="0" marL="0">
                        <a:buNone/>
                      </a:pPr>
                      <a:r>
                        <a:rPr lang="en-US" sz="2000" dirty="0">
                          <a:solidFill>
                            <a:srgbClr val="1D1D1F"/>
                          </a:solidFill>
                          <a:latin typeface="Inter" pitchFamily="34" charset="0"/>
                          <a:ea typeface="Inter" pitchFamily="34" charset="-122"/>
                          <a:cs typeface="Inter" pitchFamily="34" charset="-120"/>
                        </a:rPr>
                        <a:t>Starlink</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1,00</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0,469</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9,6%</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7,4%</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2028</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48640">
                <a:tc>
                  <a:txBody>
                    <a:bodyPr/>
                    <a:lstStyle/>
                    <a:p>
                      <a:pPr algn="l" indent="0" marL="0">
                        <a:buNone/>
                      </a:pPr>
                      <a:r>
                        <a:rPr lang="en-US" sz="2000" dirty="0">
                          <a:solidFill>
                            <a:srgbClr val="1D1D1F"/>
                          </a:solidFill>
                          <a:latin typeface="Inter" pitchFamily="34" charset="0"/>
                          <a:ea typeface="Inter" pitchFamily="34" charset="-122"/>
                          <a:cs typeface="Inter" pitchFamily="34" charset="-120"/>
                        </a:rPr>
                        <a:t>AI</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1,60</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1,227</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12,1%</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10,5%</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2000" dirty="0">
                          <a:solidFill>
                            <a:srgbClr val="1D1D1F"/>
                          </a:solidFill>
                          <a:latin typeface="Inter" pitchFamily="34" charset="0"/>
                          <a:ea typeface="Inter" pitchFamily="34" charset="-122"/>
                          <a:cs typeface="Inter" pitchFamily="34" charset="-120"/>
                        </a:rPr>
                        <a:t>2029</a:t>
                      </a:r>
                      <a:endParaRPr lang="en-US" sz="20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bl>
          </a:graphicData>
        </a:graphic>
      </p:graphicFrame>
      <p:sp>
        <p:nvSpPr>
          <p:cNvPr id="7" name="Text 3"/>
          <p:cNvSpPr/>
          <p:nvPr/>
        </p:nvSpPr>
        <p:spPr>
          <a:xfrm>
            <a:off x="548640" y="4572000"/>
            <a:ext cx="3566160" cy="41148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Rischio tecnico</a:t>
            </a:r>
            <a:endParaRPr lang="en-US" sz="2200" dirty="0"/>
          </a:p>
        </p:txBody>
      </p:sp>
      <p:sp>
        <p:nvSpPr>
          <p:cNvPr id="8" name="Text 4"/>
          <p:cNvSpPr/>
          <p:nvPr/>
        </p:nvSpPr>
        <p:spPr>
          <a:xfrm>
            <a:off x="548640" y="5029200"/>
            <a:ext cx="3474720" cy="640080"/>
          </a:xfrm>
          <a:prstGeom prst="rect">
            <a:avLst/>
          </a:prstGeom>
          <a:noFill/>
          <a:ln/>
        </p:spPr>
        <p:txBody>
          <a:bodyPr wrap="square" lIns="0" tIns="0" rIns="0" bIns="0" rtlCol="0" anchor="t"/>
          <a:lstStyle/>
          <a:p>
            <a:pPr indent="0" marL="0">
              <a:buNone/>
            </a:pPr>
            <a:r>
              <a:rPr lang="en-US" sz="1500" dirty="0">
                <a:solidFill>
                  <a:srgbClr val="6E6E73"/>
                </a:solidFill>
                <a:latin typeface="Inter" pitchFamily="34" charset="0"/>
                <a:ea typeface="Inter" pitchFamily="34" charset="-122"/>
                <a:cs typeface="Inter" pitchFamily="34" charset="-120"/>
              </a:rPr>
              <a:t>nei flussi, con le probabilità cumulate (rNPV).</a:t>
            </a:r>
            <a:endParaRPr lang="en-US" sz="1500" dirty="0"/>
          </a:p>
        </p:txBody>
      </p:sp>
      <p:sp>
        <p:nvSpPr>
          <p:cNvPr id="9" name="Text 5"/>
          <p:cNvSpPr/>
          <p:nvPr/>
        </p:nvSpPr>
        <p:spPr>
          <a:xfrm>
            <a:off x="4343400" y="4572000"/>
            <a:ext cx="3566160" cy="41148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Rischio sistematico</a:t>
            </a:r>
            <a:endParaRPr lang="en-US" sz="2200" dirty="0"/>
          </a:p>
        </p:txBody>
      </p:sp>
      <p:sp>
        <p:nvSpPr>
          <p:cNvPr id="10" name="Text 6"/>
          <p:cNvSpPr/>
          <p:nvPr/>
        </p:nvSpPr>
        <p:spPr>
          <a:xfrm>
            <a:off x="4343400" y="5029200"/>
            <a:ext cx="3474720" cy="640080"/>
          </a:xfrm>
          <a:prstGeom prst="rect">
            <a:avLst/>
          </a:prstGeom>
          <a:noFill/>
          <a:ln/>
        </p:spPr>
        <p:txBody>
          <a:bodyPr wrap="square" lIns="0" tIns="0" rIns="0" bIns="0" rtlCol="0" anchor="t"/>
          <a:lstStyle/>
          <a:p>
            <a:pPr indent="0" marL="0">
              <a:buNone/>
            </a:pPr>
            <a:r>
              <a:rPr lang="en-US" sz="1500" dirty="0">
                <a:solidFill>
                  <a:srgbClr val="6E6E73"/>
                </a:solidFill>
                <a:latin typeface="Inter" pitchFamily="34" charset="0"/>
                <a:ea typeface="Inter" pitchFamily="34" charset="-122"/>
                <a:cs typeface="Inter" pitchFamily="34" charset="-120"/>
              </a:rPr>
              <a:t>nel tasso, con un beta per stadio.</a:t>
            </a:r>
            <a:endParaRPr lang="en-US" sz="1500" dirty="0"/>
          </a:p>
        </p:txBody>
      </p:sp>
      <p:sp>
        <p:nvSpPr>
          <p:cNvPr id="11" name="Text 7"/>
          <p:cNvSpPr/>
          <p:nvPr/>
        </p:nvSpPr>
        <p:spPr>
          <a:xfrm>
            <a:off x="8138160" y="4572000"/>
            <a:ext cx="3566160" cy="41148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Il tasso scende</a:t>
            </a:r>
            <a:endParaRPr lang="en-US" sz="2200" dirty="0"/>
          </a:p>
        </p:txBody>
      </p:sp>
      <p:sp>
        <p:nvSpPr>
          <p:cNvPr id="12" name="Text 8"/>
          <p:cNvSpPr/>
          <p:nvPr/>
        </p:nvSpPr>
        <p:spPr>
          <a:xfrm>
            <a:off x="8138160" y="5029200"/>
            <a:ext cx="3474720" cy="640080"/>
          </a:xfrm>
          <a:prstGeom prst="rect">
            <a:avLst/>
          </a:prstGeom>
          <a:noFill/>
          <a:ln/>
        </p:spPr>
        <p:txBody>
          <a:bodyPr wrap="square" lIns="0" tIns="0" rIns="0" bIns="0" rtlCol="0" anchor="t"/>
          <a:lstStyle/>
          <a:p>
            <a:pPr indent="0" marL="0">
              <a:buNone/>
            </a:pPr>
            <a:r>
              <a:rPr lang="en-US" sz="1500" dirty="0">
                <a:solidFill>
                  <a:srgbClr val="6E6E73"/>
                </a:solidFill>
                <a:latin typeface="Inter" pitchFamily="34" charset="0"/>
                <a:ea typeface="Inter" pitchFamily="34" charset="-122"/>
                <a:cs typeface="Inter" pitchFamily="34" charset="-120"/>
              </a:rPr>
              <a:t>quando le milestone si raggiungono.</a:t>
            </a:r>
            <a:endParaRPr lang="en-US" sz="15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APPENDICE  |  SENSITIVITÀ</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Nessuna leva porta il gruppo oltre 67 $</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Modello dell'autore; intervalli: probabilità bassa-alta di ogni milestone, beta prima e dopo la milestone, g +-0,5 punti, governance 0-3,5%</a:t>
            </a:r>
            <a:endParaRPr lang="en-US" sz="800" dirty="0"/>
          </a:p>
        </p:txBody>
      </p:sp>
      <p:pic>
        <p:nvPicPr>
          <p:cNvPr id="6" name="Image 0" descr="Tornado della sensitività del valore del gruppo per azione">    </p:cNvPr>
          <p:cNvPicPr>
            <a:picLocks noChangeAspect="1"/>
          </p:cNvPicPr>
          <p:nvPr/>
        </p:nvPicPr>
        <p:blipFill>
          <a:blip r:embed="rId1"/>
          <a:stretch>
            <a:fillRect/>
          </a:stretch>
        </p:blipFill>
        <p:spPr>
          <a:xfrm>
            <a:off x="411480" y="1874520"/>
            <a:ext cx="7680960" cy="4320540"/>
          </a:xfrm>
          <a:prstGeom prst="rect">
            <a:avLst/>
          </a:prstGeom>
        </p:spPr>
      </p:pic>
      <p:sp>
        <p:nvSpPr>
          <p:cNvPr id="7" name="Text 3"/>
          <p:cNvSpPr/>
          <p:nvPr/>
        </p:nvSpPr>
        <p:spPr>
          <a:xfrm>
            <a:off x="8595360" y="2011680"/>
            <a:ext cx="3108960" cy="914400"/>
          </a:xfrm>
          <a:prstGeom prst="rect">
            <a:avLst/>
          </a:prstGeom>
          <a:noFill/>
          <a:ln/>
        </p:spPr>
        <p:txBody>
          <a:bodyPr wrap="square" lIns="0" tIns="0" rIns="0" bIns="0" rtlCol="0" anchor="b"/>
          <a:lstStyle/>
          <a:p>
            <a:pPr indent="0" marL="0">
              <a:buNone/>
            </a:pPr>
            <a:r>
              <a:rPr lang="en-US" sz="5600" b="1" spc="-60" kern="0" dirty="0">
                <a:solidFill>
                  <a:srgbClr val="0B1F3A"/>
                </a:solidFill>
                <a:latin typeface="Inter Display" pitchFamily="34" charset="0"/>
                <a:ea typeface="Inter Display" pitchFamily="34" charset="-122"/>
                <a:cs typeface="Inter Display" pitchFamily="34" charset="-120"/>
              </a:rPr>
              <a:t>47,92 $</a:t>
            </a:r>
            <a:endParaRPr lang="en-US" sz="5600" dirty="0"/>
          </a:p>
        </p:txBody>
      </p:sp>
      <p:sp>
        <p:nvSpPr>
          <p:cNvPr id="8" name="Text 4"/>
          <p:cNvSpPr/>
          <p:nvPr/>
        </p:nvSpPr>
        <p:spPr>
          <a:xfrm>
            <a:off x="8595360" y="3017520"/>
            <a:ext cx="3017520" cy="640080"/>
          </a:xfrm>
          <a:prstGeom prst="rect">
            <a:avLst/>
          </a:prstGeom>
          <a:noFill/>
          <a:ln/>
        </p:spPr>
        <p:txBody>
          <a:bodyPr wrap="square" lIns="0" tIns="0" rIns="0" bIns="0" rtlCol="0" anchor="t"/>
          <a:lstStyle/>
          <a:p>
            <a:pPr indent="0" marL="0">
              <a:buNone/>
            </a:pPr>
            <a:r>
              <a:rPr lang="en-US" sz="1500" dirty="0">
                <a:solidFill>
                  <a:srgbClr val="6E6E73"/>
                </a:solidFill>
                <a:latin typeface="Inter" pitchFamily="34" charset="0"/>
                <a:ea typeface="Inter" pitchFamily="34" charset="-122"/>
                <a:cs typeface="Inter" pitchFamily="34" charset="-120"/>
              </a:rPr>
              <a:t>il gruppo con il beta di Starlink degli operatori satellitari (0,74)</a:t>
            </a:r>
            <a:endParaRPr lang="en-US" sz="1500" dirty="0"/>
          </a:p>
        </p:txBody>
      </p:sp>
      <p:sp>
        <p:nvSpPr>
          <p:cNvPr id="9" name="Text 5"/>
          <p:cNvSpPr/>
          <p:nvPr/>
        </p:nvSpPr>
        <p:spPr>
          <a:xfrm>
            <a:off x="8595360" y="4114800"/>
            <a:ext cx="3017520" cy="1097280"/>
          </a:xfrm>
          <a:prstGeom prst="rect">
            <a:avLst/>
          </a:prstGeom>
          <a:noFill/>
          <a:ln/>
        </p:spPr>
        <p:txBody>
          <a:bodyPr wrap="square" lIns="0" tIns="0" rIns="0" bIns="0" rtlCol="0" anchor="t"/>
          <a:lstStyle/>
          <a:p>
            <a:pPr indent="0" marL="0">
              <a:buNone/>
            </a:pPr>
            <a:r>
              <a:rPr lang="en-US" sz="1800" b="1" spc="-30" kern="0" dirty="0">
                <a:solidFill>
                  <a:srgbClr val="1D1D1F"/>
                </a:solidFill>
                <a:latin typeface="Inter Display" pitchFamily="34" charset="0"/>
                <a:ea typeface="Inter Display" pitchFamily="34" charset="-122"/>
                <a:cs typeface="Inter Display" pitchFamily="34" charset="-120"/>
              </a:rPr>
              <a:t>Il divario dal prezzo non è un'ipotesi sbagliata di qualche punto.</a:t>
            </a:r>
            <a:endParaRPr lang="en-US" sz="18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APPENDICE  |  CONFRONTI</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Vicino a Morningstar, lontano da RBC</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Morningstar (N. Owens), giugno 2026; Damodaran, "Revisiting the SpaceX Valuation", 4/6/2026; RBC Capital Markets (K. Herbert), 7/7/2026; prezzi: 424B4 e chiusura del 7/10/2026</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377440" y="1783080"/>
          <a:ext cx="7406640" cy="914400"/>
        </p:xfrm>
        <a:graphic>
          <a:graphicData uri="http://schemas.openxmlformats.org/drawingml/2006/table">
            <a:tbl>
              <a:tblPr/>
              <a:tblGrid>
                <a:gridCol w="5120640"/>
                <a:gridCol w="2286000"/>
              </a:tblGrid>
              <a:tr h="411480">
                <a:tc>
                  <a:txBody>
                    <a:bodyPr/>
                    <a:lstStyle/>
                    <a:p>
                      <a:pPr algn="l" indent="0" marL="0">
                        <a:buNone/>
                      </a:pPr>
                      <a:r>
                        <a:rPr lang="en-US" sz="1100" spc="200" kern="0" dirty="0">
                          <a:solidFill>
                            <a:srgbClr val="6E6E73"/>
                          </a:solidFill>
                          <a:latin typeface="D-DIN" pitchFamily="34" charset="0"/>
                          <a:ea typeface="D-DIN" pitchFamily="34" charset="-122"/>
                          <a:cs typeface="D-DIN" pitchFamily="34" charset="-120"/>
                        </a:rPr>
                        <a:t>FONTE</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 PER AZIONE</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Morningstar, scenario senza Starship [stampa]</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41 $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Questo lavoro: tre imprese separate</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56,3 $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b="1" dirty="0">
                          <a:solidFill>
                            <a:srgbClr val="0071E3"/>
                          </a:solidFill>
                          <a:latin typeface="Inter" pitchFamily="34" charset="0"/>
                          <a:ea typeface="Inter" pitchFamily="34" charset="-122"/>
                          <a:cs typeface="Inter" pitchFamily="34" charset="-120"/>
                        </a:rPr>
                        <a:t>Questo lavoro: il gruppo</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b="1" dirty="0">
                          <a:solidFill>
                            <a:srgbClr val="0071E3"/>
                          </a:solidFill>
                          <a:latin typeface="Inter" pitchFamily="34" charset="0"/>
                          <a:ea typeface="Inter" pitchFamily="34" charset="-122"/>
                          <a:cs typeface="Inter" pitchFamily="34" charset="-120"/>
                        </a:rPr>
                        <a:t>60,1 $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Morningstar, valore di riferimento [stampa]</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62 $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Questo lavoro: il gruppo, tutte le milestone riuscite</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93,9 $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Damodaran, giugno 2026 [stampa]</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97,83 $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Prezzo IPO (424B4)</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135 $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b="1" dirty="0">
                          <a:solidFill>
                            <a:srgbClr val="B86E00"/>
                          </a:solidFill>
                          <a:latin typeface="Inter" pitchFamily="34" charset="0"/>
                          <a:ea typeface="Inter" pitchFamily="34" charset="-122"/>
                          <a:cs typeface="Inter" pitchFamily="34" charset="-120"/>
                        </a:rPr>
                        <a:t>Prezzo di mercato, 7/10/2026</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b="1" dirty="0">
                          <a:solidFill>
                            <a:srgbClr val="B86E00"/>
                          </a:solidFill>
                          <a:latin typeface="Inter" pitchFamily="34" charset="0"/>
                          <a:ea typeface="Inter" pitchFamily="34" charset="-122"/>
                          <a:cs typeface="Inter" pitchFamily="34" charset="-120"/>
                        </a:rPr>
                        <a:t>167,60 $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1148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RBC Capital Markets, target [stampa]</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225 $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APPENDICE  |  METODO</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Tre cose che sembrano sinergie e non lo sono</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Corso, parte M&amp;A: V(AB) - V(A) - V(B); Lewellen (1971); Higgins e Schall (1975)</a:t>
            </a:r>
            <a:endParaRPr lang="en-US" sz="800" dirty="0"/>
          </a:p>
        </p:txBody>
      </p:sp>
      <p:sp>
        <p:nvSpPr>
          <p:cNvPr id="6" name="Text 3"/>
          <p:cNvSpPr/>
          <p:nvPr/>
        </p:nvSpPr>
        <p:spPr>
          <a:xfrm>
            <a:off x="548640" y="2194560"/>
            <a:ext cx="3566160" cy="822960"/>
          </a:xfrm>
          <a:prstGeom prst="rect">
            <a:avLst/>
          </a:prstGeom>
          <a:noFill/>
          <a:ln/>
        </p:spPr>
        <p:txBody>
          <a:bodyPr wrap="square" lIns="0" tIns="0" rIns="0" bIns="0" rtlCol="0" anchor="t"/>
          <a:lstStyle/>
          <a:p>
            <a:pPr indent="0" marL="0">
              <a:buNone/>
            </a:pPr>
            <a:r>
              <a:rPr lang="en-US" sz="2400" b="1" spc="-60" kern="0" dirty="0">
                <a:solidFill>
                  <a:srgbClr val="1D1D1F"/>
                </a:solidFill>
                <a:latin typeface="Inter Display" pitchFamily="34" charset="0"/>
                <a:ea typeface="Inter Display" pitchFamily="34" charset="-122"/>
                <a:cs typeface="Inter Display" pitchFamily="34" charset="-120"/>
              </a:rPr>
              <a:t>Il prezzo interno dei lanci</a:t>
            </a:r>
            <a:endParaRPr lang="en-US" sz="2400" dirty="0"/>
          </a:p>
        </p:txBody>
      </p:sp>
      <p:sp>
        <p:nvSpPr>
          <p:cNvPr id="7" name="Text 4"/>
          <p:cNvSpPr/>
          <p:nvPr/>
        </p:nvSpPr>
        <p:spPr>
          <a:xfrm>
            <a:off x="548640" y="3154680"/>
            <a:ext cx="3474720" cy="1828800"/>
          </a:xfrm>
          <a:prstGeom prst="rect">
            <a:avLst/>
          </a:prstGeom>
          <a:noFill/>
          <a:ln/>
        </p:spPr>
        <p:txBody>
          <a:bodyPr wrap="square" lIns="0" tIns="0" rIns="0" bIns="0" rtlCol="0" anchor="t"/>
          <a:lstStyle/>
          <a:p>
            <a:pPr indent="0" marL="0">
              <a:lnSpc>
                <a:spcPct val="110000"/>
              </a:lnSpc>
              <a:buNone/>
            </a:pPr>
            <a:r>
              <a:rPr lang="en-US" sz="1600" dirty="0">
                <a:solidFill>
                  <a:srgbClr val="6E6E73"/>
                </a:solidFill>
                <a:latin typeface="Inter" pitchFamily="34" charset="0"/>
                <a:ea typeface="Inter" pitchFamily="34" charset="-122"/>
                <a:cs typeface="Inter" pitchFamily="34" charset="-120"/>
              </a:rPr>
              <a:t>Starlink paga i lanci al costo: è un trasferimento fra segmenti. La sinergia vera è la cadenza che dà a Starship.</a:t>
            </a:r>
            <a:endParaRPr lang="en-US" sz="1600" dirty="0"/>
          </a:p>
        </p:txBody>
      </p:sp>
      <p:sp>
        <p:nvSpPr>
          <p:cNvPr id="8" name="Text 5"/>
          <p:cNvSpPr/>
          <p:nvPr/>
        </p:nvSpPr>
        <p:spPr>
          <a:xfrm>
            <a:off x="4343400" y="2194560"/>
            <a:ext cx="3566160" cy="822960"/>
          </a:xfrm>
          <a:prstGeom prst="rect">
            <a:avLst/>
          </a:prstGeom>
          <a:noFill/>
          <a:ln/>
        </p:spPr>
        <p:txBody>
          <a:bodyPr wrap="square" lIns="0" tIns="0" rIns="0" bIns="0" rtlCol="0" anchor="t"/>
          <a:lstStyle/>
          <a:p>
            <a:pPr indent="0" marL="0">
              <a:buNone/>
            </a:pPr>
            <a:r>
              <a:rPr lang="en-US" sz="2400" b="1" spc="-60" kern="0" dirty="0">
                <a:solidFill>
                  <a:srgbClr val="1D1D1F"/>
                </a:solidFill>
                <a:latin typeface="Inter Display" pitchFamily="34" charset="0"/>
                <a:ea typeface="Inter Display" pitchFamily="34" charset="-122"/>
                <a:cs typeface="Inter Display" pitchFamily="34" charset="-120"/>
              </a:rPr>
              <a:t>Il tasso più basso sul debito</a:t>
            </a:r>
            <a:endParaRPr lang="en-US" sz="2400" dirty="0"/>
          </a:p>
        </p:txBody>
      </p:sp>
      <p:sp>
        <p:nvSpPr>
          <p:cNvPr id="9" name="Text 6"/>
          <p:cNvSpPr/>
          <p:nvPr/>
        </p:nvSpPr>
        <p:spPr>
          <a:xfrm>
            <a:off x="4343400" y="3154680"/>
            <a:ext cx="3474720" cy="1828800"/>
          </a:xfrm>
          <a:prstGeom prst="rect">
            <a:avLst/>
          </a:prstGeom>
          <a:noFill/>
          <a:ln/>
        </p:spPr>
        <p:txBody>
          <a:bodyPr wrap="square" lIns="0" tIns="0" rIns="0" bIns="0" rtlCol="0" anchor="t"/>
          <a:lstStyle/>
          <a:p>
            <a:pPr indent="0" marL="0">
              <a:lnSpc>
                <a:spcPct val="110000"/>
              </a:lnSpc>
              <a:buNone/>
            </a:pPr>
            <a:r>
              <a:rPr lang="en-US" sz="1600" dirty="0">
                <a:solidFill>
                  <a:srgbClr val="6E6E73"/>
                </a:solidFill>
                <a:latin typeface="Inter" pitchFamily="34" charset="0"/>
                <a:ea typeface="Inter" pitchFamily="34" charset="-122"/>
                <a:cs typeface="Inter" pitchFamily="34" charset="-120"/>
              </a:rPr>
              <a:t>6% contro il 12,5% di xAI: in gran parte un trasferimento ai creditori. Vale solo lo scudo fiscale sul debito in più.</a:t>
            </a:r>
            <a:endParaRPr lang="en-US" sz="1600" dirty="0"/>
          </a:p>
        </p:txBody>
      </p:sp>
      <p:sp>
        <p:nvSpPr>
          <p:cNvPr id="10" name="Text 7"/>
          <p:cNvSpPr/>
          <p:nvPr/>
        </p:nvSpPr>
        <p:spPr>
          <a:xfrm>
            <a:off x="8138160" y="2194560"/>
            <a:ext cx="3566160" cy="822960"/>
          </a:xfrm>
          <a:prstGeom prst="rect">
            <a:avLst/>
          </a:prstGeom>
          <a:noFill/>
          <a:ln/>
        </p:spPr>
        <p:txBody>
          <a:bodyPr wrap="square" lIns="0" tIns="0" rIns="0" bIns="0" rtlCol="0" anchor="t"/>
          <a:lstStyle/>
          <a:p>
            <a:pPr indent="0" marL="0">
              <a:buNone/>
            </a:pPr>
            <a:r>
              <a:rPr lang="en-US" sz="2400" b="1" spc="-60" kern="0" dirty="0">
                <a:solidFill>
                  <a:srgbClr val="1D1D1F"/>
                </a:solidFill>
                <a:latin typeface="Inter Display" pitchFamily="34" charset="0"/>
                <a:ea typeface="Inter Display" pitchFamily="34" charset="-122"/>
                <a:cs typeface="Inter Display" pitchFamily="34" charset="-120"/>
              </a:rPr>
              <a:t>La diversificazione</a:t>
            </a:r>
            <a:endParaRPr lang="en-US" sz="2400" dirty="0"/>
          </a:p>
        </p:txBody>
      </p:sp>
      <p:sp>
        <p:nvSpPr>
          <p:cNvPr id="11" name="Text 8"/>
          <p:cNvSpPr/>
          <p:nvPr/>
        </p:nvSpPr>
        <p:spPr>
          <a:xfrm>
            <a:off x="8138160" y="3154680"/>
            <a:ext cx="3474720" cy="1828800"/>
          </a:xfrm>
          <a:prstGeom prst="rect">
            <a:avLst/>
          </a:prstGeom>
          <a:noFill/>
          <a:ln/>
        </p:spPr>
        <p:txBody>
          <a:bodyPr wrap="square" lIns="0" tIns="0" rIns="0" bIns="0" rtlCol="0" anchor="t"/>
          <a:lstStyle/>
          <a:p>
            <a:pPr indent="0" marL="0">
              <a:lnSpc>
                <a:spcPct val="110000"/>
              </a:lnSpc>
              <a:buNone/>
            </a:pPr>
            <a:r>
              <a:rPr lang="en-US" sz="1600" dirty="0">
                <a:solidFill>
                  <a:srgbClr val="6E6E73"/>
                </a:solidFill>
                <a:latin typeface="Inter" pitchFamily="34" charset="0"/>
                <a:ea typeface="Inter" pitchFamily="34" charset="-122"/>
                <a:cs typeface="Inter" pitchFamily="34" charset="-120"/>
              </a:rPr>
              <a:t>Riduce la volatilità del gruppo, ma l'azionista diversifica da solo. Per questo i tassi non cambiano.</a:t>
            </a:r>
            <a:endParaRPr lang="en-US" sz="16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APPENDICE  |  SENSITIVITÀ DELLE SINERGIE</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Che cosa sposta le sinergie</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Modello dell'autore: una leva alla volta; il valore del gruppo cambia solo con N1, le altre leve cambiano il valore delle parti separate</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6035040"/>
                <a:gridCol w="2560320"/>
                <a:gridCol w="2468880"/>
              </a:tblGrid>
              <a:tr h="502920">
                <a:tc>
                  <a:txBody>
                    <a:bodyPr/>
                    <a:lstStyle/>
                    <a:p>
                      <a:pPr algn="l" indent="0" marL="0">
                        <a:buNone/>
                      </a:pPr>
                      <a:r>
                        <a:rPr lang="en-US" sz="1100" spc="200" kern="0" dirty="0">
                          <a:solidFill>
                            <a:srgbClr val="6E6E73"/>
                          </a:solidFill>
                          <a:latin typeface="D-DIN" pitchFamily="34" charset="0"/>
                          <a:ea typeface="D-DIN" pitchFamily="34" charset="-122"/>
                          <a:cs typeface="D-DIN" pitchFamily="34" charset="-120"/>
                        </a:rPr>
                        <a:t>LEVA</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SINERGIE NETTE, MLD</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100" spc="200" kern="0" dirty="0">
                          <a:solidFill>
                            <a:srgbClr val="6E6E73"/>
                          </a:solidFill>
                          <a:latin typeface="D-DIN" pitchFamily="34" charset="0"/>
                          <a:ea typeface="D-DIN" pitchFamily="34" charset="-122"/>
                          <a:cs typeface="D-DIN" pitchFamily="34" charset="-120"/>
                        </a:rPr>
                        <a:t>PARTI SEPARATE, $</a:t>
                      </a:r>
                      <a:endParaRPr lang="en-US" sz="1100" dirty="0">
                        <a:latin typeface="D-DIN" charset="0"/>
                        <a:ea typeface="D-DIN" charset="0"/>
                        <a:cs typeface="D-DIN"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0292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Quota del sussidio evitabile (D1)</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34 - 66</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55,13 - 57,49</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0292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Probabilità difesa integrata (N1)</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49 - 52</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56,31 - 56,31</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0292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Costo di emissione (E6)</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49 - 52</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56,17 - 56,42</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0292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Limite d’uso delle perdite fiscali (E4)</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50 - 50</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56,31 - 56,31</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02920">
                <a:tc>
                  <a:txBody>
                    <a:bodyPr/>
                    <a:lstStyle/>
                    <a:p>
                      <a:pPr algn="l" indent="0" marL="0">
                        <a:buNone/>
                      </a:pPr>
                      <a:r>
                        <a:rPr lang="en-US" sz="1600" dirty="0">
                          <a:solidFill>
                            <a:srgbClr val="1D1D1F"/>
                          </a:solidFill>
                          <a:latin typeface="Inter" pitchFamily="34" charset="0"/>
                          <a:ea typeface="Inter" pitchFamily="34" charset="-122"/>
                          <a:cs typeface="Inter" pitchFamily="34" charset="-120"/>
                        </a:rPr>
                        <a:t>Controfattuale delle probabilità (E1-E3)</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26 - 50</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dirty="0">
                          <a:solidFill>
                            <a:srgbClr val="1D1D1F"/>
                          </a:solidFill>
                          <a:latin typeface="Inter" pitchFamily="34" charset="0"/>
                          <a:ea typeface="Inter" pitchFamily="34" charset="-122"/>
                          <a:cs typeface="Inter" pitchFamily="34" charset="-120"/>
                        </a:rPr>
                        <a:t>56,31 - 58,13</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02920">
                <a:tc>
                  <a:txBody>
                    <a:bodyPr/>
                    <a:lstStyle/>
                    <a:p>
                      <a:pPr algn="l" indent="0" marL="0">
                        <a:buNone/>
                      </a:pPr>
                      <a:r>
                        <a:rPr lang="en-US" sz="1600" b="1" dirty="0">
                          <a:solidFill>
                            <a:srgbClr val="1D1D1F"/>
                          </a:solidFill>
                          <a:latin typeface="Inter" pitchFamily="34" charset="0"/>
                          <a:ea typeface="Inter" pitchFamily="34" charset="-122"/>
                          <a:cs typeface="Inter" pitchFamily="34" charset="-120"/>
                        </a:rPr>
                        <a:t>Beta di Starlink 0,74 (operatori satellitari): valore del gruppo</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algn="r" indent="0" marL="0">
                        <a:buNone/>
                      </a:pPr>
                      <a:r>
                        <a:rPr lang="en-US" sz="1600" b="1" dirty="0">
                          <a:solidFill>
                            <a:srgbClr val="0071E3"/>
                          </a:solidFill>
                          <a:latin typeface="Inter" pitchFamily="34" charset="0"/>
                          <a:ea typeface="Inter" pitchFamily="34" charset="-122"/>
                          <a:cs typeface="Inter" pitchFamily="34" charset="-120"/>
                        </a:rPr>
                        <a:t>47,92 $</a:t>
                      </a:r>
                      <a:endParaRPr lang="en-US" sz="1600" dirty="0">
                        <a:latin typeface="Inter" charset="0"/>
                        <a:ea typeface="Inter" charset="0"/>
                        <a:cs typeface="Inter" charset="0"/>
                      </a:endParaRPr>
                    </a:p>
                  </a:txBody>
                  <a:tcPr marL="73152" marR="73152" marT="18288" marB="18288"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11064240" cy="274320"/>
          </a:xfrm>
          <a:prstGeom prst="rect">
            <a:avLst/>
          </a:prstGeom>
          <a:noFill/>
          <a:ln/>
        </p:spPr>
        <p:txBody>
          <a:bodyPr wrap="square" lIns="0" tIns="0" rIns="0" bIns="0" rtlCol="0" anchor="t"/>
          <a:lstStyle/>
          <a:p>
            <a:pPr indent="0" marL="0">
              <a:buNone/>
            </a:pPr>
            <a:r>
              <a:rPr lang="en-US" sz="1200" spc="300" kern="0" dirty="0">
                <a:solidFill>
                  <a:srgbClr val="6E6E73"/>
                </a:solidFill>
                <a:latin typeface="D-DIN" pitchFamily="34" charset="0"/>
                <a:ea typeface="D-DIN" pitchFamily="34" charset="-122"/>
                <a:cs typeface="D-DIN" pitchFamily="34" charset="-120"/>
              </a:rPr>
              <a:t>APPENDICE  |  IL MODELLO</a:t>
            </a:r>
            <a:endParaRPr lang="en-US" sz="1200" dirty="0"/>
          </a:p>
        </p:txBody>
      </p:sp>
      <p:sp>
        <p:nvSpPr>
          <p:cNvPr id="3" name="Text 0"/>
          <p:cNvSpPr/>
          <p:nvPr>
            <p:ph idx="101" type="title" hasCustomPrompt="1"/>
          </p:nvPr>
        </p:nvSpPr>
        <p:spPr>
          <a:xfrm>
            <a:off x="548640" y="868680"/>
            <a:ext cx="11064240" cy="1188720"/>
          </a:xfrm>
          <a:prstGeom prst="rect">
            <a:avLst/>
          </a:prstGeom>
          <a:noFill/>
          <a:ln/>
        </p:spPr>
        <p:txBody>
          <a:bodyPr wrap="square" lIns="0" tIns="0" rIns="0" bIns="0" rtlCol="0" anchor="t"/>
          <a:lstStyle/>
          <a:p>
            <a:pPr algn="l" indent="0" marL="0">
              <a:buNone/>
            </a:pPr>
            <a:r>
              <a:rPr lang="en-US" sz="4000" b="1" spc="-60" kern="0" dirty="0">
                <a:solidFill>
                  <a:srgbClr val="1D1D1F"/>
                </a:solidFill>
                <a:latin typeface="Inter Display" pitchFamily="34" charset="0"/>
                <a:ea typeface="Inter Display" pitchFamily="34" charset="-122"/>
                <a:cs typeface="Inter Display" pitchFamily="34" charset="-120"/>
              </a:rPr>
              <a:t>Tutto in un file Excel, in formule</a:t>
            </a:r>
            <a:endParaRPr lang="en-US" sz="4000" dirty="0"/>
          </a:p>
        </p:txBody>
      </p:sp>
      <p:sp>
        <p:nvSpPr>
          <p:cNvPr id="4" name="Text 0"/>
          <p:cNvSpPr/>
          <p:nvPr>
            <p:ph idx="102" type="body" hasCustomPrompt="1"/>
          </p:nvPr>
        </p:nvSpPr>
        <p:spPr>
          <a:xfrm>
            <a:off x="548640" y="6400800"/>
            <a:ext cx="10424160" cy="228600"/>
          </a:xfrm>
          <a:prstGeom prst="rect">
            <a:avLst/>
          </a:prstGeom>
          <a:noFill/>
          <a:ln/>
        </p:spPr>
        <p:txBody>
          <a:bodyPr wrap="square" lIns="0" tIns="0" rIns="0" bIns="0" rtlCol="0" anchor="t"/>
          <a:lstStyle/>
          <a:p>
            <a:pPr indent="0" marL="0">
              <a:buNone/>
            </a:pPr>
            <a:r>
              <a:rPr lang="en-US" sz="800" dirty="0">
                <a:solidFill>
                  <a:srgbClr val="6E6E73"/>
                </a:solidFill>
                <a:latin typeface="Inter" pitchFamily="34" charset="0"/>
                <a:ea typeface="Inter" pitchFamily="34" charset="-122"/>
                <a:cs typeface="Inter" pitchFamily="34" charset="-120"/>
              </a:rPr>
              <a:t>Fonte: SpaceX_modello.xlsx: input con la loro fonte, formule, controllo incrociato con il modello in Python</a:t>
            </a:r>
            <a:endParaRPr lang="en-US" sz="800" dirty="0"/>
          </a:p>
        </p:txBody>
      </p:sp>
      <p:sp>
        <p:nvSpPr>
          <p:cNvPr id="6" name="Text 3"/>
          <p:cNvSpPr/>
          <p:nvPr/>
        </p:nvSpPr>
        <p:spPr>
          <a:xfrm>
            <a:off x="548640" y="201168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01</a:t>
            </a:r>
            <a:endParaRPr lang="en-US" sz="1400" dirty="0"/>
          </a:p>
        </p:txBody>
      </p:sp>
      <p:sp>
        <p:nvSpPr>
          <p:cNvPr id="7" name="Text 4"/>
          <p:cNvSpPr/>
          <p:nvPr/>
        </p:nvSpPr>
        <p:spPr>
          <a:xfrm>
            <a:off x="1097280" y="196596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Input</a:t>
            </a:r>
            <a:endParaRPr lang="en-US" sz="2200" dirty="0"/>
          </a:p>
        </p:txBody>
      </p:sp>
      <p:sp>
        <p:nvSpPr>
          <p:cNvPr id="8" name="Text 5"/>
          <p:cNvSpPr/>
          <p:nvPr/>
        </p:nvSpPr>
        <p:spPr>
          <a:xfrm>
            <a:off x="3337560" y="201168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02</a:t>
            </a:r>
            <a:endParaRPr lang="en-US" sz="1400" dirty="0"/>
          </a:p>
        </p:txBody>
      </p:sp>
      <p:sp>
        <p:nvSpPr>
          <p:cNvPr id="9" name="Text 6"/>
          <p:cNvSpPr/>
          <p:nvPr/>
        </p:nvSpPr>
        <p:spPr>
          <a:xfrm>
            <a:off x="3886200" y="196596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Tassi</a:t>
            </a:r>
            <a:endParaRPr lang="en-US" sz="2200" dirty="0"/>
          </a:p>
        </p:txBody>
      </p:sp>
      <p:sp>
        <p:nvSpPr>
          <p:cNvPr id="10" name="Text 7"/>
          <p:cNvSpPr/>
          <p:nvPr/>
        </p:nvSpPr>
        <p:spPr>
          <a:xfrm>
            <a:off x="6126480" y="201168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03</a:t>
            </a:r>
            <a:endParaRPr lang="en-US" sz="1400" dirty="0"/>
          </a:p>
        </p:txBody>
      </p:sp>
      <p:sp>
        <p:nvSpPr>
          <p:cNvPr id="11" name="Text 8"/>
          <p:cNvSpPr/>
          <p:nvPr/>
        </p:nvSpPr>
        <p:spPr>
          <a:xfrm>
            <a:off x="6675120" y="196596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Probabilità</a:t>
            </a:r>
            <a:endParaRPr lang="en-US" sz="2200" dirty="0"/>
          </a:p>
        </p:txBody>
      </p:sp>
      <p:sp>
        <p:nvSpPr>
          <p:cNvPr id="12" name="Text 9"/>
          <p:cNvSpPr/>
          <p:nvPr/>
        </p:nvSpPr>
        <p:spPr>
          <a:xfrm>
            <a:off x="8915400" y="201168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04</a:t>
            </a:r>
            <a:endParaRPr lang="en-US" sz="1400" dirty="0"/>
          </a:p>
        </p:txBody>
      </p:sp>
      <p:sp>
        <p:nvSpPr>
          <p:cNvPr id="13" name="Text 10"/>
          <p:cNvSpPr/>
          <p:nvPr/>
        </p:nvSpPr>
        <p:spPr>
          <a:xfrm>
            <a:off x="9464040" y="196596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Blocchi</a:t>
            </a:r>
            <a:endParaRPr lang="en-US" sz="2200" dirty="0"/>
          </a:p>
        </p:txBody>
      </p:sp>
      <p:sp>
        <p:nvSpPr>
          <p:cNvPr id="14" name="Text 11"/>
          <p:cNvSpPr/>
          <p:nvPr/>
        </p:nvSpPr>
        <p:spPr>
          <a:xfrm>
            <a:off x="548640" y="288036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05</a:t>
            </a:r>
            <a:endParaRPr lang="en-US" sz="1400" dirty="0"/>
          </a:p>
        </p:txBody>
      </p:sp>
      <p:sp>
        <p:nvSpPr>
          <p:cNvPr id="15" name="Text 12"/>
          <p:cNvSpPr/>
          <p:nvPr/>
        </p:nvSpPr>
        <p:spPr>
          <a:xfrm>
            <a:off x="1097280" y="283464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Segmenti</a:t>
            </a:r>
            <a:endParaRPr lang="en-US" sz="2200" dirty="0"/>
          </a:p>
        </p:txBody>
      </p:sp>
      <p:sp>
        <p:nvSpPr>
          <p:cNvPr id="16" name="Text 13"/>
          <p:cNvSpPr/>
          <p:nvPr/>
        </p:nvSpPr>
        <p:spPr>
          <a:xfrm>
            <a:off x="3337560" y="288036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06</a:t>
            </a:r>
            <a:endParaRPr lang="en-US" sz="1400" dirty="0"/>
          </a:p>
        </p:txBody>
      </p:sp>
      <p:sp>
        <p:nvSpPr>
          <p:cNvPr id="17" name="Text 14"/>
          <p:cNvSpPr/>
          <p:nvPr/>
        </p:nvSpPr>
        <p:spPr>
          <a:xfrm>
            <a:off x="3886200" y="283464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Fisco</a:t>
            </a:r>
            <a:endParaRPr lang="en-US" sz="2200" dirty="0"/>
          </a:p>
        </p:txBody>
      </p:sp>
      <p:sp>
        <p:nvSpPr>
          <p:cNvPr id="18" name="Text 15"/>
          <p:cNvSpPr/>
          <p:nvPr/>
        </p:nvSpPr>
        <p:spPr>
          <a:xfrm>
            <a:off x="6126480" y="288036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07</a:t>
            </a:r>
            <a:endParaRPr lang="en-US" sz="1400" dirty="0"/>
          </a:p>
        </p:txBody>
      </p:sp>
      <p:sp>
        <p:nvSpPr>
          <p:cNvPr id="19" name="Text 16"/>
          <p:cNvSpPr/>
          <p:nvPr/>
        </p:nvSpPr>
        <p:spPr>
          <a:xfrm>
            <a:off x="6675120" y="283464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Finanziamento</a:t>
            </a:r>
            <a:endParaRPr lang="en-US" sz="2200" dirty="0"/>
          </a:p>
        </p:txBody>
      </p:sp>
      <p:sp>
        <p:nvSpPr>
          <p:cNvPr id="20" name="Text 17"/>
          <p:cNvSpPr/>
          <p:nvPr/>
        </p:nvSpPr>
        <p:spPr>
          <a:xfrm>
            <a:off x="8915400" y="288036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08</a:t>
            </a:r>
            <a:endParaRPr lang="en-US" sz="1400" dirty="0"/>
          </a:p>
        </p:txBody>
      </p:sp>
      <p:sp>
        <p:nvSpPr>
          <p:cNvPr id="21" name="Text 18"/>
          <p:cNvSpPr/>
          <p:nvPr/>
        </p:nvSpPr>
        <p:spPr>
          <a:xfrm>
            <a:off x="9464040" y="283464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Sinergie</a:t>
            </a:r>
            <a:endParaRPr lang="en-US" sz="2200" dirty="0"/>
          </a:p>
        </p:txBody>
      </p:sp>
      <p:sp>
        <p:nvSpPr>
          <p:cNvPr id="22" name="Text 19"/>
          <p:cNvSpPr/>
          <p:nvPr/>
        </p:nvSpPr>
        <p:spPr>
          <a:xfrm>
            <a:off x="548640" y="374904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09</a:t>
            </a:r>
            <a:endParaRPr lang="en-US" sz="1400" dirty="0"/>
          </a:p>
        </p:txBody>
      </p:sp>
      <p:sp>
        <p:nvSpPr>
          <p:cNvPr id="23" name="Text 20"/>
          <p:cNvSpPr/>
          <p:nvPr/>
        </p:nvSpPr>
        <p:spPr>
          <a:xfrm>
            <a:off x="1097280" y="370332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Ponte</a:t>
            </a:r>
            <a:endParaRPr lang="en-US" sz="2200" dirty="0"/>
          </a:p>
        </p:txBody>
      </p:sp>
      <p:sp>
        <p:nvSpPr>
          <p:cNvPr id="24" name="Text 21"/>
          <p:cNvSpPr/>
          <p:nvPr/>
        </p:nvSpPr>
        <p:spPr>
          <a:xfrm>
            <a:off x="3337560" y="374904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10</a:t>
            </a:r>
            <a:endParaRPr lang="en-US" sz="1400" dirty="0"/>
          </a:p>
        </p:txBody>
      </p:sp>
      <p:sp>
        <p:nvSpPr>
          <p:cNvPr id="25" name="Text 22"/>
          <p:cNvSpPr/>
          <p:nvPr/>
        </p:nvSpPr>
        <p:spPr>
          <a:xfrm>
            <a:off x="3886200" y="370332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Fusione</a:t>
            </a:r>
            <a:endParaRPr lang="en-US" sz="2200" dirty="0"/>
          </a:p>
        </p:txBody>
      </p:sp>
      <p:sp>
        <p:nvSpPr>
          <p:cNvPr id="26" name="Text 23"/>
          <p:cNvSpPr/>
          <p:nvPr/>
        </p:nvSpPr>
        <p:spPr>
          <a:xfrm>
            <a:off x="6126480" y="374904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11</a:t>
            </a:r>
            <a:endParaRPr lang="en-US" sz="1400" dirty="0"/>
          </a:p>
        </p:txBody>
      </p:sp>
      <p:sp>
        <p:nvSpPr>
          <p:cNvPr id="27" name="Text 24"/>
          <p:cNvSpPr/>
          <p:nvPr/>
        </p:nvSpPr>
        <p:spPr>
          <a:xfrm>
            <a:off x="6675120" y="370332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Conglomerati</a:t>
            </a:r>
            <a:endParaRPr lang="en-US" sz="2200" dirty="0"/>
          </a:p>
        </p:txBody>
      </p:sp>
      <p:sp>
        <p:nvSpPr>
          <p:cNvPr id="28" name="Text 25"/>
          <p:cNvSpPr/>
          <p:nvPr/>
        </p:nvSpPr>
        <p:spPr>
          <a:xfrm>
            <a:off x="8915400" y="3749040"/>
            <a:ext cx="548640" cy="457200"/>
          </a:xfrm>
          <a:prstGeom prst="rect">
            <a:avLst/>
          </a:prstGeom>
          <a:noFill/>
          <a:ln/>
        </p:spPr>
        <p:txBody>
          <a:bodyPr wrap="square" lIns="0" tIns="0" rIns="0" bIns="0" rtlCol="0" anchor="t"/>
          <a:lstStyle/>
          <a:p>
            <a:pPr indent="0" marL="0">
              <a:buNone/>
            </a:pPr>
            <a:r>
              <a:rPr lang="en-US" sz="1400" dirty="0">
                <a:solidFill>
                  <a:srgbClr val="6E6E73"/>
                </a:solidFill>
                <a:latin typeface="D-DIN" pitchFamily="34" charset="0"/>
                <a:ea typeface="D-DIN" pitchFamily="34" charset="-122"/>
                <a:cs typeface="D-DIN" pitchFamily="34" charset="-120"/>
              </a:rPr>
              <a:t>12</a:t>
            </a:r>
            <a:endParaRPr lang="en-US" sz="1400" dirty="0"/>
          </a:p>
        </p:txBody>
      </p:sp>
      <p:sp>
        <p:nvSpPr>
          <p:cNvPr id="29" name="Text 26"/>
          <p:cNvSpPr/>
          <p:nvPr/>
        </p:nvSpPr>
        <p:spPr>
          <a:xfrm>
            <a:off x="9464040" y="3703320"/>
            <a:ext cx="2194560" cy="502920"/>
          </a:xfrm>
          <a:prstGeom prst="rect">
            <a:avLst/>
          </a:prstGeom>
          <a:noFill/>
          <a:ln/>
        </p:spPr>
        <p:txBody>
          <a:bodyPr wrap="square" lIns="0" tIns="0" rIns="0" bIns="0" rtlCol="0" anchor="t"/>
          <a:lstStyle/>
          <a:p>
            <a:pPr indent="0" marL="0">
              <a:buNone/>
            </a:pPr>
            <a:r>
              <a:rPr lang="en-US" sz="2200" b="1" spc="-60" kern="0" dirty="0">
                <a:solidFill>
                  <a:srgbClr val="1D1D1F"/>
                </a:solidFill>
                <a:latin typeface="Inter Display" pitchFamily="34" charset="0"/>
                <a:ea typeface="Inter Display" pitchFamily="34" charset="-122"/>
                <a:cs typeface="Inter Display" pitchFamily="34" charset="-120"/>
              </a:rPr>
              <a:t>Controlli</a:t>
            </a:r>
            <a:endParaRPr lang="en-US" sz="2200" dirty="0"/>
          </a:p>
        </p:txBody>
      </p:sp>
      <p:sp>
        <p:nvSpPr>
          <p:cNvPr id="30" name="Text 27"/>
          <p:cNvSpPr/>
          <p:nvPr/>
        </p:nvSpPr>
        <p:spPr>
          <a:xfrm>
            <a:off x="548640" y="4800600"/>
            <a:ext cx="3200400" cy="914400"/>
          </a:xfrm>
          <a:prstGeom prst="rect">
            <a:avLst/>
          </a:prstGeom>
          <a:noFill/>
          <a:ln/>
        </p:spPr>
        <p:txBody>
          <a:bodyPr wrap="square" lIns="0" tIns="0" rIns="0" bIns="0" rtlCol="0" anchor="b"/>
          <a:lstStyle/>
          <a:p>
            <a:pPr indent="0" marL="0">
              <a:buNone/>
            </a:pPr>
            <a:r>
              <a:rPr lang="en-US" sz="6000" b="1" spc="-60" kern="0" dirty="0">
                <a:solidFill>
                  <a:srgbClr val="0B1F3A"/>
                </a:solidFill>
                <a:latin typeface="Inter Display" pitchFamily="34" charset="0"/>
                <a:ea typeface="Inter Display" pitchFamily="34" charset="-122"/>
                <a:cs typeface="Inter Display" pitchFamily="34" charset="-120"/>
              </a:rPr>
              <a:t>1.945</a:t>
            </a:r>
            <a:endParaRPr lang="en-US" sz="6000" dirty="0"/>
          </a:p>
        </p:txBody>
      </p:sp>
      <p:sp>
        <p:nvSpPr>
          <p:cNvPr id="31" name="Text 28"/>
          <p:cNvSpPr/>
          <p:nvPr/>
        </p:nvSpPr>
        <p:spPr>
          <a:xfrm>
            <a:off x="3657600" y="5120640"/>
            <a:ext cx="7315200" cy="457200"/>
          </a:xfrm>
          <a:prstGeom prst="rect">
            <a:avLst/>
          </a:prstGeom>
          <a:noFill/>
          <a:ln/>
        </p:spPr>
        <p:txBody>
          <a:bodyPr wrap="square" lIns="0" tIns="0" rIns="0" bIns="0" rtlCol="0" anchor="t"/>
          <a:lstStyle/>
          <a:p>
            <a:pPr indent="0" marL="0">
              <a:buNone/>
            </a:pPr>
            <a:r>
              <a:rPr lang="en-US" sz="1800" dirty="0">
                <a:solidFill>
                  <a:srgbClr val="6E6E73"/>
                </a:solidFill>
                <a:latin typeface="Inter" pitchFamily="34" charset="0"/>
                <a:ea typeface="Inter" pitchFamily="34" charset="-122"/>
                <a:cs typeface="Inter" pitchFamily="34" charset="-120"/>
              </a:rPr>
              <a:t>formule, zero errori; Excel e Python coincidono al centesimo</a:t>
            </a:r>
            <a:endParaRPr lang="en-US" sz="18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E6E73"/>
                </a:solidFill>
                <a:latin typeface="Inter"/>
                <a:ea typeface="Inter"/>
                <a:cs typeface="Inter"/>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paceX">
  <a:themeElements>
    <a:clrScheme name="SpaceX">
      <a:dk1>
        <a:srgbClr val="1D1D1F"/>
      </a:dk1>
      <a:lt1>
        <a:srgbClr val="FFFFFF"/>
      </a:lt1>
      <a:dk2>
        <a:srgbClr val="0B1F3A"/>
      </a:dk2>
      <a:lt2>
        <a:srgbClr val="F5F5F7"/>
      </a:lt2>
      <a:accent1>
        <a:srgbClr val="0071E3"/>
      </a:accent1>
      <a:accent2>
        <a:srgbClr val="0B1F3A"/>
      </a:accent2>
      <a:accent3>
        <a:srgbClr val="64D2FF"/>
      </a:accent3>
      <a:accent4>
        <a:srgbClr val="6E6E73"/>
      </a:accent4>
      <a:accent5>
        <a:srgbClr val="D2D2D7"/>
      </a:accent5>
      <a:accent6>
        <a:srgbClr val="B86E00"/>
      </a:accent6>
      <a:hlink>
        <a:srgbClr val="0071E3"/>
      </a:hlink>
      <a:folHlink>
        <a:srgbClr val="6E6E73"/>
      </a:folHlink>
    </a:clrScheme>
    <a:fontScheme name="SpaceX">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SpaceX: tre imprese, un gruppo</dc:title>
  <dc:subject>Finanza straordinaria e valutazione d'impresa, lavoro di approfondimento</dc:subject>
  <dc:creator>Gherardo Siliprandi</dc:creator>
  <cp:lastModifiedBy>Gherardo Siliprandi</cp:lastModifiedBy>
  <cp:revision>1</cp:revision>
  <dcterms:created xsi:type="dcterms:W3CDTF">2026-10-12T10:35:11Z</dcterms:created>
  <dcterms:modified xsi:type="dcterms:W3CDTF">2026-10-12T10:35:11Z</dcterms:modified>
</cp:coreProperties>
</file>