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Buongiorno. La domanda da cui parte il lavoro è quella che ci ha fatto il professore: il prezzo che paga il mercato rappresenta il valore dell'impresa? La provo su SpaceX, che è il caso più estremo che c'è oggi in borsa. Vi anticipo la risposta e poi vi faccio vedere come ci arrivo e perché uso ogni metodo. Con i flussi di cassa SpaceX vale circa 60 $ per azione. È stata collocata a 135 $ e il mercato oggi la paga 167,60 $. Il prezzo non rappresenta il valore dei flussi: rappresenta un'altra cosa, e vi dico quale.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tutto le definizioni, quelle del corso. Il valore è il valore attuale dei flussi di cassa futuri: è quello che stima il DCF. Il prezzo è quanto paga, un certo giorno, l'ultimo compratore. Se il mercato è efficiente, come dice Fama, il prezzo è la migliore stima del valore e le due cose coincidono. Quindi per rispondere devo fare due cose: stimare il valore in modo indipendente, partendo dai flussi, e confrontarlo con il prezzo. Se divergono, devo capire che cosa c'è dentro il prezzo in più. Se divergono può sbagliare anche il mio modello: per questo uso più metodi, indipendenti fra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SpaceX. Al prezzo di oggi vale circa 2.158 miliardi di valore d'impresa: 94x i ricavi degli ultimi dodici mesi e 260x l'EBITDA. Un'impresa industriale matura vale dieci, quindici volte l'EBITDA. E il prezzo si muove moltissimo: da quando è quotata, a giugno, è andato da 211 $ a 108 $ e poi è risalito. Se c'è un caso in cui prezzo e valore possono separarsi, è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ci arrivo. Ogni strumento risponde a una domanda diversa. Primo, i multipli: il mercato prezza SpaceX come prezza le imprese simili? È lo strumento con cui il mercato e le banche prezzano. Secondo, il DCF: quanto valgono i flussi? Lo faccio per segmento e pesato per le milestone, e vi dico perché. Terzo, il valore dell'insieme, dalla parte M&amp;A del corso: il gruppo vale più della somma delle parti? Quarto, il DCF inverso: tengo fermo il prezzo e cerco che cosa deve succedere perché il valore ci arrivi. I primi tre stimano il valore, l'ultimo legge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strumento, i multipli. Il corso dice che i comparabili devono avere stesso rischio e stessa crescita, e che trovarli è difficile. Per SpaceX un comparabile non esiste. Ma la SEC ci dà tre segmenti: Space, cioè lanci e contratti con NASA e Difesa; Starlink; e l'AI, cioè xAI. Ognuno ha il suo paniere: la difesa vale circa 1,9x i ricavi, Starlink 2,7x, cioè soprattutto telecom, con la parte governativa ai multipli della difesa, e i fornitori di calcolo 7,9x. Non cerco un clone di SpaceX, cerco tre panieri.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Applico i tre panieri ai ricavi di quest'anno. SpaceX vale fra 144 e 187 miliardi, cioè 15-19 dollari per azione. Il mercato la paga più di dieci volte tanto. Anche valutando l'AI come OpenAI e Anthropic, fra 20 e 27 volte i ricavi, arrivo a 35-44 dollari. E per arrivare al prezzo Starlink dovrebbe valere 96x i ricavi, contro 2,7 del suo paniere, e fra gli operatori con ricavi veri nessuno supera 7,5. Quindi il prezzo non è un prezzo relativo. Però i multipli di imprese mature non vedono la crescita: per questo serve il DCF.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strumento, il DCF del corso. Un solo DCF su SpaceX farebbe due errori. Di composizione: Starlink ha un beta di 0,47, l'AI di 1,23, quindi faccio un DCF per segmento con il beta del suo paniere. E di tempo: molto del valore dipende da eventi tecnici che non sono ancora successi, come il riuso dello stadio superiore di Starship. Allora valuto ogni segmento nel caso di successo e lo peso per la probabilità delle sue milestone, tredici in tutto, ancorate a tassi storici. Il rischio tecnico va nei flussi, quello di mercato nel tasso, con un beta più alto prima della milestone: così non lo conto due volte. Il modello pesa tutti i 696 esiti possibili.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risultato. Starlink fa quasi tutto il valore: 585 miliardi a rischio, perché esiste già e incassa. L'AI ne vale 139, appena un terzo del suo caso di successo: ha quasi tutto da dimostrare. Space vale solo 19, ma da Starship dipendono anche Starlink e l'AI. Sommati, con la cassa e gli sconti, fanno 57,00 $ per azione. Se tutte le milestone riuscissero, 90 $. Il prezzo sta sopra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Terzo strumento. Se il gruppo valesse molto più delle sue parti, il prezzo potrebbe contenere proprio questo. Uso lo schema delle fusioni del corso: parti separate più sinergie meno dis-sinergie, sapendo che la diversificazione da sola non è una sinergia. Separate, le tre imprese valgono 56,31 $. Unite 60,06 $: il 7% in più, che nasce dal legame fisico fra Starship, che ha in Starlink un cliente, e Starlink, che ha un lanciatore. È plausibile: sta fra RTX, meno 13%, e Amazon, più 20%. Il prezzo chiederebbe più 117%: nessun gruppo quotato ci si avvicina.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Metto tutto sulla stessa scala. I multipli stanno in basso, perché non vedono la crescita. I flussi, con tutte le sensitività, stanno fra 43 e 71 dollari. Anche il caso in cui tutte le milestone riescono sta sotto i 94. Collocamento e mercato stanno sopra ogni barra, e la fascia in cui si è mosso il prezzo da giugno, 108-211, non ne tocca nessuna. Il valore dei flussi spiega il 36% del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lettura più naturale del prezzo è: il mercato è più ottimista di me sulle milestone. La verifico. Sposto tutte le probabilità verso la certezza: il valore parte da 57 $ e con tutte e tredici le milestone certe arriva a 86 $. Non tocca nemmeno il collocamento. Quindi il prezzo non è una scommessa sulla riuscita delle milestone: anche chi fosse certo che tutto funzionerà non pagherebbe 135 dollari.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altro indizio. In quattro mesi il prezzo è salito del 57% in tre giorni, è sceso a 108 $ ad agosto ed è risalito a 168 $. Sui flussi, nel frattempo, è arrivata solo una trimestrale. Il valore stimato si muove con le ipotesi dentro una fascia di 48-66 dollari. Il prezzo dipende anche da altro, e ci torno fra poco.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Ultimo strumento, il DCF inverso. Il corso lo fa già quando calcola la crescita implicita in un multiplo: tengo fermo il prezzo e cerco l'ipotesi che lo giustifica. Probabilità e sinergie le ho già escluse. Resta la dimensione. Moltiplico i ricavi delle milestone finché il valore arriva al prezzo. A 167,60 $ servono 4,7x i ricavi del mio caso di successo: circa 2.925 miliardi nel 2036, contro 740. Quattro volte i ricavi di Amazon nel 2025, cento volte quelli di SpaceX oggi. Non dico che sia impossibile: dico che oggi non si vede nei conti.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L'obiezione più seria: il prezzo di 135 non l'hanno deciso dei dilettanti, ma ventidue banche guidate da Goldman e Morgan Stanley, e il libro ordini era coperto più di quattro volte. Quindi una spiegazione di quel prezzo esiste. È vero, ed è la domanda: a 135 c'erano compratori per centinaia di miliardi. Ma un prezzo di collocamento, come dicono Benveniste e Spindt, misura che cosa gli investitori sono disposti a pagare, non quanto valgono i flussi: è un prezzo, non un valore. E la letteratura mostra che, valutati ai multipli dei comparabili, i prezzi d'offerta delle IPO risultano di solito sopravvalutati, non sottovalutati.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perché il prezzo può restare così lontano dal valore? Tre fatti. Primo, il consorzio non è un valutatore indipendente: dieci banche sono anche finanziatrici di SpaceX, e i loro target hanno una mediana di 228 dollari contro 173 degli analisti esterni. È il conflitto di interessi di Michaely e Womack. Secondo, al debutto erano negoziabili solo il 4,9% delle azioni, e vendere allo scoperto costava molto: Miller dice che in queste condizioni il prezzo riflette gli ottimisti, perché i pessimisti restano fuori. Le banche non hanno sbagliato i conti: hanno prezzato la possibilità di un'impresa molto più grande, e hanno trovato chi la pagava.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Quindi la risposta alla domanda è no. I multipli dicono che il prezzo non è un prezzo relativo. Il DCF e il valore dell'insieme dicono che i flussi valgono 60 $, il 36% del prezzo, e né la certezza delle milestone né le sinergie chiudono la distanza. Il DCF inverso dice che cosa c'è dentro il prezzo: un'impresa quattro volte più grande del mio caso di successo. Il prezzo di SpaceX rappresenta qualcosa, ma non il valore di ciò che l'impresa può dimostrare oggi: rappresenta il prezzo della possibilità che diventi molto più grande. Grazie, sono pronto alle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le fonti sono su questo sito, con i link: documenti SEC, prezzi, articoli accademici, analisti e stampa. Ci sono anche il report completo, questa presentazione e il modello Excel in formule. Basta inquadrare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come evito di contare il rischio due volte. Il rischio tecnico, per esempio se Starship funziona, lo metto nei flussi: ogni flusso è pesato per la probabilità cumulata delle sue milestone, come nella rNPV delle pipeline farmaceutiche. Il rischio sistematico lo metto nel tasso, con un beta per stadio: prima della milestone il segmento è un'opzione su un'impresa futura e ha un beta alto, dopo prende il beta del suo paniere. Il beta è riunleverato con la formula del corso. Usare un tasso da venture capital e insieme pesare per la probabilità conterebbe il rischio tecnico due volte.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dettaglio dei multipli. Uso i ricavi 2026 stimati per segmento, che sono sotto il consenso degli analisti, e i multipli EV su ricavi forward e degli ultimi dodici mesi dei tre panieri. Per l'AI c'è anche la versione con i multipli dei laboratori privati, OpenAI e Anthropic, fra 20 e 27 volte i ricavi. Anche raddoppiando i ricavi, il valore ai multipli resterebbe molto sotto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tornado mostra che cosa sposta il valore, una ipotesi alla volta. In cima c'è il beta di Starlink: io uso 0,469, quello di chi vende banda larga alle famiglie, perché il 61% dei ricavi è quello. Con il beta degli operatori satellitari, 0,74, il valore scende a 47,92 $. Nessuna leva da sola porta il valore oltre circa 67 $: la distanza dal prezzo non è un'ipotesi sbagliata di qualche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confronto con chi ha pubblicato una valutazione. Morningstar, fuori dal consorzio, ha un valore di riferimento di 62 dollari, vicino al mio. Damodaran arriva a 97,83 con margini più alti e una crescita perpetua pari al tasso privo di rischio. Persino lo scenario negativo di Morgan Stanley, banca del consorzio, vale 75 dollari. I valori sopra il prezzo sono i target delle banche che hanno collocato il titolo.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perché non ho contato certe sinergie ovvie. Starlink paga i lanci al costo: è un trasferimento fra segmenti, la somma non cambia; la sinergia vera è la cadenza che dà a Starship, e quella l'ho contata. Il gruppo si indebita al 6% e xAI da sola pagava il 12,5%: è in gran parte un trasferimento ai creditori, per Higgins e Schall; vale solo lo scudo fiscale sul debito in più. La diversificazione abbassa la volatilità, ma l'azionista diversifica da solo: per questo non ho toccato i tassi.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premio del 7% è plausibile? Con il metodo di Berger e Ofek le holding valgono molto meno delle loro parti, Disney e RTX stanno a meno 22 e meno 13, in linea con lo sconto medio della letteratura. L'unico premio è Amazon, più 20%: AWS nasce dall'infrastruttura del retail, un legame fisico come quello fra Starship e Starlink. SpaceX sta in mezzo. Il prezzo chiederebbe più 117%.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arriva una domanda sulla fusione con xAI di febbraio, tutta in azioni: agli azionisti di xAI è andato il 20% del gruppo. Con i miei numeri xAI da sola valeva il 21% delle parti: ha preso poco più di quanto portava. Gli azionisti SpaceX si tengono 47 dei 50 miliardi di sinergie, e potevano cedere fino al 26,3%. Anche qui prezzo e valore divergono: la fusione valutava tutto 1.250 miliardi.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i numeri sono in un Excel in formule: quattordici fogli, circa duemila formule. Il primo foglio, Prezzo, contiene la risposta: multipli impliciti, valore ai multipli, DCF inverso, target delle banche. Poi input con la fonte, tassi per stadio, probabilità, DCF di ogni blocco, segmenti, sinergie, ponte per azione e gruppi multi-settore. L'ultimo foglio controlla che Excel e il modello in Python diano gli stessi numeri. Se volete cambio un'ipotesi gialla e vediamo come si muove.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FINANZA STRAORDINARIA E VALUTAZIONE D'IMPRESA  |  PROF. A. DEL GIUDICE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6200" b="1" spc="-10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SpaceX: il prezzo e il valore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548640" y="3520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che paga il mercato rappresenta il valore dell'impresa?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5074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 Siliprandi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Ottobre 2026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12064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dei flussi, per azione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6092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135,00 $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36092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del collocamento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012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167,60 $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60120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di mercato, 7/10/2026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DOMANDA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 e valore non sono la stessa cosa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DCF (slide 5-7) e multipli (slide 53); Fama (1970), Journal of Finance 25(2); Fama (1991), Journal of Finance 46(5)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Valore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attuale dei flussi di cassa futuri. Lo stima il DCF.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21792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621792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paga oggi l'ultimo compratore. Lo leggono i multipli.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un mercato efficiente coincidono (Fama 1970). Per verificarlo: stimo il valore in modo indipendente e lo confronto con il prezzo. Se divergono, mi chiedo che cosa contiene il prezzo.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CASO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 è il caso più estremo in borsa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Prezzi: Yahoo Finance, chiusure dal 12/6 al 7/10/2026; ricavi ed EBITDA rettificato degli ultimi 12 mesi: SEC, S-1, 10-Q Q2 2026 e 8-K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260x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l'EBITDA degli ultimi 12 mesi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34340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94x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34340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degli ultimi 12 mesi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13816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813816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prezzo di 167,60 $ SpaceX vale 2.158 miliardi di valore d'impresa.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Quattro strumenti, quattro domande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multipli (slide 53-58), DCF e WACC (slide 5-44); parte M&amp;A: V(AB) = V(A) + V(B) + sinergie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931920"/>
                <a:gridCol w="347472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STRUMENTO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DOMANDA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PERCHÉ PER SPACEX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Multipli dei comparabili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mercato la prezza come le imprese simili?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è il modo in cui mercato e banche prezzano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DCF per segmento, a milestone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Quanto valgono i flussi?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 business con rischi diversi, eventi tecnici decisivi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Valore dell'insieme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gruppo vale più delle parti?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Starship e Starlink si fanno esistere a vicenda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DCF inverso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 cosa deve accadere per arrivare al prezzo?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trasforma il prezzo in un'ipotesi discutibile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impresa somiglia a SpaceX: tre panieri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10-Q Q2 2026, Nota 18 (segmenti); EV/ricavi ultimi 12 mesi, mediane dei panieri pesate sul mix dei ricavi: stockanalysis.com, chiusure 8-9/10/2026</a:t>
            </a:r>
            <a:endParaRPr lang="en-US" sz="800" dirty="0"/>
          </a:p>
        </p:txBody>
      </p:sp>
      <p:pic>
        <p:nvPicPr>
          <p:cNvPr id="6" name="Image 0" descr="Logo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48" y="1956751"/>
            <a:ext cx="2743200" cy="33845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99048" y="2560320"/>
            <a:ext cx="0" cy="32004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2194560" y="2880360"/>
            <a:ext cx="7808976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194560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11480" y="33192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411480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Lanci, Starship, NASA e Difesa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11480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1,9x</a:t>
            </a:r>
            <a:endParaRPr lang="en-US" sz="8000" dirty="0"/>
          </a:p>
        </p:txBody>
      </p:sp>
      <p:sp>
        <p:nvSpPr>
          <p:cNvPr id="13" name="Text 9"/>
          <p:cNvSpPr/>
          <p:nvPr/>
        </p:nvSpPr>
        <p:spPr>
          <a:xfrm>
            <a:off x="411480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difesa e aerospazio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99048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5" name="Image 1" descr="Logo star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3337560"/>
            <a:ext cx="932688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315968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Banda larga, enterprise, telefonia diretta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315968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2,7x</a:t>
            </a:r>
            <a:endParaRPr lang="en-US" sz="8000" dirty="0"/>
          </a:p>
        </p:txBody>
      </p:sp>
      <p:sp>
        <p:nvSpPr>
          <p:cNvPr id="18" name="Text 13"/>
          <p:cNvSpPr/>
          <p:nvPr/>
        </p:nvSpPr>
        <p:spPr>
          <a:xfrm>
            <a:off x="4315968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telecom, più difesa per Starshield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10003536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20" name="Image 2" descr="Logo xa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478" y="3337560"/>
            <a:ext cx="418338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003536" y="341071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1600" dirty="0"/>
          </a:p>
        </p:txBody>
      </p:sp>
      <p:pic>
        <p:nvPicPr>
          <p:cNvPr id="22" name="Image 3" descr="Logo 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76" y="3337560"/>
            <a:ext cx="505206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20456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Calcolo, Grok, pubblicità su X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8220456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7,9x</a:t>
            </a:r>
            <a:endParaRPr lang="en-US" sz="8000" dirty="0"/>
          </a:p>
        </p:txBody>
      </p:sp>
      <p:sp>
        <p:nvSpPr>
          <p:cNvPr id="25" name="Text 18"/>
          <p:cNvSpPr/>
          <p:nvPr/>
        </p:nvSpPr>
        <p:spPr>
          <a:xfrm>
            <a:off x="8220456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hyperscaler, cloud e pubblicità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Ai prezzi dei comparabili SpaceX vale un decimo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per segmento x EV/ricavi del paniere (stockanalysis.com, 8-9/10/2026); laboratori AI: OpenAI e Anthropic, ultimi round e trattative 2026 [stampa: Reuters, Bloomberg]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15-19 $</a:t>
            </a:r>
            <a:endParaRPr lang="en-US" sz="70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 ai multipli dei suoi tre panieri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35-44 $</a:t>
            </a:r>
            <a:endParaRPr lang="en-US" sz="7000" dirty="0"/>
          </a:p>
        </p:txBody>
      </p:sp>
      <p:sp>
        <p:nvSpPr>
          <p:cNvPr id="9" name="Text 6"/>
          <p:cNvSpPr/>
          <p:nvPr/>
        </p:nvSpPr>
        <p:spPr>
          <a:xfrm>
            <a:off x="434340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l'AI valutata come OpenAI e Anthropic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96x</a:t>
            </a:r>
            <a:endParaRPr lang="en-US" sz="7000" dirty="0"/>
          </a:p>
        </p:txBody>
      </p:sp>
      <p:sp>
        <p:nvSpPr>
          <p:cNvPr id="11" name="Text 8"/>
          <p:cNvSpPr/>
          <p:nvPr/>
        </p:nvSpPr>
        <p:spPr>
          <a:xfrm>
            <a:off x="813816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ricavi: quanto dovrebbe valere Starlink per arrivare al prezzo (il suo paniere: 2,7x)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non è un prezzo relativo. Ma i multipli di imprese mature non vedono la crescita: serve il DCF.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DCF A RISCHIO DI MILESTONE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Un DCF per segmento, pesato per le milestone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DCF unlevered del corso per segmento; rNPV (Stewart, Allison e Johnson 2001); beta per stadio (Myers e Howe 1997; Berk, Green e Naik 2004); probabilità su tassi storici (Guikema e Paté-Cornell 2004; Flyvbjerg 2014)</a:t>
            </a:r>
            <a:endParaRPr lang="en-US" sz="800" dirty="0"/>
          </a:p>
        </p:txBody>
      </p:sp>
      <p:pic>
        <p:nvPicPr>
          <p:cNvPr id="6" name="Image 0" descr="Albero delle tredici milestone con probabilità condizionate e cumu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sui tre segmenti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696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possibili, tutti pesati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riuso dello stadio superiore di Starship: il nodo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 flussi valgono 57 $ per azione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 (rNPV a rischio, mld $); ponte con cassa, debito e claim azionari: SEC, 10-Q Q2 2026 e 424B4; sconti di conglomerata 5% (Berger e Ofek 1995) e governance 3,5% (Dyck e Zingales 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585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esiste già e incassa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139</a:t>
            </a:r>
            <a:endParaRPr lang="en-US" sz="7200" dirty="0"/>
          </a:p>
        </p:txBody>
      </p:sp>
      <p:sp>
        <p:nvSpPr>
          <p:cNvPr id="10" name="Text 7"/>
          <p:cNvSpPr/>
          <p:nvPr/>
        </p:nvSpPr>
        <p:spPr>
          <a:xfrm>
            <a:off x="320040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20040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35% del suo successo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19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585216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85216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poco valore, ma decide il resto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dollari a rischio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549640" y="2194560"/>
            <a:ext cx="0" cy="347472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57,00 $</a:t>
            </a:r>
            <a:endParaRPr lang="en-US" sz="6000" dirty="0"/>
          </a:p>
        </p:txBody>
      </p:sp>
      <p:sp>
        <p:nvSpPr>
          <p:cNvPr id="18" name="Text 15"/>
          <p:cNvSpPr/>
          <p:nvPr/>
        </p:nvSpPr>
        <p:spPr>
          <a:xfrm>
            <a:off x="886968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azione, valore dei flussi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86968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90 $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886968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tutte le milestone riescono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3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gruppo vale più delle parti: 60,06 $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V(gruppo) = parti indipendenti + sinergie - dis-sinergie; excess value con il metodo di Berger e Ofek (1995), stockanalysis.com, 9/10/2026</a:t>
            </a:r>
            <a:endParaRPr lang="en-US" sz="800" dirty="0"/>
          </a:p>
        </p:txBody>
      </p:sp>
      <p:pic>
        <p:nvPicPr>
          <p:cNvPr id="6" name="Image 0" descr="Cascata dalle tre imprese separate al gruppo, dollari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gruppo sulle parti separate: fra RTX (-13%) e Amazon (+20%)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del gruppo per azione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premio sulle parti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 metodo arriva al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multipli: stockanalysis.com (8-9/10/2026) e round dei laboratori AI [stampa]; prezzi: Yahoo Finance e SEC 424B4</a:t>
            </a:r>
            <a:endParaRPr lang="en-US" sz="800" dirty="0"/>
          </a:p>
        </p:txBody>
      </p:sp>
      <p:pic>
        <p:nvPicPr>
          <p:cNvPr id="6" name="Image 0" descr="Risultati di ogni metodo contro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mercato spiegato dai flussi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44%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collocamento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sopra i 135 $ del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Nemmeno la certezza basta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p' = p + lambda (1 - p) su tutte le 13 milestone; 696 esiti per enumerazione esatta; somma delle parti con sconto del 5%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1097280" y="55321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4223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097280" y="45923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44825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6525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5427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97280" y="27127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2602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97280" y="2381910"/>
            <a:ext cx="6858000" cy="0"/>
          </a:xfrm>
          <a:prstGeom prst="line">
            <a:avLst/>
          </a:prstGeom>
          <a:noFill/>
          <a:ln w="15875">
            <a:solidFill>
              <a:srgbClr val="FFB34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43000" y="208930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B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mercato 167,60 $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7280" y="2994660"/>
            <a:ext cx="685800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1143000" y="27020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collocamento 135 $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flipV="1">
            <a:off x="1097280" y="4421273"/>
            <a:ext cx="685800" cy="3951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783080" y="4379130"/>
            <a:ext cx="685800" cy="42143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468880" y="4334164"/>
            <a:ext cx="685800" cy="4496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154680" y="4286169"/>
            <a:ext cx="685800" cy="47995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3840480" y="4234930"/>
            <a:ext cx="685800" cy="51239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4526280" y="4180220"/>
            <a:ext cx="685800" cy="54710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212080" y="4121797"/>
            <a:ext cx="685800" cy="5842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5897880" y="4059410"/>
            <a:ext cx="685800" cy="6238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6583680" y="3992793"/>
            <a:ext cx="685800" cy="6661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7269480" y="3921667"/>
            <a:ext cx="685800" cy="71126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24128" y="4387633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9" name="Shape 26"/>
          <p:cNvSpPr/>
          <p:nvPr/>
        </p:nvSpPr>
        <p:spPr>
          <a:xfrm>
            <a:off x="7882128" y="3848515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30" name="Text 27"/>
          <p:cNvSpPr/>
          <p:nvPr/>
        </p:nvSpPr>
        <p:spPr>
          <a:xfrm>
            <a:off x="1188720" y="4570513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57 $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12280" y="403139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86 $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97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probabilità del modello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certe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77824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86 $</a:t>
            </a:r>
            <a:endParaRPr lang="en-US" sz="6400" dirty="0"/>
          </a:p>
        </p:txBody>
      </p:sp>
      <p:sp>
        <p:nvSpPr>
          <p:cNvPr id="35" name="Text 32"/>
          <p:cNvSpPr/>
          <p:nvPr/>
        </p:nvSpPr>
        <p:spPr>
          <a:xfrm>
            <a:off x="877824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tutte e 13 le milestone certe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877824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6400" dirty="0"/>
          </a:p>
        </p:txBody>
      </p:sp>
      <p:sp>
        <p:nvSpPr>
          <p:cNvPr id="37" name="Text 34"/>
          <p:cNvSpPr/>
          <p:nvPr/>
        </p:nvSpPr>
        <p:spPr>
          <a:xfrm>
            <a:off x="8778240" y="46634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superano il prezzo di collocamento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si muove, il valore 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Yahoo Finance, chiusure giornaliere di SPCX dal 12/6 al 7/10/2026; valore: modello dell'autore, gruppo con la sensitività una leva alla volta</a:t>
            </a:r>
            <a:endParaRPr lang="en-US" sz="800" dirty="0"/>
          </a:p>
        </p:txBody>
      </p:sp>
      <p:pic>
        <p:nvPicPr>
          <p:cNvPr id="6" name="Image 0" descr="Prezzo di SPCX dal debutto contro la fascia del valore stim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48-66 $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valore, con tutte le sensitività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+95%</a:t>
            </a:r>
            <a:endParaRPr lang="en-US" sz="4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 minimo e massimo del prezzo in quattro mesi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4  |  DCF INVERSO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paga un'impresa 4 volte più grande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ricavi dei blocchi a milestone moltiplicati fino a uguagliare il prezzo, margini, capitale, tassi e probabilità invariati; Amazon.com, risultati del Q4 2025 (ricavi 2025 716,9 mld)</a:t>
            </a:r>
            <a:endParaRPr lang="en-US" sz="800" dirty="0"/>
          </a:p>
        </p:txBody>
      </p:sp>
      <p:pic>
        <p:nvPicPr>
          <p:cNvPr id="6" name="Image 0" descr="Valore del gruppo al crescere dei ricavi delle milestone, con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4,7x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del caso di successo, per arrivare al prezzo di mercato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nel 2036 (successo del modello: 740)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4x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di Amazon nel 2025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L'OBIEZIONE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Ma le migliori banche del mondo l'hanno collocata a 135 $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424B4 (22 banche, Goldman Sachs e Morgan Stanley capofila; prezzo fissato il 3/6/2026); libro ordini: Bloomberg via Semafor (10/6/2026); Benveniste e Spindt (1989); Purnanandam e Swaminathan (2004)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domanda c'era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Libro ordini coperto più di 4 volte a 135 $: il collocamento misura quanto gli investitori sono disposti a pagare.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È un prezzo, non un valore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34340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bookbuilding il prezzo d'offerta raccoglie la domanda (Benveniste e Spindt 1989), non stima i flussi.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Anche 135 $ chiede di più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13816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DCF inverso il collocamento sconta ricavi 3,6x il caso di successo: 2.263 mld al 2036.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PERCHÉ IL PREZZO RESTA SOPRA IL VALORE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ha collocato vede 228 $, chi no 173 $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Target dopo il quiet period (7/7/2026): Fortune, The Daily Upside, Yahoo Finance, StockAnalysis.com; ruolo nel consorzio: SEC 424B4 p. 267 e 274; azioni negoziabili: 424B4; Michaely e Womack (1999); Miller (1977)</a:t>
            </a:r>
            <a:endParaRPr lang="en-US" sz="800" dirty="0"/>
          </a:p>
        </p:txBody>
      </p:sp>
      <p:pic>
        <p:nvPicPr>
          <p:cNvPr id="6" name="Image 0" descr="Target price delle banche del consorzio e degli analisti este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C0392B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228 $</a:t>
            </a:r>
            <a:endParaRPr lang="en-US" sz="48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dei target delle banche del consorzio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173 $</a:t>
            </a:r>
            <a:endParaRPr lang="en-US" sz="48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degli analisti fuori dal consorzio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4,9%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delle azioni negoziabili al debutto: il prezzo riflette gli ottimisti (Miller 1977)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RISPOSTA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No: il prezzo non misura il valore dei flussi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rappresenta la possibilità di un'impresa quattro volte più grande, non il valore di quella che si può dimostrare oggi.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54864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dei flussi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34340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434340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spiegato dai flussi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13816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813816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2036 che il prezzo sconta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FONTI E DOCUMENTI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Tutte le fonti, il report e il modello Excel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Sito del lavoro: gherardo200-glitch.github.io/spacex-valutazione</a:t>
            </a:r>
            <a:endParaRPr lang="en-US" sz="800" dirty="0"/>
          </a:p>
        </p:txBody>
      </p:sp>
      <p:pic>
        <p:nvPicPr>
          <p:cNvPr id="6" name="Image 0" descr="QR code della pagina delle fon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023360" cy="4023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Fonti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120640" y="2331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documenti SEC, prezzi di mercato, articoli accademici, analisti e stampa, con i link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12064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Report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512064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caso completo, 32 pagine, con tutti gli esibiti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120640" y="3749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Presentazione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512064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questa presentazione, in PowerPoint e PDF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120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Modello Excel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120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fogli, circa 2.000 formule, ogni input con la sua fonte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20640" y="57150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gherardo200-glitch.github.io/spacex-valutazione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rischio si conta una volta sola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Stewart, Allison e Johnson (2001); Myers e Howe (1997); Berk, Green e Naik (2004); beta bottom-up: Damodaran, Betas by Sector (US), gennaio 2026; formula del corso βU = βL / (1 + D/E)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828800"/>
                <a:gridCol w="182880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SBLOCCO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1,25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0,822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8,8%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0,469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7,4%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1,60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1,227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12,1%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10,5%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tecnico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4864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 flussi, con le probabilità cumulate (rNPV).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4340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sistematico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34340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tasso, con un beta per stadio.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scende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13816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quando le milestone si raggiungono.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dettaglio dei multipli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dall'autore (H1 effettivo, SEC 10-Q, più H2 stimato, sotto il consenso di 45 mld); multipli: stockanalysis.com 8-9/10/2026; laboratori: Reuters, Bloomberg (2026)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10312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RICAVI 2026,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EV/RICAVI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1,77-1,92x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6,4-6,9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2,65-2,68x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45,0-45,6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5,43-7,89x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92,3-134,1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ai tre panieri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143,7-186,6 (15-19 $)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come i laboratori privati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20,0-27,3x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340-464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con l'AI come i laboratori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392-517 (35-44 $)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2.158 (167,60 $)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SENSITIVITÀ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leva porta il valore oltre 67 $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intervalli: probabilità bassa-alta di ogni milestone, beta prima e dopo la milestone, g +-0,5 punti, governance 0-3,5%</a:t>
            </a:r>
            <a:endParaRPr lang="en-US" sz="800" dirty="0"/>
          </a:p>
        </p:txBody>
      </p:sp>
      <p:pic>
        <p:nvPicPr>
          <p:cNvPr id="6" name="Image 0" descr="Tornado della sensitività del valore del gruppo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47,92 $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beta di Starlink degli operatori satellitari (0,74)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massimo con una leva alla volta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6E6E7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135 $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di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ALTRI VALUTATORI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valuta i flussi sta sotto il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Morningstar (N. Owens), giugno 2026; Damodaran, "Revisiting the SpaceX Valuation", 4/6/2026; Morgan Stanley (A. Jonas) e RBC Capital Markets (K. Herbert), 7/7/2026 [stampa e report]; prezzi: 424B4 e Yahoo Finance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783080"/>
          <a:ext cx="74066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FONTE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$ PER AZIONE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scenario senza Starship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il valore dei flussi (gruppo)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60,06 $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valore di riferimento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scenario negativo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tutte le milestone riuscite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93,86 $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Damodaran, giugno 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97,83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collocamento (424B4)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135 $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mercato, 7/10/2026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167,60 $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RBC Capital Markets,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300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Tre cose che sembrano sinergie e non lo sono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parte M&amp;A; Lewellen (1971); Higgins e Schall (1975); lanci: Space.com (2025); debito xAI: Reuters (giugno 2025)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interno dei lanci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 paga i lanci al costo: è un trasferimento fra segmenti. La sinergia vera è la cadenza che dà a Starship.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4340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più basso sul debito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34340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6% contro il 12,5% di xAI: in gran parte un trasferimento ai creditori. Vale solo lo scudo fiscale sul debito in più.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3816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diversificazione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13816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Riduce la volatilità del gruppo, ma l'azionista diversifica da solo. Per questo i tassi non cambiano.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Solo un gruppo integrato vale più delle sue parti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Berger e Ofek (1995); EV ed EV/EBIT: stockanalysis.com, 9/10/2026; segmenti: bilanci 2025 depositati; holding: sconto sul NAV dalle relazioni 2026</a:t>
            </a:r>
            <a:endParaRPr lang="en-US" sz="800" dirty="0"/>
          </a:p>
        </p:txBody>
      </p:sp>
      <p:pic>
        <p:nvPicPr>
          <p:cNvPr id="6" name="Image 0" descr="Excess value dei gruppi multi-settore e di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Amazon, l'unico premio del campione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SpaceX, il gruppo sulle parti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quello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M&amp;A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fusione con xAI ha premiato i soci SpaceX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termini della fusione (1.000 e 250 mld, 20% a xAI): Bloomberg via Yahoo Finance e Taipei Times, febbraio 2026 [stampa, non depositati]</a:t>
            </a:r>
            <a:endParaRPr lang="en-US" sz="800" dirty="0"/>
          </a:p>
        </p:txBody>
      </p:sp>
      <p:pic>
        <p:nvPicPr>
          <p:cNvPr id="6" name="Image 0" descr="Divisione delle sinergie della fusione fra soci SpaceX e x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gruppo ceduto agli azionisti di xAI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26,3%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quota massima che SpaceX poteva cedere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+47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mld di guadagno per i soci SpaceX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IL MODELLO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Tutto in un file Excel, in formule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SpaceX_modello.xlsx: input con la loro fonte, formule, controllo incrociato con il modello in Python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33756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88620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Input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12648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7512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Tassi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91540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04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6404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Probabilità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9728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Blocchi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33756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06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8620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Segmenti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12648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07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67512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Fisco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91540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08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46404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Finanziamento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4864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09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9728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Sinergie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3375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388620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Ponte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126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11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67512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Fusione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9154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12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46404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Conglomerati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48640" y="4800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2.000</a:t>
            </a:r>
            <a:endParaRPr lang="en-US" sz="6000" dirty="0"/>
          </a:p>
        </p:txBody>
      </p:sp>
      <p:sp>
        <p:nvSpPr>
          <p:cNvPr id="31" name="Text 28"/>
          <p:cNvSpPr/>
          <p:nvPr/>
        </p:nvSpPr>
        <p:spPr>
          <a:xfrm>
            <a:off x="365760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formule, zero errori; Excel e Python coincidono al centesimo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ceX">
  <a:themeElements>
    <a:clrScheme name="SpaceX">
      <a:dk1>
        <a:srgbClr val="1D1D1F"/>
      </a:dk1>
      <a:lt1>
        <a:srgbClr val="FFFFFF"/>
      </a:lt1>
      <a:dk2>
        <a:srgbClr val="0B1F3A"/>
      </a:dk2>
      <a:lt2>
        <a:srgbClr val="F5F5F7"/>
      </a:lt2>
      <a:accent1>
        <a:srgbClr val="0071E3"/>
      </a:accent1>
      <a:accent2>
        <a:srgbClr val="0B1F3A"/>
      </a:accent2>
      <a:accent3>
        <a:srgbClr val="64D2FF"/>
      </a:accent3>
      <a:accent4>
        <a:srgbClr val="6E6E73"/>
      </a:accent4>
      <a:accent5>
        <a:srgbClr val="D2D2D7"/>
      </a:accent5>
      <a:accent6>
        <a:srgbClr val="B86E00"/>
      </a:accent6>
      <a:hlink>
        <a:srgbClr val="0071E3"/>
      </a:hlink>
      <a:folHlink>
        <a:srgbClr val="6E6E73"/>
      </a:folHlink>
    </a:clrScheme>
    <a:fontScheme name="SpaceX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SpaceX: il prezzo e il valore</dc:title>
  <dc:subject>Finanza straordinaria e valutazione d'impresa: il prezzo di mercato rappresenta il valore dell'impresa?</dc:subject>
  <dc:creator>Gherardo Siliprandi</dc:creator>
  <cp:lastModifiedBy>Gherardo Siliprandi</cp:lastModifiedBy>
  <cp:revision>1</cp:revision>
  <dcterms:created xsi:type="dcterms:W3CDTF">2026-10-13T00:10:56Z</dcterms:created>
  <dcterms:modified xsi:type="dcterms:W3CDTF">2026-10-13T00:10:56Z</dcterms:modified>
</cp:coreProperties>
</file>